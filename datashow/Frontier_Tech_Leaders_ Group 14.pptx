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Merriweather Sans Bold" charset="1" panose="00000800000000000000"/>
      <p:regular r:id="rId34"/>
    </p:embeddedFont>
    <p:embeddedFont>
      <p:font typeface="Calibri (MS) Bold" charset="1" panose="020F0702030404030204"/>
      <p:regular r:id="rId38"/>
    </p:embeddedFont>
    <p:embeddedFont>
      <p:font typeface="Merriweather Sans Light" charset="1" panose="00000400000000000000"/>
      <p:regular r:id="rId40"/>
    </p:embeddedFont>
    <p:embeddedFont>
      <p:font typeface="Merriweather Sans" charset="1" panose="0000050000000000000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notesMasters/notesMaster1.xml" Type="http://schemas.openxmlformats.org/officeDocument/2006/relationships/notesMaster"/><Relationship Id="rId36" Target="theme/theme2.xml" Type="http://schemas.openxmlformats.org/officeDocument/2006/relationships/theme"/><Relationship Id="rId37" Target="notesSlides/notesSlide1.xml" Type="http://schemas.openxmlformats.org/officeDocument/2006/relationships/notesSlide"/><Relationship Id="rId38" Target="fonts/font38.fntdata" Type="http://schemas.openxmlformats.org/officeDocument/2006/relationships/font"/><Relationship Id="rId39" Target="notesSlides/notesSlide2.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notesSlides/notesSlide3.xml" Type="http://schemas.openxmlformats.org/officeDocument/2006/relationships/notesSlide"/><Relationship Id="rId42" Target="fonts/font42.fntdata" Type="http://schemas.openxmlformats.org/officeDocument/2006/relationships/font"/><Relationship Id="rId43" Target="notesSlides/notesSlide4.xml" Type="http://schemas.openxmlformats.org/officeDocument/2006/relationships/notesSlide"/><Relationship Id="rId44" Target="notesSlides/notesSlide5.xml" Type="http://schemas.openxmlformats.org/officeDocument/2006/relationships/notesSlide"/><Relationship Id="rId45" Target="notesSlides/notesSlide6.xml" Type="http://schemas.openxmlformats.org/officeDocument/2006/relationships/notesSlide"/><Relationship Id="rId46" Target="notesSlides/notesSlide7.xml" Type="http://schemas.openxmlformats.org/officeDocument/2006/relationships/notesSlide"/><Relationship Id="rId47" Target="notesSlides/notesSlide8.xml" Type="http://schemas.openxmlformats.org/officeDocument/2006/relationships/notesSlide"/><Relationship Id="rId48" Target="notesSlides/notesSlide9.xml" Type="http://schemas.openxmlformats.org/officeDocument/2006/relationships/notesSlide"/><Relationship Id="rId49" Target="notesSlides/notesSlide10.xml" Type="http://schemas.openxmlformats.org/officeDocument/2006/relationships/notesSlide"/><Relationship Id="rId5" Target="tableStyles.xml" Type="http://schemas.openxmlformats.org/officeDocument/2006/relationships/tableStyles"/><Relationship Id="rId50" Target="notesSlides/notesSlide11.xml" Type="http://schemas.openxmlformats.org/officeDocument/2006/relationships/notesSlide"/><Relationship Id="rId51" Target="notesSlides/notesSlide12.xml" Type="http://schemas.openxmlformats.org/officeDocument/2006/relationships/notesSlide"/><Relationship Id="rId52" Target="notesSlides/notesSlide13.xml" Type="http://schemas.openxmlformats.org/officeDocument/2006/relationships/notesSlide"/><Relationship Id="rId53" Target="notesSlides/notesSlide14.xml" Type="http://schemas.openxmlformats.org/officeDocument/2006/relationships/notesSlide"/><Relationship Id="rId54" Target="notesSlides/notesSlide15.xml" Type="http://schemas.openxmlformats.org/officeDocument/2006/relationships/notesSlide"/><Relationship Id="rId55" Target="notesSlides/notesSlide16.xml" Type="http://schemas.openxmlformats.org/officeDocument/2006/relationships/notesSlide"/><Relationship Id="rId56" Target="notesSlides/notesSlide17.xml" Type="http://schemas.openxmlformats.org/officeDocument/2006/relationships/notesSlide"/><Relationship Id="rId57" Target="notesSlides/notesSlide18.xml" Type="http://schemas.openxmlformats.org/officeDocument/2006/relationships/notesSlide"/><Relationship Id="rId58" Target="notesSlides/notesSlide19.xml" Type="http://schemas.openxmlformats.org/officeDocument/2006/relationships/notesSlide"/><Relationship Id="rId59" Target="notesSlides/notesSlide20.xml" Type="http://schemas.openxmlformats.org/officeDocument/2006/relationships/notesSlide"/><Relationship Id="rId6" Target="slides/slide1.xml" Type="http://schemas.openxmlformats.org/officeDocument/2006/relationships/slide"/><Relationship Id="rId60" Target="notesSlides/notesSlide21.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1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jpeg" Type="http://schemas.openxmlformats.org/officeDocument/2006/relationships/image"/><Relationship Id="rId2" Target="../notesSlides/notesSlide12.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11.jpeg" Type="http://schemas.openxmlformats.org/officeDocument/2006/relationships/image"/><Relationship Id="rId9" Target="../media/image12.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14.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9.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4478" y="2009620"/>
            <a:ext cx="18338954" cy="8300526"/>
            <a:chOff x="0" y="0"/>
            <a:chExt cx="24451938" cy="11067368"/>
          </a:xfrm>
        </p:grpSpPr>
        <p:sp>
          <p:nvSpPr>
            <p:cNvPr name="Freeform 3" id="3" descr="A person sitting at a desk using a computer  Description automatically generated"/>
            <p:cNvSpPr/>
            <p:nvPr/>
          </p:nvSpPr>
          <p:spPr>
            <a:xfrm flipH="false" flipV="false" rot="0">
              <a:off x="0" y="0"/>
              <a:ext cx="24451945" cy="11067415"/>
            </a:xfrm>
            <a:custGeom>
              <a:avLst/>
              <a:gdLst/>
              <a:ahLst/>
              <a:cxnLst/>
              <a:rect r="r" b="b" t="t" l="l"/>
              <a:pathLst>
                <a:path h="11067415" w="24451945">
                  <a:moveTo>
                    <a:pt x="0" y="0"/>
                  </a:moveTo>
                  <a:lnTo>
                    <a:pt x="24451945" y="0"/>
                  </a:lnTo>
                  <a:lnTo>
                    <a:pt x="24451945" y="11067415"/>
                  </a:lnTo>
                  <a:lnTo>
                    <a:pt x="0" y="11067415"/>
                  </a:lnTo>
                  <a:lnTo>
                    <a:pt x="0" y="0"/>
                  </a:lnTo>
                  <a:close/>
                </a:path>
              </a:pathLst>
            </a:custGeom>
            <a:blipFill>
              <a:blip r:embed="rId2"/>
              <a:stretch>
                <a:fillRect l="-29" t="-195" r="-6250" b="-56345"/>
              </a:stretch>
            </a:blipFill>
          </p:spPr>
        </p:sp>
      </p:grpSp>
      <p:grpSp>
        <p:nvGrpSpPr>
          <p:cNvPr name="Group 4" id="4"/>
          <p:cNvGrpSpPr/>
          <p:nvPr/>
        </p:nvGrpSpPr>
        <p:grpSpPr>
          <a:xfrm rot="0">
            <a:off x="-27176" y="2000096"/>
            <a:ext cx="18324700" cy="8321702"/>
            <a:chOff x="0" y="0"/>
            <a:chExt cx="24432934" cy="11095602"/>
          </a:xfrm>
        </p:grpSpPr>
        <p:sp>
          <p:nvSpPr>
            <p:cNvPr name="Freeform 5" id="5"/>
            <p:cNvSpPr/>
            <p:nvPr/>
          </p:nvSpPr>
          <p:spPr>
            <a:xfrm flipH="false" flipV="false" rot="0">
              <a:off x="12700" y="12700"/>
              <a:ext cx="24407495" cy="11070209"/>
            </a:xfrm>
            <a:custGeom>
              <a:avLst/>
              <a:gdLst/>
              <a:ahLst/>
              <a:cxnLst/>
              <a:rect r="r" b="b" t="t" l="l"/>
              <a:pathLst>
                <a:path h="11070209" w="24407495">
                  <a:moveTo>
                    <a:pt x="0" y="0"/>
                  </a:moveTo>
                  <a:lnTo>
                    <a:pt x="24407495" y="0"/>
                  </a:lnTo>
                  <a:lnTo>
                    <a:pt x="24407495" y="11070209"/>
                  </a:lnTo>
                  <a:lnTo>
                    <a:pt x="0" y="11070209"/>
                  </a:lnTo>
                  <a:close/>
                </a:path>
              </a:pathLst>
            </a:custGeom>
            <a:solidFill>
              <a:srgbClr val="4617DE"/>
            </a:solidFill>
          </p:spPr>
        </p:sp>
        <p:sp>
          <p:nvSpPr>
            <p:cNvPr name="Freeform 6" id="6"/>
            <p:cNvSpPr/>
            <p:nvPr/>
          </p:nvSpPr>
          <p:spPr>
            <a:xfrm flipH="false" flipV="false" rot="0">
              <a:off x="0" y="0"/>
              <a:ext cx="24432895" cy="11095609"/>
            </a:xfrm>
            <a:custGeom>
              <a:avLst/>
              <a:gdLst/>
              <a:ahLst/>
              <a:cxnLst/>
              <a:rect r="r" b="b" t="t" l="l"/>
              <a:pathLst>
                <a:path h="11095609" w="24432895">
                  <a:moveTo>
                    <a:pt x="12700" y="0"/>
                  </a:moveTo>
                  <a:lnTo>
                    <a:pt x="24420195" y="0"/>
                  </a:lnTo>
                  <a:cubicBezTo>
                    <a:pt x="24427180" y="0"/>
                    <a:pt x="24432895" y="5715"/>
                    <a:pt x="24432895" y="12700"/>
                  </a:cubicBezTo>
                  <a:lnTo>
                    <a:pt x="24432895" y="11082909"/>
                  </a:lnTo>
                  <a:cubicBezTo>
                    <a:pt x="24432895" y="11089894"/>
                    <a:pt x="24427180" y="11095609"/>
                    <a:pt x="24420195" y="11095609"/>
                  </a:cubicBezTo>
                  <a:lnTo>
                    <a:pt x="12700" y="11095609"/>
                  </a:lnTo>
                  <a:cubicBezTo>
                    <a:pt x="5715" y="11095609"/>
                    <a:pt x="0" y="11089894"/>
                    <a:pt x="0" y="11082909"/>
                  </a:cubicBezTo>
                  <a:lnTo>
                    <a:pt x="0" y="12700"/>
                  </a:lnTo>
                  <a:cubicBezTo>
                    <a:pt x="0" y="5715"/>
                    <a:pt x="5715" y="0"/>
                    <a:pt x="12700" y="0"/>
                  </a:cubicBezTo>
                  <a:moveTo>
                    <a:pt x="12700" y="25400"/>
                  </a:moveTo>
                  <a:lnTo>
                    <a:pt x="12700" y="12700"/>
                  </a:lnTo>
                  <a:lnTo>
                    <a:pt x="25400" y="12700"/>
                  </a:lnTo>
                  <a:lnTo>
                    <a:pt x="25400" y="11082909"/>
                  </a:lnTo>
                  <a:lnTo>
                    <a:pt x="12700" y="11082909"/>
                  </a:lnTo>
                  <a:lnTo>
                    <a:pt x="12700" y="11070209"/>
                  </a:lnTo>
                  <a:lnTo>
                    <a:pt x="24420195" y="11070209"/>
                  </a:lnTo>
                  <a:lnTo>
                    <a:pt x="24420195" y="11082909"/>
                  </a:lnTo>
                  <a:lnTo>
                    <a:pt x="24407495" y="11082909"/>
                  </a:lnTo>
                  <a:lnTo>
                    <a:pt x="24407495" y="12700"/>
                  </a:lnTo>
                  <a:lnTo>
                    <a:pt x="24420195" y="12700"/>
                  </a:lnTo>
                  <a:lnTo>
                    <a:pt x="24420195" y="25400"/>
                  </a:lnTo>
                  <a:lnTo>
                    <a:pt x="12700" y="25400"/>
                  </a:lnTo>
                  <a:close/>
                </a:path>
              </a:pathLst>
            </a:custGeom>
            <a:solidFill>
              <a:srgbClr val="4617DE"/>
            </a:solidFill>
          </p:spPr>
        </p:sp>
      </p:grpSp>
      <p:grpSp>
        <p:nvGrpSpPr>
          <p:cNvPr name="Group 7" id="7"/>
          <p:cNvGrpSpPr>
            <a:grpSpLocks noChangeAspect="true"/>
          </p:cNvGrpSpPr>
          <p:nvPr/>
        </p:nvGrpSpPr>
        <p:grpSpPr>
          <a:xfrm rot="0">
            <a:off x="15127473" y="572394"/>
            <a:ext cx="1777568" cy="877906"/>
            <a:chOff x="0" y="0"/>
            <a:chExt cx="2370090" cy="1170542"/>
          </a:xfrm>
        </p:grpSpPr>
        <p:sp>
          <p:nvSpPr>
            <p:cNvPr name="Freeform 8" id="8" descr="Picture 7"/>
            <p:cNvSpPr/>
            <p:nvPr/>
          </p:nvSpPr>
          <p:spPr>
            <a:xfrm flipH="false" flipV="false" rot="0">
              <a:off x="0" y="0"/>
              <a:ext cx="2370074" cy="1170559"/>
            </a:xfrm>
            <a:custGeom>
              <a:avLst/>
              <a:gdLst/>
              <a:ahLst/>
              <a:cxnLst/>
              <a:rect r="r" b="b" t="t" l="l"/>
              <a:pathLst>
                <a:path h="1170559" w="2370074">
                  <a:moveTo>
                    <a:pt x="0" y="0"/>
                  </a:moveTo>
                  <a:lnTo>
                    <a:pt x="2370074" y="0"/>
                  </a:lnTo>
                  <a:lnTo>
                    <a:pt x="2370074" y="1170559"/>
                  </a:lnTo>
                  <a:lnTo>
                    <a:pt x="0" y="1170559"/>
                  </a:lnTo>
                  <a:lnTo>
                    <a:pt x="0" y="0"/>
                  </a:lnTo>
                  <a:close/>
                </a:path>
              </a:pathLst>
            </a:custGeom>
            <a:blipFill>
              <a:blip r:embed="rId3"/>
              <a:stretch>
                <a:fillRect l="-561" t="0" r="-562" b="1"/>
              </a:stretch>
            </a:blipFill>
          </p:spPr>
        </p:sp>
      </p:grpSp>
      <p:grpSp>
        <p:nvGrpSpPr>
          <p:cNvPr name="Group 9" id="9"/>
          <p:cNvGrpSpPr>
            <a:grpSpLocks noChangeAspect="true"/>
          </p:cNvGrpSpPr>
          <p:nvPr/>
        </p:nvGrpSpPr>
        <p:grpSpPr>
          <a:xfrm rot="0">
            <a:off x="13445664" y="434190"/>
            <a:ext cx="1458211" cy="1119732"/>
            <a:chOff x="0" y="0"/>
            <a:chExt cx="1944282" cy="1492976"/>
          </a:xfrm>
        </p:grpSpPr>
        <p:sp>
          <p:nvSpPr>
            <p:cNvPr name="Freeform 10" id="10" descr="Picture 9"/>
            <p:cNvSpPr/>
            <p:nvPr/>
          </p:nvSpPr>
          <p:spPr>
            <a:xfrm flipH="false" flipV="false" rot="0">
              <a:off x="0" y="0"/>
              <a:ext cx="1944243" cy="1493012"/>
            </a:xfrm>
            <a:custGeom>
              <a:avLst/>
              <a:gdLst/>
              <a:ahLst/>
              <a:cxnLst/>
              <a:rect r="r" b="b" t="t" l="l"/>
              <a:pathLst>
                <a:path h="1493012" w="1944243">
                  <a:moveTo>
                    <a:pt x="0" y="0"/>
                  </a:moveTo>
                  <a:lnTo>
                    <a:pt x="1944243" y="0"/>
                  </a:lnTo>
                  <a:lnTo>
                    <a:pt x="1944243" y="1493012"/>
                  </a:lnTo>
                  <a:lnTo>
                    <a:pt x="0" y="1493012"/>
                  </a:lnTo>
                  <a:lnTo>
                    <a:pt x="0" y="0"/>
                  </a:lnTo>
                  <a:close/>
                </a:path>
              </a:pathLst>
            </a:custGeom>
            <a:blipFill>
              <a:blip r:embed="rId4"/>
              <a:stretch>
                <a:fillRect l="-107" t="0" r="-109" b="2"/>
              </a:stretch>
            </a:blipFill>
          </p:spPr>
        </p:sp>
      </p:grpSp>
      <p:grpSp>
        <p:nvGrpSpPr>
          <p:cNvPr name="Group 11" id="11"/>
          <p:cNvGrpSpPr>
            <a:grpSpLocks noChangeAspect="true"/>
          </p:cNvGrpSpPr>
          <p:nvPr/>
        </p:nvGrpSpPr>
        <p:grpSpPr>
          <a:xfrm rot="0">
            <a:off x="17201592" y="146404"/>
            <a:ext cx="808054" cy="1617030"/>
            <a:chOff x="0" y="0"/>
            <a:chExt cx="1077406" cy="2156040"/>
          </a:xfrm>
        </p:grpSpPr>
        <p:sp>
          <p:nvSpPr>
            <p:cNvPr name="Freeform 12" id="12" descr="pasted-movie.png"/>
            <p:cNvSpPr/>
            <p:nvPr/>
          </p:nvSpPr>
          <p:spPr>
            <a:xfrm flipH="false" flipV="false" rot="0">
              <a:off x="0" y="0"/>
              <a:ext cx="1077468" cy="2156079"/>
            </a:xfrm>
            <a:custGeom>
              <a:avLst/>
              <a:gdLst/>
              <a:ahLst/>
              <a:cxnLst/>
              <a:rect r="r" b="b" t="t" l="l"/>
              <a:pathLst>
                <a:path h="2156079" w="1077468">
                  <a:moveTo>
                    <a:pt x="0" y="0"/>
                  </a:moveTo>
                  <a:lnTo>
                    <a:pt x="1077468" y="0"/>
                  </a:lnTo>
                  <a:lnTo>
                    <a:pt x="1077468" y="2156079"/>
                  </a:lnTo>
                  <a:lnTo>
                    <a:pt x="0" y="2156079"/>
                  </a:lnTo>
                  <a:lnTo>
                    <a:pt x="0" y="0"/>
                  </a:lnTo>
                  <a:close/>
                </a:path>
              </a:pathLst>
            </a:custGeom>
            <a:blipFill>
              <a:blip r:embed="rId5"/>
              <a:stretch>
                <a:fillRect l="0" t="-604" r="5" b="-602"/>
              </a:stretch>
            </a:blipFill>
          </p:spPr>
        </p:sp>
      </p:grpSp>
      <p:grpSp>
        <p:nvGrpSpPr>
          <p:cNvPr name="Group 13" id="13"/>
          <p:cNvGrpSpPr>
            <a:grpSpLocks noChangeAspect="true"/>
          </p:cNvGrpSpPr>
          <p:nvPr/>
        </p:nvGrpSpPr>
        <p:grpSpPr>
          <a:xfrm rot="0">
            <a:off x="11943321" y="366993"/>
            <a:ext cx="1380389" cy="1175602"/>
            <a:chOff x="0" y="0"/>
            <a:chExt cx="1840518" cy="1567470"/>
          </a:xfrm>
        </p:grpSpPr>
        <p:sp>
          <p:nvSpPr>
            <p:cNvPr name="Freeform 14" id="14" descr="pasted-movie.png"/>
            <p:cNvSpPr/>
            <p:nvPr/>
          </p:nvSpPr>
          <p:spPr>
            <a:xfrm flipH="false" flipV="false" rot="0">
              <a:off x="0" y="0"/>
              <a:ext cx="1840484" cy="1567434"/>
            </a:xfrm>
            <a:custGeom>
              <a:avLst/>
              <a:gdLst/>
              <a:ahLst/>
              <a:cxnLst/>
              <a:rect r="r" b="b" t="t" l="l"/>
              <a:pathLst>
                <a:path h="1567434" w="1840484">
                  <a:moveTo>
                    <a:pt x="0" y="0"/>
                  </a:moveTo>
                  <a:lnTo>
                    <a:pt x="1840484" y="0"/>
                  </a:lnTo>
                  <a:lnTo>
                    <a:pt x="1840484" y="1567434"/>
                  </a:lnTo>
                  <a:lnTo>
                    <a:pt x="0" y="1567434"/>
                  </a:lnTo>
                  <a:lnTo>
                    <a:pt x="0" y="0"/>
                  </a:lnTo>
                  <a:close/>
                </a:path>
              </a:pathLst>
            </a:custGeom>
            <a:blipFill>
              <a:blip r:embed="rId6"/>
              <a:stretch>
                <a:fillRect l="-19378" t="-31606" r="-19623" b="-31609"/>
              </a:stretch>
            </a:blipFill>
          </p:spPr>
        </p:sp>
      </p:grpSp>
      <p:grpSp>
        <p:nvGrpSpPr>
          <p:cNvPr name="Group 15" id="15"/>
          <p:cNvGrpSpPr>
            <a:grpSpLocks noChangeAspect="true"/>
          </p:cNvGrpSpPr>
          <p:nvPr/>
        </p:nvGrpSpPr>
        <p:grpSpPr>
          <a:xfrm rot="0">
            <a:off x="15003453" y="7913580"/>
            <a:ext cx="3394872" cy="2414976"/>
            <a:chOff x="0" y="0"/>
            <a:chExt cx="4526496" cy="3219968"/>
          </a:xfrm>
        </p:grpSpPr>
        <p:sp>
          <p:nvSpPr>
            <p:cNvPr name="Freeform 16" id="16" descr="Image"/>
            <p:cNvSpPr/>
            <p:nvPr/>
          </p:nvSpPr>
          <p:spPr>
            <a:xfrm flipH="false" flipV="false" rot="0">
              <a:off x="0" y="0"/>
              <a:ext cx="4526534" cy="3219958"/>
            </a:xfrm>
            <a:custGeom>
              <a:avLst/>
              <a:gdLst/>
              <a:ahLst/>
              <a:cxnLst/>
              <a:rect r="r" b="b" t="t" l="l"/>
              <a:pathLst>
                <a:path h="3219958" w="4526534">
                  <a:moveTo>
                    <a:pt x="0" y="0"/>
                  </a:moveTo>
                  <a:lnTo>
                    <a:pt x="4526534" y="0"/>
                  </a:lnTo>
                  <a:lnTo>
                    <a:pt x="4526534" y="3219958"/>
                  </a:lnTo>
                  <a:lnTo>
                    <a:pt x="0" y="3219958"/>
                  </a:lnTo>
                  <a:lnTo>
                    <a:pt x="0" y="0"/>
                  </a:lnTo>
                  <a:close/>
                </a:path>
              </a:pathLst>
            </a:custGeom>
            <a:blipFill>
              <a:blip r:embed="rId7"/>
              <a:stretch>
                <a:fillRect l="-1173" t="0" r="-16160" b="-51433"/>
              </a:stretch>
            </a:blipFill>
          </p:spPr>
        </p:sp>
      </p:grpSp>
      <p:grpSp>
        <p:nvGrpSpPr>
          <p:cNvPr name="Group 17" id="17"/>
          <p:cNvGrpSpPr>
            <a:grpSpLocks noChangeAspect="true"/>
          </p:cNvGrpSpPr>
          <p:nvPr/>
        </p:nvGrpSpPr>
        <p:grpSpPr>
          <a:xfrm rot="0">
            <a:off x="2061220" y="3067194"/>
            <a:ext cx="6380205" cy="6194822"/>
            <a:chOff x="0" y="0"/>
            <a:chExt cx="8506940" cy="8259762"/>
          </a:xfrm>
        </p:grpSpPr>
        <p:sp>
          <p:nvSpPr>
            <p:cNvPr name="Freeform 18" id="18" descr="Image"/>
            <p:cNvSpPr/>
            <p:nvPr/>
          </p:nvSpPr>
          <p:spPr>
            <a:xfrm flipH="false" flipV="false" rot="0">
              <a:off x="0" y="0"/>
              <a:ext cx="8506968" cy="8259699"/>
            </a:xfrm>
            <a:custGeom>
              <a:avLst/>
              <a:gdLst/>
              <a:ahLst/>
              <a:cxnLst/>
              <a:rect r="r" b="b" t="t" l="l"/>
              <a:pathLst>
                <a:path h="8259699" w="8506968">
                  <a:moveTo>
                    <a:pt x="0" y="0"/>
                  </a:moveTo>
                  <a:lnTo>
                    <a:pt x="8506968" y="0"/>
                  </a:lnTo>
                  <a:lnTo>
                    <a:pt x="8506968" y="8259699"/>
                  </a:lnTo>
                  <a:lnTo>
                    <a:pt x="0" y="8259699"/>
                  </a:lnTo>
                  <a:lnTo>
                    <a:pt x="0" y="0"/>
                  </a:lnTo>
                  <a:close/>
                </a:path>
              </a:pathLst>
            </a:custGeom>
            <a:blipFill>
              <a:blip r:embed="rId8"/>
              <a:stretch>
                <a:fillRect l="0" t="-15" r="0" b="-15"/>
              </a:stretch>
            </a:blipFill>
          </p:spPr>
        </p:sp>
      </p:grpSp>
      <p:grpSp>
        <p:nvGrpSpPr>
          <p:cNvPr name="Group 19" id="19"/>
          <p:cNvGrpSpPr/>
          <p:nvPr/>
        </p:nvGrpSpPr>
        <p:grpSpPr>
          <a:xfrm rot="-180000">
            <a:off x="9914047" y="6836996"/>
            <a:ext cx="4077596" cy="938508"/>
            <a:chOff x="0" y="0"/>
            <a:chExt cx="5436794" cy="1251344"/>
          </a:xfrm>
        </p:grpSpPr>
        <p:sp>
          <p:nvSpPr>
            <p:cNvPr name="Freeform 20" id="20"/>
            <p:cNvSpPr/>
            <p:nvPr/>
          </p:nvSpPr>
          <p:spPr>
            <a:xfrm flipH="false" flipV="false" rot="0">
              <a:off x="12700" y="12700"/>
              <a:ext cx="5411343" cy="1225931"/>
            </a:xfrm>
            <a:custGeom>
              <a:avLst/>
              <a:gdLst/>
              <a:ahLst/>
              <a:cxnLst/>
              <a:rect r="r" b="b" t="t" l="l"/>
              <a:pathLst>
                <a:path h="1225931" w="5411343">
                  <a:moveTo>
                    <a:pt x="0" y="0"/>
                  </a:moveTo>
                  <a:lnTo>
                    <a:pt x="5411343" y="0"/>
                  </a:lnTo>
                  <a:lnTo>
                    <a:pt x="5411343" y="1225931"/>
                  </a:lnTo>
                  <a:lnTo>
                    <a:pt x="0" y="1225931"/>
                  </a:lnTo>
                  <a:close/>
                </a:path>
              </a:pathLst>
            </a:custGeom>
            <a:solidFill>
              <a:srgbClr val="FE2E45"/>
            </a:solidFill>
          </p:spPr>
        </p:sp>
      </p:grpSp>
      <p:sp>
        <p:nvSpPr>
          <p:cNvPr name="TextBox 21" id="21"/>
          <p:cNvSpPr txBox="true"/>
          <p:nvPr/>
        </p:nvSpPr>
        <p:spPr>
          <a:xfrm rot="0">
            <a:off x="8416547" y="5094487"/>
            <a:ext cx="7072594" cy="2514600"/>
          </a:xfrm>
          <a:prstGeom prst="rect">
            <a:avLst/>
          </a:prstGeom>
        </p:spPr>
        <p:txBody>
          <a:bodyPr anchor="t" rtlCol="false" tIns="0" lIns="0" bIns="0" rIns="0">
            <a:spAutoFit/>
          </a:bodyPr>
          <a:lstStyle/>
          <a:p>
            <a:pPr algn="ctr">
              <a:lnSpc>
                <a:spcPts val="6659"/>
              </a:lnSpc>
            </a:pPr>
            <a:r>
              <a:rPr lang="en-US" b="true" sz="5550" spc="22">
                <a:solidFill>
                  <a:srgbClr val="FFFFFF"/>
                </a:solidFill>
                <a:latin typeface="Merriweather Sans Bold"/>
                <a:ea typeface="Merriweather Sans Bold"/>
                <a:cs typeface="Merriweather Sans Bold"/>
                <a:sym typeface="Merriweather Sans Bold"/>
              </a:rPr>
              <a:t>Uma nova geração </a:t>
            </a:r>
          </a:p>
          <a:p>
            <a:pPr algn="ctr">
              <a:lnSpc>
                <a:spcPts val="6659"/>
              </a:lnSpc>
            </a:pPr>
            <a:r>
              <a:rPr lang="en-US" b="true" sz="5550" spc="22">
                <a:solidFill>
                  <a:srgbClr val="FFFFFF"/>
                </a:solidFill>
                <a:latin typeface="Merriweather Sans Bold"/>
                <a:ea typeface="Merriweather Sans Bold"/>
                <a:cs typeface="Merriweather Sans Bold"/>
                <a:sym typeface="Merriweather Sans Bold"/>
              </a:rPr>
              <a:t>de especialistas em tecnologia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38963" y="1974824"/>
            <a:ext cx="18324701" cy="8321702"/>
            <a:chOff x="0" y="0"/>
            <a:chExt cx="24432934" cy="11095602"/>
          </a:xfrm>
        </p:grpSpPr>
        <p:sp>
          <p:nvSpPr>
            <p:cNvPr name="Freeform 3" id="3"/>
            <p:cNvSpPr/>
            <p:nvPr/>
          </p:nvSpPr>
          <p:spPr>
            <a:xfrm flipH="false" flipV="false" rot="0">
              <a:off x="12700" y="12700"/>
              <a:ext cx="24407495" cy="11070209"/>
            </a:xfrm>
            <a:custGeom>
              <a:avLst/>
              <a:gdLst/>
              <a:ahLst/>
              <a:cxnLst/>
              <a:rect r="r" b="b" t="t" l="l"/>
              <a:pathLst>
                <a:path h="11070209" w="24407495">
                  <a:moveTo>
                    <a:pt x="0" y="0"/>
                  </a:moveTo>
                  <a:lnTo>
                    <a:pt x="24407495" y="0"/>
                  </a:lnTo>
                  <a:lnTo>
                    <a:pt x="24407495" y="11070209"/>
                  </a:lnTo>
                  <a:lnTo>
                    <a:pt x="0" y="11070209"/>
                  </a:lnTo>
                  <a:close/>
                </a:path>
              </a:pathLst>
            </a:custGeom>
            <a:solidFill>
              <a:srgbClr val="4617DE"/>
            </a:solidFill>
          </p:spPr>
        </p:sp>
        <p:sp>
          <p:nvSpPr>
            <p:cNvPr name="Freeform 4" id="4"/>
            <p:cNvSpPr/>
            <p:nvPr/>
          </p:nvSpPr>
          <p:spPr>
            <a:xfrm flipH="false" flipV="false" rot="0">
              <a:off x="0" y="0"/>
              <a:ext cx="24432895" cy="11095609"/>
            </a:xfrm>
            <a:custGeom>
              <a:avLst/>
              <a:gdLst/>
              <a:ahLst/>
              <a:cxnLst/>
              <a:rect r="r" b="b" t="t" l="l"/>
              <a:pathLst>
                <a:path h="11095609" w="24432895">
                  <a:moveTo>
                    <a:pt x="12700" y="0"/>
                  </a:moveTo>
                  <a:lnTo>
                    <a:pt x="24420195" y="0"/>
                  </a:lnTo>
                  <a:cubicBezTo>
                    <a:pt x="24427180" y="0"/>
                    <a:pt x="24432895" y="5715"/>
                    <a:pt x="24432895" y="12700"/>
                  </a:cubicBezTo>
                  <a:lnTo>
                    <a:pt x="24432895" y="11082909"/>
                  </a:lnTo>
                  <a:cubicBezTo>
                    <a:pt x="24432895" y="11089894"/>
                    <a:pt x="24427180" y="11095609"/>
                    <a:pt x="24420195" y="11095609"/>
                  </a:cubicBezTo>
                  <a:lnTo>
                    <a:pt x="12700" y="11095609"/>
                  </a:lnTo>
                  <a:cubicBezTo>
                    <a:pt x="5715" y="11095609"/>
                    <a:pt x="0" y="11089894"/>
                    <a:pt x="0" y="11082909"/>
                  </a:cubicBezTo>
                  <a:lnTo>
                    <a:pt x="0" y="12700"/>
                  </a:lnTo>
                  <a:cubicBezTo>
                    <a:pt x="0" y="5715"/>
                    <a:pt x="5715" y="0"/>
                    <a:pt x="12700" y="0"/>
                  </a:cubicBezTo>
                  <a:moveTo>
                    <a:pt x="12700" y="25400"/>
                  </a:moveTo>
                  <a:lnTo>
                    <a:pt x="12700" y="12700"/>
                  </a:lnTo>
                  <a:lnTo>
                    <a:pt x="25400" y="12700"/>
                  </a:lnTo>
                  <a:lnTo>
                    <a:pt x="25400" y="11082909"/>
                  </a:lnTo>
                  <a:lnTo>
                    <a:pt x="12700" y="11082909"/>
                  </a:lnTo>
                  <a:lnTo>
                    <a:pt x="12700" y="11070209"/>
                  </a:lnTo>
                  <a:lnTo>
                    <a:pt x="24420195" y="11070209"/>
                  </a:lnTo>
                  <a:lnTo>
                    <a:pt x="24420195" y="11082909"/>
                  </a:lnTo>
                  <a:lnTo>
                    <a:pt x="24407495" y="11082909"/>
                  </a:lnTo>
                  <a:lnTo>
                    <a:pt x="24407495" y="12700"/>
                  </a:lnTo>
                  <a:lnTo>
                    <a:pt x="24420195" y="12700"/>
                  </a:lnTo>
                  <a:lnTo>
                    <a:pt x="24420195" y="25400"/>
                  </a:lnTo>
                  <a:lnTo>
                    <a:pt x="12700" y="25400"/>
                  </a:lnTo>
                  <a:close/>
                </a:path>
              </a:pathLst>
            </a:custGeom>
            <a:solidFill>
              <a:srgbClr val="4617DE"/>
            </a:solidFill>
          </p:spPr>
        </p:sp>
      </p:grpSp>
      <p:grpSp>
        <p:nvGrpSpPr>
          <p:cNvPr name="Group 5" id="5"/>
          <p:cNvGrpSpPr>
            <a:grpSpLocks noChangeAspect="true"/>
          </p:cNvGrpSpPr>
          <p:nvPr/>
        </p:nvGrpSpPr>
        <p:grpSpPr>
          <a:xfrm rot="0">
            <a:off x="15127473" y="572394"/>
            <a:ext cx="1777568" cy="877906"/>
            <a:chOff x="0" y="0"/>
            <a:chExt cx="2370090" cy="1170542"/>
          </a:xfrm>
        </p:grpSpPr>
        <p:sp>
          <p:nvSpPr>
            <p:cNvPr name="Freeform 6" id="6" descr="Picture 7"/>
            <p:cNvSpPr/>
            <p:nvPr/>
          </p:nvSpPr>
          <p:spPr>
            <a:xfrm flipH="false" flipV="false" rot="0">
              <a:off x="0" y="0"/>
              <a:ext cx="2370074" cy="1170559"/>
            </a:xfrm>
            <a:custGeom>
              <a:avLst/>
              <a:gdLst/>
              <a:ahLst/>
              <a:cxnLst/>
              <a:rect r="r" b="b" t="t" l="l"/>
              <a:pathLst>
                <a:path h="1170559" w="2370074">
                  <a:moveTo>
                    <a:pt x="0" y="0"/>
                  </a:moveTo>
                  <a:lnTo>
                    <a:pt x="2370074" y="0"/>
                  </a:lnTo>
                  <a:lnTo>
                    <a:pt x="2370074" y="1170559"/>
                  </a:lnTo>
                  <a:lnTo>
                    <a:pt x="0" y="1170559"/>
                  </a:lnTo>
                  <a:lnTo>
                    <a:pt x="0" y="0"/>
                  </a:lnTo>
                  <a:close/>
                </a:path>
              </a:pathLst>
            </a:custGeom>
            <a:blipFill>
              <a:blip r:embed="rId2"/>
              <a:stretch>
                <a:fillRect l="-561" t="0" r="-562" b="1"/>
              </a:stretch>
            </a:blipFill>
          </p:spPr>
        </p:sp>
      </p:grpSp>
      <p:grpSp>
        <p:nvGrpSpPr>
          <p:cNvPr name="Group 7" id="7"/>
          <p:cNvGrpSpPr>
            <a:grpSpLocks noChangeAspect="true"/>
          </p:cNvGrpSpPr>
          <p:nvPr/>
        </p:nvGrpSpPr>
        <p:grpSpPr>
          <a:xfrm rot="0">
            <a:off x="13445664" y="434190"/>
            <a:ext cx="1458211" cy="1119732"/>
            <a:chOff x="0" y="0"/>
            <a:chExt cx="1944282" cy="1492976"/>
          </a:xfrm>
        </p:grpSpPr>
        <p:sp>
          <p:nvSpPr>
            <p:cNvPr name="Freeform 8" id="8" descr="Picture 9"/>
            <p:cNvSpPr/>
            <p:nvPr/>
          </p:nvSpPr>
          <p:spPr>
            <a:xfrm flipH="false" flipV="false" rot="0">
              <a:off x="0" y="0"/>
              <a:ext cx="1944243" cy="1493012"/>
            </a:xfrm>
            <a:custGeom>
              <a:avLst/>
              <a:gdLst/>
              <a:ahLst/>
              <a:cxnLst/>
              <a:rect r="r" b="b" t="t" l="l"/>
              <a:pathLst>
                <a:path h="1493012" w="1944243">
                  <a:moveTo>
                    <a:pt x="0" y="0"/>
                  </a:moveTo>
                  <a:lnTo>
                    <a:pt x="1944243" y="0"/>
                  </a:lnTo>
                  <a:lnTo>
                    <a:pt x="1944243" y="1493012"/>
                  </a:lnTo>
                  <a:lnTo>
                    <a:pt x="0" y="1493012"/>
                  </a:lnTo>
                  <a:lnTo>
                    <a:pt x="0" y="0"/>
                  </a:lnTo>
                  <a:close/>
                </a:path>
              </a:pathLst>
            </a:custGeom>
            <a:blipFill>
              <a:blip r:embed="rId3"/>
              <a:stretch>
                <a:fillRect l="-107" t="0" r="-109" b="2"/>
              </a:stretch>
            </a:blipFill>
          </p:spPr>
        </p:sp>
      </p:grpSp>
      <p:grpSp>
        <p:nvGrpSpPr>
          <p:cNvPr name="Group 9" id="9"/>
          <p:cNvGrpSpPr>
            <a:grpSpLocks noChangeAspect="true"/>
          </p:cNvGrpSpPr>
          <p:nvPr/>
        </p:nvGrpSpPr>
        <p:grpSpPr>
          <a:xfrm rot="0">
            <a:off x="17201592" y="146404"/>
            <a:ext cx="808054" cy="1617030"/>
            <a:chOff x="0" y="0"/>
            <a:chExt cx="1077406" cy="2156040"/>
          </a:xfrm>
        </p:grpSpPr>
        <p:sp>
          <p:nvSpPr>
            <p:cNvPr name="Freeform 10" id="10" descr="pasted-movie.png"/>
            <p:cNvSpPr/>
            <p:nvPr/>
          </p:nvSpPr>
          <p:spPr>
            <a:xfrm flipH="false" flipV="false" rot="0">
              <a:off x="0" y="0"/>
              <a:ext cx="1077468" cy="2156079"/>
            </a:xfrm>
            <a:custGeom>
              <a:avLst/>
              <a:gdLst/>
              <a:ahLst/>
              <a:cxnLst/>
              <a:rect r="r" b="b" t="t" l="l"/>
              <a:pathLst>
                <a:path h="2156079" w="1077468">
                  <a:moveTo>
                    <a:pt x="0" y="0"/>
                  </a:moveTo>
                  <a:lnTo>
                    <a:pt x="1077468" y="0"/>
                  </a:lnTo>
                  <a:lnTo>
                    <a:pt x="1077468" y="2156079"/>
                  </a:lnTo>
                  <a:lnTo>
                    <a:pt x="0" y="2156079"/>
                  </a:lnTo>
                  <a:lnTo>
                    <a:pt x="0" y="0"/>
                  </a:lnTo>
                  <a:close/>
                </a:path>
              </a:pathLst>
            </a:custGeom>
            <a:blipFill>
              <a:blip r:embed="rId4"/>
              <a:stretch>
                <a:fillRect l="0" t="-604" r="5" b="-602"/>
              </a:stretch>
            </a:blipFill>
          </p:spPr>
        </p:sp>
      </p:grpSp>
      <p:grpSp>
        <p:nvGrpSpPr>
          <p:cNvPr name="Group 11" id="11"/>
          <p:cNvGrpSpPr>
            <a:grpSpLocks noChangeAspect="true"/>
          </p:cNvGrpSpPr>
          <p:nvPr/>
        </p:nvGrpSpPr>
        <p:grpSpPr>
          <a:xfrm rot="0">
            <a:off x="11943321" y="366993"/>
            <a:ext cx="1380389" cy="1175602"/>
            <a:chOff x="0" y="0"/>
            <a:chExt cx="1840518" cy="1567470"/>
          </a:xfrm>
        </p:grpSpPr>
        <p:sp>
          <p:nvSpPr>
            <p:cNvPr name="Freeform 12" id="12" descr="pasted-movie.png"/>
            <p:cNvSpPr/>
            <p:nvPr/>
          </p:nvSpPr>
          <p:spPr>
            <a:xfrm flipH="false" flipV="false" rot="0">
              <a:off x="0" y="0"/>
              <a:ext cx="1840484" cy="1567434"/>
            </a:xfrm>
            <a:custGeom>
              <a:avLst/>
              <a:gdLst/>
              <a:ahLst/>
              <a:cxnLst/>
              <a:rect r="r" b="b" t="t" l="l"/>
              <a:pathLst>
                <a:path h="1567434" w="1840484">
                  <a:moveTo>
                    <a:pt x="0" y="0"/>
                  </a:moveTo>
                  <a:lnTo>
                    <a:pt x="1840484" y="0"/>
                  </a:lnTo>
                  <a:lnTo>
                    <a:pt x="1840484" y="1567434"/>
                  </a:lnTo>
                  <a:lnTo>
                    <a:pt x="0" y="1567434"/>
                  </a:lnTo>
                  <a:lnTo>
                    <a:pt x="0" y="0"/>
                  </a:lnTo>
                  <a:close/>
                </a:path>
              </a:pathLst>
            </a:custGeom>
            <a:blipFill>
              <a:blip r:embed="rId5"/>
              <a:stretch>
                <a:fillRect l="-19378" t="-31606" r="-19623" b="-31609"/>
              </a:stretch>
            </a:blipFill>
          </p:spPr>
        </p:sp>
      </p:grpSp>
      <p:grpSp>
        <p:nvGrpSpPr>
          <p:cNvPr name="Group 13" id="13"/>
          <p:cNvGrpSpPr>
            <a:grpSpLocks noChangeAspect="true"/>
          </p:cNvGrpSpPr>
          <p:nvPr/>
        </p:nvGrpSpPr>
        <p:grpSpPr>
          <a:xfrm rot="0">
            <a:off x="15623874" y="8524875"/>
            <a:ext cx="3270852" cy="2326753"/>
            <a:chOff x="0" y="0"/>
            <a:chExt cx="4526496" cy="3219968"/>
          </a:xfrm>
        </p:grpSpPr>
        <p:sp>
          <p:nvSpPr>
            <p:cNvPr name="Freeform 14" id="14" descr="Image"/>
            <p:cNvSpPr/>
            <p:nvPr/>
          </p:nvSpPr>
          <p:spPr>
            <a:xfrm flipH="false" flipV="false" rot="0">
              <a:off x="0" y="0"/>
              <a:ext cx="4526534" cy="3219958"/>
            </a:xfrm>
            <a:custGeom>
              <a:avLst/>
              <a:gdLst/>
              <a:ahLst/>
              <a:cxnLst/>
              <a:rect r="r" b="b" t="t" l="l"/>
              <a:pathLst>
                <a:path h="3219958" w="4526534">
                  <a:moveTo>
                    <a:pt x="0" y="0"/>
                  </a:moveTo>
                  <a:lnTo>
                    <a:pt x="4526534" y="0"/>
                  </a:lnTo>
                  <a:lnTo>
                    <a:pt x="4526534" y="3219958"/>
                  </a:lnTo>
                  <a:lnTo>
                    <a:pt x="0" y="3219958"/>
                  </a:lnTo>
                  <a:lnTo>
                    <a:pt x="0" y="0"/>
                  </a:lnTo>
                  <a:close/>
                </a:path>
              </a:pathLst>
            </a:custGeom>
            <a:blipFill>
              <a:blip r:embed="rId6"/>
              <a:stretch>
                <a:fillRect l="-1173" t="0" r="-16160" b="-51433"/>
              </a:stretch>
            </a:blipFill>
          </p:spPr>
        </p:sp>
      </p:grpSp>
      <p:grpSp>
        <p:nvGrpSpPr>
          <p:cNvPr name="Group 15" id="15"/>
          <p:cNvGrpSpPr>
            <a:grpSpLocks noChangeAspect="true"/>
          </p:cNvGrpSpPr>
          <p:nvPr/>
        </p:nvGrpSpPr>
        <p:grpSpPr>
          <a:xfrm rot="0">
            <a:off x="2061220" y="3067194"/>
            <a:ext cx="6380205" cy="6194822"/>
            <a:chOff x="0" y="0"/>
            <a:chExt cx="8506940" cy="8259762"/>
          </a:xfrm>
        </p:grpSpPr>
        <p:sp>
          <p:nvSpPr>
            <p:cNvPr name="Freeform 16" id="16" descr="Image"/>
            <p:cNvSpPr/>
            <p:nvPr/>
          </p:nvSpPr>
          <p:spPr>
            <a:xfrm flipH="false" flipV="false" rot="0">
              <a:off x="0" y="0"/>
              <a:ext cx="8506968" cy="8259699"/>
            </a:xfrm>
            <a:custGeom>
              <a:avLst/>
              <a:gdLst/>
              <a:ahLst/>
              <a:cxnLst/>
              <a:rect r="r" b="b" t="t" l="l"/>
              <a:pathLst>
                <a:path h="8259699" w="8506968">
                  <a:moveTo>
                    <a:pt x="0" y="0"/>
                  </a:moveTo>
                  <a:lnTo>
                    <a:pt x="8506968" y="0"/>
                  </a:lnTo>
                  <a:lnTo>
                    <a:pt x="8506968" y="8259699"/>
                  </a:lnTo>
                  <a:lnTo>
                    <a:pt x="0" y="8259699"/>
                  </a:lnTo>
                  <a:lnTo>
                    <a:pt x="0" y="0"/>
                  </a:lnTo>
                  <a:close/>
                </a:path>
              </a:pathLst>
            </a:custGeom>
            <a:blipFill>
              <a:blip r:embed="rId7"/>
              <a:stretch>
                <a:fillRect l="0" t="-15" r="0" b="-15"/>
              </a:stretch>
            </a:blipFill>
          </p:spPr>
        </p:sp>
      </p:grpSp>
      <p:sp>
        <p:nvSpPr>
          <p:cNvPr name="Freeform 17" id="17"/>
          <p:cNvSpPr/>
          <p:nvPr/>
        </p:nvSpPr>
        <p:spPr>
          <a:xfrm flipH="false" flipV="false" rot="0">
            <a:off x="10085738" y="1974824"/>
            <a:ext cx="4244601" cy="2898337"/>
          </a:xfrm>
          <a:custGeom>
            <a:avLst/>
            <a:gdLst/>
            <a:ahLst/>
            <a:cxnLst/>
            <a:rect r="r" b="b" t="t" l="l"/>
            <a:pathLst>
              <a:path h="2898337" w="4244601">
                <a:moveTo>
                  <a:pt x="0" y="0"/>
                </a:moveTo>
                <a:lnTo>
                  <a:pt x="4244601" y="0"/>
                </a:lnTo>
                <a:lnTo>
                  <a:pt x="4244601" y="2898336"/>
                </a:lnTo>
                <a:lnTo>
                  <a:pt x="0" y="2898336"/>
                </a:lnTo>
                <a:lnTo>
                  <a:pt x="0" y="0"/>
                </a:lnTo>
                <a:close/>
              </a:path>
            </a:pathLst>
          </a:custGeom>
          <a:blipFill>
            <a:blip r:embed="rId8"/>
            <a:stretch>
              <a:fillRect l="0" t="-20401" r="0" b="-25681"/>
            </a:stretch>
          </a:blipFill>
        </p:spPr>
      </p:sp>
      <p:sp>
        <p:nvSpPr>
          <p:cNvPr name="TextBox 18" id="18"/>
          <p:cNvSpPr txBox="true"/>
          <p:nvPr/>
        </p:nvSpPr>
        <p:spPr>
          <a:xfrm rot="0">
            <a:off x="7402080" y="5351230"/>
            <a:ext cx="10607567" cy="762000"/>
          </a:xfrm>
          <a:prstGeom prst="rect">
            <a:avLst/>
          </a:prstGeom>
        </p:spPr>
        <p:txBody>
          <a:bodyPr anchor="t" rtlCol="false" tIns="0" lIns="0" bIns="0" rIns="0">
            <a:spAutoFit/>
          </a:bodyPr>
          <a:lstStyle/>
          <a:p>
            <a:pPr algn="ctr">
              <a:lnSpc>
                <a:spcPts val="6000"/>
              </a:lnSpc>
            </a:pPr>
            <a:r>
              <a:rPr lang="en-US" b="true" sz="5000" spc="20">
                <a:solidFill>
                  <a:srgbClr val="2B2551"/>
                </a:solidFill>
                <a:latin typeface="Merriweather Sans Bold"/>
                <a:ea typeface="Merriweather Sans Bold"/>
                <a:cs typeface="Merriweather Sans Bold"/>
                <a:sym typeface="Merriweather Sans Bold"/>
              </a:rPr>
              <a:t>Grupo n• 14</a:t>
            </a:r>
          </a:p>
        </p:txBody>
      </p:sp>
      <p:sp>
        <p:nvSpPr>
          <p:cNvPr name="TextBox 19" id="19"/>
          <p:cNvSpPr txBox="true"/>
          <p:nvPr/>
        </p:nvSpPr>
        <p:spPr>
          <a:xfrm rot="0">
            <a:off x="10659274" y="6448425"/>
            <a:ext cx="7628726" cy="2809875"/>
          </a:xfrm>
          <a:prstGeom prst="rect">
            <a:avLst/>
          </a:prstGeom>
        </p:spPr>
        <p:txBody>
          <a:bodyPr anchor="t" rtlCol="false" tIns="0" lIns="0" bIns="0" rIns="0">
            <a:spAutoFit/>
          </a:bodyPr>
          <a:lstStyle/>
          <a:p>
            <a:pPr algn="l">
              <a:lnSpc>
                <a:spcPts val="7500"/>
              </a:lnSpc>
            </a:pPr>
            <a:r>
              <a:rPr lang="en-US" sz="5000" spc="7" b="true">
                <a:solidFill>
                  <a:srgbClr val="2B2551"/>
                </a:solidFill>
                <a:latin typeface="Merriweather Sans Bold"/>
                <a:ea typeface="Merriweather Sans Bold"/>
                <a:cs typeface="Merriweather Sans Bold"/>
                <a:sym typeface="Merriweather Sans Bold"/>
              </a:rPr>
              <a:t>Antonio Francisco</a:t>
            </a:r>
          </a:p>
          <a:p>
            <a:pPr algn="l">
              <a:lnSpc>
                <a:spcPts val="7500"/>
              </a:lnSpc>
            </a:pPr>
            <a:r>
              <a:rPr lang="en-US" sz="5000" spc="7" b="true">
                <a:solidFill>
                  <a:srgbClr val="2B2551"/>
                </a:solidFill>
                <a:latin typeface="Merriweather Sans Bold"/>
                <a:ea typeface="Merriweather Sans Bold"/>
                <a:cs typeface="Merriweather Sans Bold"/>
                <a:sym typeface="Merriweather Sans Bold"/>
              </a:rPr>
              <a:t>Eudesmagno Miguel</a:t>
            </a:r>
          </a:p>
          <a:p>
            <a:pPr algn="l">
              <a:lnSpc>
                <a:spcPts val="7500"/>
              </a:lnSpc>
            </a:pPr>
            <a:r>
              <a:rPr lang="en-US" sz="5000" spc="7" b="true">
                <a:solidFill>
                  <a:srgbClr val="2B2551"/>
                </a:solidFill>
                <a:latin typeface="Merriweather Sans Bold"/>
                <a:ea typeface="Merriweather Sans Bold"/>
                <a:cs typeface="Merriweather Sans Bold"/>
                <a:sym typeface="Merriweather Sans Bold"/>
              </a:rPr>
              <a:t>José Vale </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3241049"/>
            <a:ext cx="12030496" cy="6744037"/>
            <a:chOff x="0" y="0"/>
            <a:chExt cx="16040662" cy="8992050"/>
          </a:xfrm>
        </p:grpSpPr>
        <p:sp>
          <p:nvSpPr>
            <p:cNvPr name="Freeform 3" id="3"/>
            <p:cNvSpPr/>
            <p:nvPr/>
          </p:nvSpPr>
          <p:spPr>
            <a:xfrm flipH="false" flipV="false" rot="0">
              <a:off x="0" y="0"/>
              <a:ext cx="16040663" cy="8992050"/>
            </a:xfrm>
            <a:custGeom>
              <a:avLst/>
              <a:gdLst/>
              <a:ahLst/>
              <a:cxnLst/>
              <a:rect r="r" b="b" t="t" l="l"/>
              <a:pathLst>
                <a:path h="8992050" w="16040663">
                  <a:moveTo>
                    <a:pt x="0" y="0"/>
                  </a:moveTo>
                  <a:lnTo>
                    <a:pt x="16040663" y="0"/>
                  </a:lnTo>
                  <a:lnTo>
                    <a:pt x="16040663" y="8992050"/>
                  </a:lnTo>
                  <a:lnTo>
                    <a:pt x="0" y="8992050"/>
                  </a:lnTo>
                  <a:close/>
                </a:path>
              </a:pathLst>
            </a:custGeom>
            <a:solidFill>
              <a:srgbClr val="000000">
                <a:alpha val="0"/>
              </a:srgbClr>
            </a:solidFill>
          </p:spPr>
        </p:sp>
        <p:sp>
          <p:nvSpPr>
            <p:cNvPr name="TextBox 4" id="4"/>
            <p:cNvSpPr txBox="true"/>
            <p:nvPr/>
          </p:nvSpPr>
          <p:spPr>
            <a:xfrm>
              <a:off x="0" y="-123825"/>
              <a:ext cx="16040662" cy="9115875"/>
            </a:xfrm>
            <a:prstGeom prst="rect">
              <a:avLst/>
            </a:prstGeom>
          </p:spPr>
          <p:txBody>
            <a:bodyPr anchor="ctr" rtlCol="false" tIns="0" lIns="0" bIns="0" rIns="0"/>
            <a:lstStyle/>
            <a:p>
              <a:pPr algn="l" marL="452437" indent="-226219" lvl="1">
                <a:lnSpc>
                  <a:spcPts val="3749"/>
                </a:lnSpc>
                <a:buFont typeface="Arial"/>
                <a:buChar char="•"/>
              </a:pPr>
              <a:r>
                <a:rPr lang="en-US" b="true" sz="2499" spc="3">
                  <a:solidFill>
                    <a:srgbClr val="1E3347"/>
                  </a:solidFill>
                  <a:latin typeface="Calibri (MS) Bold"/>
                  <a:ea typeface="Calibri (MS) Bold"/>
                  <a:cs typeface="Calibri (MS) Bold"/>
                  <a:sym typeface="Calibri (MS) Bold"/>
                </a:rPr>
                <a:t>NOTA CONCEITUAL E PLANO DE IMPLEMENTAÇÃO :</a:t>
              </a:r>
            </a:p>
            <a:p>
              <a:pPr algn="l" marL="1528201" indent="-509400" lvl="2">
                <a:lnSpc>
                  <a:spcPts val="3749"/>
                </a:lnSpc>
                <a:buFont typeface="Arial"/>
                <a:buChar char="⚬"/>
              </a:pPr>
              <a:r>
                <a:rPr lang="en-US" b="true" sz="2499" spc="3">
                  <a:solidFill>
                    <a:srgbClr val="1E3347"/>
                  </a:solidFill>
                  <a:latin typeface="Calibri (MS) Bold"/>
                  <a:ea typeface="Calibri (MS) Bold"/>
                  <a:cs typeface="Calibri (MS) Bold"/>
                  <a:sym typeface="Calibri (MS) Bold"/>
                </a:rPr>
                <a:t>CONTEXTO</a:t>
              </a:r>
            </a:p>
            <a:p>
              <a:pPr algn="l" marL="1528201" indent="-509400" lvl="2">
                <a:lnSpc>
                  <a:spcPts val="3749"/>
                </a:lnSpc>
                <a:buFont typeface="Arial"/>
                <a:buChar char="⚬"/>
              </a:pPr>
              <a:r>
                <a:rPr lang="en-US" b="true" sz="2499" spc="3">
                  <a:solidFill>
                    <a:srgbClr val="1E3347"/>
                  </a:solidFill>
                  <a:latin typeface="Calibri (MS) Bold"/>
                  <a:ea typeface="Calibri (MS) Bold"/>
                  <a:cs typeface="Calibri (MS) Bold"/>
                  <a:sym typeface="Calibri (MS) Bold"/>
                </a:rPr>
                <a:t>OBJETIVOS</a:t>
              </a:r>
            </a:p>
            <a:p>
              <a:pPr algn="l" marL="1528201" indent="-509400" lvl="2">
                <a:lnSpc>
                  <a:spcPts val="3749"/>
                </a:lnSpc>
                <a:buFont typeface="Arial"/>
                <a:buChar char="⚬"/>
              </a:pPr>
              <a:r>
                <a:rPr lang="en-US" b="true" sz="2499" spc="3">
                  <a:solidFill>
                    <a:srgbClr val="1E3347"/>
                  </a:solidFill>
                  <a:latin typeface="Calibri (MS) Bold"/>
                  <a:ea typeface="Calibri (MS) Bold"/>
                  <a:cs typeface="Calibri (MS) Bold"/>
                  <a:sym typeface="Calibri (MS) Bold"/>
                </a:rPr>
                <a:t>RELAÇÃO ODS</a:t>
              </a:r>
            </a:p>
            <a:p>
              <a:pPr algn="l" marL="452437" indent="-226219" lvl="1">
                <a:lnSpc>
                  <a:spcPts val="3749"/>
                </a:lnSpc>
                <a:buFont typeface="Arial"/>
                <a:buChar char="•"/>
              </a:pPr>
              <a:r>
                <a:rPr lang="en-US" b="true" sz="2499" spc="3">
                  <a:solidFill>
                    <a:srgbClr val="1E3347"/>
                  </a:solidFill>
                  <a:latin typeface="Calibri (MS) Bold"/>
                  <a:ea typeface="Calibri (MS) Bold"/>
                  <a:cs typeface="Calibri (MS) Bold"/>
                  <a:sym typeface="Calibri (MS) Bold"/>
                </a:rPr>
                <a:t>DADOS</a:t>
              </a:r>
            </a:p>
            <a:p>
              <a:pPr algn="l" marL="1528201" indent="-509400" lvl="2">
                <a:lnSpc>
                  <a:spcPts val="3749"/>
                </a:lnSpc>
                <a:buFont typeface="Arial"/>
                <a:buChar char="⚬"/>
              </a:pPr>
              <a:r>
                <a:rPr lang="en-US" b="true" sz="2499" spc="3">
                  <a:solidFill>
                    <a:srgbClr val="1E3347"/>
                  </a:solidFill>
                  <a:latin typeface="Calibri (MS) Bold"/>
                  <a:ea typeface="Calibri (MS) Bold"/>
                  <a:cs typeface="Calibri (MS) Bold"/>
                  <a:sym typeface="Calibri (MS) Bold"/>
                </a:rPr>
                <a:t>COLETA DE DADOS</a:t>
              </a:r>
            </a:p>
            <a:p>
              <a:pPr algn="l" marL="1528201" indent="-509400" lvl="2">
                <a:lnSpc>
                  <a:spcPts val="3749"/>
                </a:lnSpc>
                <a:buFont typeface="Arial"/>
                <a:buChar char="⚬"/>
              </a:pPr>
              <a:r>
                <a:rPr lang="en-US" b="true" sz="2499" spc="3">
                  <a:solidFill>
                    <a:srgbClr val="1E3347"/>
                  </a:solidFill>
                  <a:latin typeface="Calibri (MS) Bold"/>
                  <a:ea typeface="Calibri (MS) Bold"/>
                  <a:cs typeface="Calibri (MS) Bold"/>
                  <a:sym typeface="Calibri (MS) Bold"/>
                </a:rPr>
                <a:t>ANÁLISE EXPLORATÓRIA DE DADOS (EDA) E ENGENHARIA DE RECURSOS</a:t>
              </a:r>
            </a:p>
            <a:p>
              <a:pPr algn="l" marL="452437" indent="-226219" lvl="1">
                <a:lnSpc>
                  <a:spcPts val="3749"/>
                </a:lnSpc>
                <a:buFont typeface="Arial"/>
                <a:buChar char="•"/>
              </a:pPr>
              <a:r>
                <a:rPr lang="en-US" b="true" sz="2499" spc="3">
                  <a:solidFill>
                    <a:srgbClr val="1E3347"/>
                  </a:solidFill>
                  <a:latin typeface="Calibri (MS) Bold"/>
                  <a:ea typeface="Calibri (MS) Bold"/>
                  <a:cs typeface="Calibri (MS) Bold"/>
                  <a:sym typeface="Calibri (MS) Bold"/>
                </a:rPr>
                <a:t>SELEÇÃO E TREINAMENTO DE MODELOS</a:t>
              </a:r>
            </a:p>
            <a:p>
              <a:pPr algn="l" marL="1528201" indent="-509400" lvl="2">
                <a:lnSpc>
                  <a:spcPts val="3749"/>
                </a:lnSpc>
                <a:buFont typeface="Arial"/>
                <a:buChar char="⚬"/>
              </a:pPr>
              <a:r>
                <a:rPr lang="en-US" b="true" sz="2499" spc="3">
                  <a:solidFill>
                    <a:srgbClr val="1E3347"/>
                  </a:solidFill>
                  <a:latin typeface="Calibri (MS) Bold"/>
                  <a:ea typeface="Calibri (MS) Bold"/>
                  <a:cs typeface="Calibri (MS) Bold"/>
                  <a:sym typeface="Calibri (MS) Bold"/>
                </a:rPr>
                <a:t>AVALIAÇÃO DE MODELOS E AJUSTE </a:t>
              </a:r>
            </a:p>
            <a:p>
              <a:pPr algn="l" marL="1528201" indent="-509400" lvl="2">
                <a:lnSpc>
                  <a:spcPts val="3749"/>
                </a:lnSpc>
                <a:buFont typeface="Arial"/>
                <a:buChar char="⚬"/>
              </a:pPr>
              <a:r>
                <a:rPr lang="en-US" b="true" sz="2499" spc="3">
                  <a:solidFill>
                    <a:srgbClr val="1E3347"/>
                  </a:solidFill>
                  <a:latin typeface="Calibri (MS) Bold"/>
                  <a:ea typeface="Calibri (MS) Bold"/>
                  <a:cs typeface="Calibri (MS) Bold"/>
                  <a:sym typeface="Calibri (MS) Bold"/>
                </a:rPr>
                <a:t>REFINAMENTO E TESTE DE MODELOS</a:t>
              </a:r>
            </a:p>
            <a:p>
              <a:pPr algn="l" marL="452437" indent="-226219" lvl="1">
                <a:lnSpc>
                  <a:spcPts val="3749"/>
                </a:lnSpc>
                <a:buFont typeface="Arial"/>
                <a:buChar char="•"/>
              </a:pPr>
              <a:r>
                <a:rPr lang="en-US" b="true" sz="2499" spc="3">
                  <a:solidFill>
                    <a:srgbClr val="1E3347"/>
                  </a:solidFill>
                  <a:latin typeface="Calibri (MS) Bold"/>
                  <a:ea typeface="Calibri (MS) Bold"/>
                  <a:cs typeface="Calibri (MS) Bold"/>
                  <a:sym typeface="Calibri (MS) Bold"/>
                </a:rPr>
                <a:t>RESULTADOS</a:t>
              </a:r>
            </a:p>
            <a:p>
              <a:pPr algn="l" marL="452437" indent="-226219" lvl="1">
                <a:lnSpc>
                  <a:spcPts val="3749"/>
                </a:lnSpc>
                <a:buFont typeface="Arial"/>
                <a:buChar char="•"/>
              </a:pPr>
              <a:r>
                <a:rPr lang="en-US" b="true" sz="2499" spc="3">
                  <a:solidFill>
                    <a:srgbClr val="1E3347"/>
                  </a:solidFill>
                  <a:latin typeface="Calibri (MS) Bold"/>
                  <a:ea typeface="Calibri (MS) Bold"/>
                  <a:cs typeface="Calibri (MS) Bold"/>
                  <a:sym typeface="Calibri (MS) Bold"/>
                </a:rPr>
                <a:t>IMPLANTAÇÃO</a:t>
              </a:r>
            </a:p>
            <a:p>
              <a:pPr algn="l" marL="452437" indent="-226219" lvl="1">
                <a:lnSpc>
                  <a:spcPts val="3749"/>
                </a:lnSpc>
                <a:buFont typeface="Arial"/>
                <a:buChar char="•"/>
              </a:pPr>
              <a:r>
                <a:rPr lang="en-US" b="true" sz="2499" spc="3">
                  <a:solidFill>
                    <a:srgbClr val="1E3347"/>
                  </a:solidFill>
                  <a:latin typeface="Calibri (MS) Bold"/>
                  <a:ea typeface="Calibri (MS) Bold"/>
                  <a:cs typeface="Calibri (MS) Bold"/>
                  <a:sym typeface="Calibri (MS) Bold"/>
                </a:rPr>
                <a:t>TRABALHO FUTURO</a:t>
              </a:r>
            </a:p>
            <a:p>
              <a:pPr algn="l" marL="452437" indent="-226219" lvl="1">
                <a:lnSpc>
                  <a:spcPts val="3749"/>
                </a:lnSpc>
              </a:pPr>
            </a:p>
          </p:txBody>
        </p:sp>
      </p:grpSp>
      <p:grpSp>
        <p:nvGrpSpPr>
          <p:cNvPr name="Group 5" id="5"/>
          <p:cNvGrpSpPr/>
          <p:nvPr/>
        </p:nvGrpSpPr>
        <p:grpSpPr>
          <a:xfrm rot="0">
            <a:off x="682956" y="1544475"/>
            <a:ext cx="6564840" cy="964878"/>
            <a:chOff x="0" y="0"/>
            <a:chExt cx="8604062" cy="1264596"/>
          </a:xfrm>
        </p:grpSpPr>
        <p:sp>
          <p:nvSpPr>
            <p:cNvPr name="Freeform 6" id="6"/>
            <p:cNvSpPr/>
            <p:nvPr/>
          </p:nvSpPr>
          <p:spPr>
            <a:xfrm flipH="false" flipV="false" rot="0">
              <a:off x="12700" y="12700"/>
              <a:ext cx="8578723" cy="1239139"/>
            </a:xfrm>
            <a:custGeom>
              <a:avLst/>
              <a:gdLst/>
              <a:ahLst/>
              <a:cxnLst/>
              <a:rect r="r" b="b" t="t" l="l"/>
              <a:pathLst>
                <a:path h="1239139" w="8578723">
                  <a:moveTo>
                    <a:pt x="0" y="0"/>
                  </a:moveTo>
                  <a:lnTo>
                    <a:pt x="8578723" y="0"/>
                  </a:lnTo>
                  <a:lnTo>
                    <a:pt x="8578723" y="1239139"/>
                  </a:lnTo>
                  <a:lnTo>
                    <a:pt x="0" y="1239139"/>
                  </a:lnTo>
                  <a:close/>
                </a:path>
              </a:pathLst>
            </a:custGeom>
            <a:solidFill>
              <a:srgbClr val="FE2E45"/>
            </a:solidFill>
          </p:spPr>
        </p:sp>
      </p:grpSp>
      <p:grpSp>
        <p:nvGrpSpPr>
          <p:cNvPr name="Group 7" id="7"/>
          <p:cNvGrpSpPr/>
          <p:nvPr/>
        </p:nvGrpSpPr>
        <p:grpSpPr>
          <a:xfrm rot="0">
            <a:off x="1028700" y="1365230"/>
            <a:ext cx="11653162" cy="1323369"/>
            <a:chOff x="0" y="0"/>
            <a:chExt cx="15537550" cy="1764492"/>
          </a:xfrm>
        </p:grpSpPr>
        <p:sp>
          <p:nvSpPr>
            <p:cNvPr name="Freeform 8" id="8"/>
            <p:cNvSpPr/>
            <p:nvPr/>
          </p:nvSpPr>
          <p:spPr>
            <a:xfrm flipH="false" flipV="false" rot="0">
              <a:off x="0" y="0"/>
              <a:ext cx="15537551" cy="1764492"/>
            </a:xfrm>
            <a:custGeom>
              <a:avLst/>
              <a:gdLst/>
              <a:ahLst/>
              <a:cxnLst/>
              <a:rect r="r" b="b" t="t" l="l"/>
              <a:pathLst>
                <a:path h="1764492" w="15537551">
                  <a:moveTo>
                    <a:pt x="0" y="0"/>
                  </a:moveTo>
                  <a:lnTo>
                    <a:pt x="15537551" y="0"/>
                  </a:lnTo>
                  <a:lnTo>
                    <a:pt x="15537551" y="1764492"/>
                  </a:lnTo>
                  <a:lnTo>
                    <a:pt x="0" y="1764492"/>
                  </a:lnTo>
                  <a:close/>
                </a:path>
              </a:pathLst>
            </a:custGeom>
            <a:solidFill>
              <a:srgbClr val="000000">
                <a:alpha val="0"/>
              </a:srgbClr>
            </a:solidFill>
          </p:spPr>
        </p:sp>
        <p:sp>
          <p:nvSpPr>
            <p:cNvPr name="TextBox 9" id="9"/>
            <p:cNvSpPr txBox="true"/>
            <p:nvPr/>
          </p:nvSpPr>
          <p:spPr>
            <a:xfrm>
              <a:off x="0" y="57150"/>
              <a:ext cx="15537550" cy="1707342"/>
            </a:xfrm>
            <a:prstGeom prst="rect">
              <a:avLst/>
            </a:prstGeom>
          </p:spPr>
          <p:txBody>
            <a:bodyPr anchor="ctr" rtlCol="false" tIns="0" lIns="0" bIns="0" rIns="0"/>
            <a:lstStyle/>
            <a:p>
              <a:pPr algn="l">
                <a:lnSpc>
                  <a:spcPts val="5427"/>
                </a:lnSpc>
              </a:pPr>
              <a:r>
                <a:rPr lang="en-US" b="true" sz="5025" spc="20">
                  <a:solidFill>
                    <a:srgbClr val="2B2551"/>
                  </a:solidFill>
                  <a:latin typeface="Merriweather Sans Bold"/>
                  <a:ea typeface="Merriweather Sans Bold"/>
                  <a:cs typeface="Merriweather Sans Bold"/>
                  <a:sym typeface="Merriweather Sans Bold"/>
                </a:rPr>
                <a:t>GERAL</a:t>
              </a:r>
            </a:p>
          </p:txBody>
        </p:sp>
      </p:grpSp>
      <p:grpSp>
        <p:nvGrpSpPr>
          <p:cNvPr name="Group 10" id="10"/>
          <p:cNvGrpSpPr>
            <a:grpSpLocks noChangeAspect="true"/>
          </p:cNvGrpSpPr>
          <p:nvPr/>
        </p:nvGrpSpPr>
        <p:grpSpPr>
          <a:xfrm rot="0">
            <a:off x="682956" y="744174"/>
            <a:ext cx="2921214" cy="248720"/>
            <a:chOff x="0" y="0"/>
            <a:chExt cx="3894952" cy="331626"/>
          </a:xfrm>
        </p:grpSpPr>
        <p:sp>
          <p:nvSpPr>
            <p:cNvPr name="Freeform 11" id="11"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12" id="12"/>
          <p:cNvGrpSpPr>
            <a:grpSpLocks noChangeAspect="true"/>
          </p:cNvGrpSpPr>
          <p:nvPr/>
        </p:nvGrpSpPr>
        <p:grpSpPr>
          <a:xfrm rot="0">
            <a:off x="15222434" y="427439"/>
            <a:ext cx="1580448" cy="780909"/>
            <a:chOff x="0" y="0"/>
            <a:chExt cx="2107264" cy="1041212"/>
          </a:xfrm>
        </p:grpSpPr>
        <p:sp>
          <p:nvSpPr>
            <p:cNvPr name="Freeform 13" id="13"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14" id="14"/>
          <p:cNvGrpSpPr>
            <a:grpSpLocks noChangeAspect="true"/>
          </p:cNvGrpSpPr>
          <p:nvPr/>
        </p:nvGrpSpPr>
        <p:grpSpPr>
          <a:xfrm rot="0">
            <a:off x="13800587" y="338836"/>
            <a:ext cx="1234639" cy="941733"/>
            <a:chOff x="0" y="0"/>
            <a:chExt cx="1646186" cy="1255644"/>
          </a:xfrm>
        </p:grpSpPr>
        <p:sp>
          <p:nvSpPr>
            <p:cNvPr name="Freeform 15" id="15"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16" id="16"/>
          <p:cNvGrpSpPr>
            <a:grpSpLocks noChangeAspect="true"/>
          </p:cNvGrpSpPr>
          <p:nvPr/>
        </p:nvGrpSpPr>
        <p:grpSpPr>
          <a:xfrm rot="0">
            <a:off x="17000025" y="270560"/>
            <a:ext cx="534549" cy="1094670"/>
            <a:chOff x="0" y="0"/>
            <a:chExt cx="712732" cy="1459560"/>
          </a:xfrm>
        </p:grpSpPr>
        <p:sp>
          <p:nvSpPr>
            <p:cNvPr name="Freeform 17" id="17"/>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8" id="18"/>
          <p:cNvGrpSpPr>
            <a:grpSpLocks noChangeAspect="true"/>
          </p:cNvGrpSpPr>
          <p:nvPr/>
        </p:nvGrpSpPr>
        <p:grpSpPr>
          <a:xfrm rot="0">
            <a:off x="12595394" y="338836"/>
            <a:ext cx="1008050" cy="864211"/>
            <a:chOff x="0" y="0"/>
            <a:chExt cx="1344066" cy="1152282"/>
          </a:xfrm>
        </p:grpSpPr>
        <p:sp>
          <p:nvSpPr>
            <p:cNvPr name="Freeform 19" id="19"/>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20" id="20"/>
          <p:cNvGrpSpPr/>
          <p:nvPr/>
        </p:nvGrpSpPr>
        <p:grpSpPr>
          <a:xfrm rot="0">
            <a:off x="-13605" y="9985086"/>
            <a:ext cx="18342351" cy="384878"/>
            <a:chOff x="0" y="0"/>
            <a:chExt cx="24456468" cy="513170"/>
          </a:xfrm>
        </p:grpSpPr>
        <p:sp>
          <p:nvSpPr>
            <p:cNvPr name="Freeform 21" id="21"/>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2956" y="1591197"/>
            <a:ext cx="5929072" cy="871435"/>
            <a:chOff x="0" y="0"/>
            <a:chExt cx="8604062" cy="1264596"/>
          </a:xfrm>
        </p:grpSpPr>
        <p:sp>
          <p:nvSpPr>
            <p:cNvPr name="Freeform 3" id="3"/>
            <p:cNvSpPr/>
            <p:nvPr/>
          </p:nvSpPr>
          <p:spPr>
            <a:xfrm flipH="false" flipV="false" rot="0">
              <a:off x="12700" y="12700"/>
              <a:ext cx="8578723" cy="1239139"/>
            </a:xfrm>
            <a:custGeom>
              <a:avLst/>
              <a:gdLst/>
              <a:ahLst/>
              <a:cxnLst/>
              <a:rect r="r" b="b" t="t" l="l"/>
              <a:pathLst>
                <a:path h="1239139" w="8578723">
                  <a:moveTo>
                    <a:pt x="0" y="0"/>
                  </a:moveTo>
                  <a:lnTo>
                    <a:pt x="8578723" y="0"/>
                  </a:lnTo>
                  <a:lnTo>
                    <a:pt x="8578723" y="1239139"/>
                  </a:lnTo>
                  <a:lnTo>
                    <a:pt x="0" y="1239139"/>
                  </a:lnTo>
                  <a:close/>
                </a:path>
              </a:pathLst>
            </a:custGeom>
            <a:solidFill>
              <a:srgbClr val="FE2E45"/>
            </a:solidFill>
          </p:spPr>
        </p:sp>
      </p:grpSp>
      <p:grpSp>
        <p:nvGrpSpPr>
          <p:cNvPr name="Group 4" id="4"/>
          <p:cNvGrpSpPr/>
          <p:nvPr/>
        </p:nvGrpSpPr>
        <p:grpSpPr>
          <a:xfrm rot="0">
            <a:off x="1028700" y="1365230"/>
            <a:ext cx="11653162" cy="1323369"/>
            <a:chOff x="0" y="0"/>
            <a:chExt cx="15537550" cy="1764492"/>
          </a:xfrm>
        </p:grpSpPr>
        <p:sp>
          <p:nvSpPr>
            <p:cNvPr name="Freeform 5" id="5"/>
            <p:cNvSpPr/>
            <p:nvPr/>
          </p:nvSpPr>
          <p:spPr>
            <a:xfrm flipH="false" flipV="false" rot="0">
              <a:off x="0" y="0"/>
              <a:ext cx="15537551" cy="1764492"/>
            </a:xfrm>
            <a:custGeom>
              <a:avLst/>
              <a:gdLst/>
              <a:ahLst/>
              <a:cxnLst/>
              <a:rect r="r" b="b" t="t" l="l"/>
              <a:pathLst>
                <a:path h="1764492" w="15537551">
                  <a:moveTo>
                    <a:pt x="0" y="0"/>
                  </a:moveTo>
                  <a:lnTo>
                    <a:pt x="15537551" y="0"/>
                  </a:lnTo>
                  <a:lnTo>
                    <a:pt x="15537551" y="1764492"/>
                  </a:lnTo>
                  <a:lnTo>
                    <a:pt x="0" y="1764492"/>
                  </a:lnTo>
                  <a:close/>
                </a:path>
              </a:pathLst>
            </a:custGeom>
            <a:solidFill>
              <a:srgbClr val="000000">
                <a:alpha val="0"/>
              </a:srgbClr>
            </a:solidFill>
          </p:spPr>
        </p:sp>
        <p:sp>
          <p:nvSpPr>
            <p:cNvPr name="TextBox 6" id="6"/>
            <p:cNvSpPr txBox="true"/>
            <p:nvPr/>
          </p:nvSpPr>
          <p:spPr>
            <a:xfrm>
              <a:off x="0" y="57150"/>
              <a:ext cx="15537550" cy="1707342"/>
            </a:xfrm>
            <a:prstGeom prst="rect">
              <a:avLst/>
            </a:prstGeom>
          </p:spPr>
          <p:txBody>
            <a:bodyPr anchor="ctr" rtlCol="false" tIns="0" lIns="0" bIns="0" rIns="0"/>
            <a:lstStyle/>
            <a:p>
              <a:pPr algn="l">
                <a:lnSpc>
                  <a:spcPts val="5427"/>
                </a:lnSpc>
              </a:pPr>
              <a:r>
                <a:rPr lang="en-US" b="true" sz="5025" spc="20">
                  <a:solidFill>
                    <a:srgbClr val="2B2551"/>
                  </a:solidFill>
                  <a:latin typeface="Merriweather Sans Bold"/>
                  <a:ea typeface="Merriweather Sans Bold"/>
                  <a:cs typeface="Merriweather Sans Bold"/>
                  <a:sym typeface="Merriweather Sans Bold"/>
                </a:rPr>
                <a:t>Background</a:t>
              </a:r>
            </a:p>
          </p:txBody>
        </p:sp>
      </p:grpSp>
      <p:grpSp>
        <p:nvGrpSpPr>
          <p:cNvPr name="Group 7" id="7"/>
          <p:cNvGrpSpPr>
            <a:grpSpLocks noChangeAspect="true"/>
          </p:cNvGrpSpPr>
          <p:nvPr/>
        </p:nvGrpSpPr>
        <p:grpSpPr>
          <a:xfrm rot="0">
            <a:off x="682956" y="744174"/>
            <a:ext cx="2921214" cy="248720"/>
            <a:chOff x="0" y="0"/>
            <a:chExt cx="3894952" cy="331626"/>
          </a:xfrm>
        </p:grpSpPr>
        <p:sp>
          <p:nvSpPr>
            <p:cNvPr name="Freeform 8" id="8"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9" id="9"/>
          <p:cNvGrpSpPr>
            <a:grpSpLocks noChangeAspect="true"/>
          </p:cNvGrpSpPr>
          <p:nvPr/>
        </p:nvGrpSpPr>
        <p:grpSpPr>
          <a:xfrm rot="0">
            <a:off x="15222434" y="427439"/>
            <a:ext cx="1580448" cy="780909"/>
            <a:chOff x="0" y="0"/>
            <a:chExt cx="2107264" cy="1041212"/>
          </a:xfrm>
        </p:grpSpPr>
        <p:sp>
          <p:nvSpPr>
            <p:cNvPr name="Freeform 10" id="10"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11" id="11"/>
          <p:cNvGrpSpPr>
            <a:grpSpLocks noChangeAspect="true"/>
          </p:cNvGrpSpPr>
          <p:nvPr/>
        </p:nvGrpSpPr>
        <p:grpSpPr>
          <a:xfrm rot="0">
            <a:off x="13800587" y="338836"/>
            <a:ext cx="1234639" cy="941733"/>
            <a:chOff x="0" y="0"/>
            <a:chExt cx="1646186" cy="1255644"/>
          </a:xfrm>
        </p:grpSpPr>
        <p:sp>
          <p:nvSpPr>
            <p:cNvPr name="Freeform 12" id="12"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13" id="13"/>
          <p:cNvGrpSpPr>
            <a:grpSpLocks noChangeAspect="true"/>
          </p:cNvGrpSpPr>
          <p:nvPr/>
        </p:nvGrpSpPr>
        <p:grpSpPr>
          <a:xfrm rot="0">
            <a:off x="17000025" y="270560"/>
            <a:ext cx="534549" cy="1094670"/>
            <a:chOff x="0" y="0"/>
            <a:chExt cx="712732" cy="1459560"/>
          </a:xfrm>
        </p:grpSpPr>
        <p:sp>
          <p:nvSpPr>
            <p:cNvPr name="Freeform 14" id="14"/>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5" id="15"/>
          <p:cNvGrpSpPr>
            <a:grpSpLocks noChangeAspect="true"/>
          </p:cNvGrpSpPr>
          <p:nvPr/>
        </p:nvGrpSpPr>
        <p:grpSpPr>
          <a:xfrm rot="0">
            <a:off x="12595394" y="338836"/>
            <a:ext cx="1008050" cy="864211"/>
            <a:chOff x="0" y="0"/>
            <a:chExt cx="1344066" cy="1152282"/>
          </a:xfrm>
        </p:grpSpPr>
        <p:sp>
          <p:nvSpPr>
            <p:cNvPr name="Freeform 16" id="16"/>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7" id="17"/>
          <p:cNvGrpSpPr/>
          <p:nvPr/>
        </p:nvGrpSpPr>
        <p:grpSpPr>
          <a:xfrm rot="0">
            <a:off x="-13605" y="9985086"/>
            <a:ext cx="18342351" cy="384878"/>
            <a:chOff x="0" y="0"/>
            <a:chExt cx="24456468" cy="513170"/>
          </a:xfrm>
        </p:grpSpPr>
        <p:sp>
          <p:nvSpPr>
            <p:cNvPr name="Freeform 18" id="18"/>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grpSp>
        <p:nvGrpSpPr>
          <p:cNvPr name="Group 19" id="19"/>
          <p:cNvGrpSpPr/>
          <p:nvPr/>
        </p:nvGrpSpPr>
        <p:grpSpPr>
          <a:xfrm rot="0">
            <a:off x="796730" y="2917198"/>
            <a:ext cx="16694541" cy="6946791"/>
            <a:chOff x="0" y="0"/>
            <a:chExt cx="22259388" cy="9262388"/>
          </a:xfrm>
        </p:grpSpPr>
        <p:sp>
          <p:nvSpPr>
            <p:cNvPr name="Freeform 20" id="20"/>
            <p:cNvSpPr/>
            <p:nvPr/>
          </p:nvSpPr>
          <p:spPr>
            <a:xfrm flipH="false" flipV="false" rot="0">
              <a:off x="0" y="0"/>
              <a:ext cx="22259389" cy="9262388"/>
            </a:xfrm>
            <a:custGeom>
              <a:avLst/>
              <a:gdLst/>
              <a:ahLst/>
              <a:cxnLst/>
              <a:rect r="r" b="b" t="t" l="l"/>
              <a:pathLst>
                <a:path h="9262388" w="22259389">
                  <a:moveTo>
                    <a:pt x="0" y="0"/>
                  </a:moveTo>
                  <a:lnTo>
                    <a:pt x="22259389" y="0"/>
                  </a:lnTo>
                  <a:lnTo>
                    <a:pt x="22259389" y="9262388"/>
                  </a:lnTo>
                  <a:lnTo>
                    <a:pt x="0" y="9262388"/>
                  </a:lnTo>
                  <a:close/>
                </a:path>
              </a:pathLst>
            </a:custGeom>
            <a:solidFill>
              <a:srgbClr val="000000">
                <a:alpha val="0"/>
              </a:srgbClr>
            </a:solidFill>
          </p:spPr>
        </p:sp>
        <p:sp>
          <p:nvSpPr>
            <p:cNvPr name="TextBox 21" id="21"/>
            <p:cNvSpPr txBox="true"/>
            <p:nvPr/>
          </p:nvSpPr>
          <p:spPr>
            <a:xfrm>
              <a:off x="0" y="-76200"/>
              <a:ext cx="22259388" cy="9338588"/>
            </a:xfrm>
            <a:prstGeom prst="rect">
              <a:avLst/>
            </a:prstGeom>
          </p:spPr>
          <p:txBody>
            <a:bodyPr anchor="ctr" rtlCol="false" tIns="0" lIns="0" bIns="0" rIns="0"/>
            <a:lstStyle/>
            <a:p>
              <a:pPr algn="just">
                <a:lnSpc>
                  <a:spcPts val="3600"/>
                </a:lnSpc>
              </a:pPr>
              <a:r>
                <a:rPr lang="en-US" sz="2400" spc="2">
                  <a:solidFill>
                    <a:srgbClr val="000000"/>
                  </a:solidFill>
                  <a:latin typeface="Merriweather Sans Light"/>
                  <a:ea typeface="Merriweather Sans Light"/>
                  <a:cs typeface="Merriweather Sans Light"/>
                  <a:sym typeface="Merriweather Sans Light"/>
                </a:rPr>
                <a:t>A</a:t>
              </a:r>
              <a:r>
                <a:rPr lang="en-US" sz="2400" spc="2">
                  <a:solidFill>
                    <a:srgbClr val="000000"/>
                  </a:solidFill>
                  <a:latin typeface="Merriweather Sans Light"/>
                  <a:ea typeface="Merriweather Sans Light"/>
                  <a:cs typeface="Merriweather Sans Light"/>
                  <a:sym typeface="Merriweather Sans Light"/>
                </a:rPr>
                <a:t>ngola possui uma das biodiversidades mais ricas do continente africano, com aproximadamente 276 espécies de mamíferos, 265 espécies de aves de reprodução e 5.185 espécies de plantas superiores. No entanto, esta riqueza natural enfrenta ameaças significativas, incluindo a caça furtiva, perda de habitat e os impactos residuais de três décadas de guerra civil. Segundo a IUCN, cerca de 75% dos animais e plantas listados na lista Vermelha em Angola estão classificados como vulneráveis, ameaçados ou criticamente ameaçados.</a:t>
              </a:r>
            </a:p>
            <a:p>
              <a:pPr algn="just">
                <a:lnSpc>
                  <a:spcPts val="3600"/>
                </a:lnSpc>
              </a:pPr>
              <a:r>
                <a:rPr lang="en-US" sz="2400" spc="2">
                  <a:solidFill>
                    <a:srgbClr val="000000"/>
                  </a:solidFill>
                  <a:latin typeface="Merriweather Sans Light"/>
                  <a:ea typeface="Merriweather Sans Light"/>
                  <a:cs typeface="Merriweather Sans Light"/>
                  <a:sym typeface="Merriweather Sans Light"/>
                </a:rPr>
                <a:t>Paralelamente, a pesquisa científica em bioacústica em África permanece limitada, com 74,3% dos autores </a:t>
              </a:r>
            </a:p>
            <a:p>
              <a:pPr algn="just">
                <a:lnSpc>
                  <a:spcPts val="3600"/>
                </a:lnSpc>
              </a:pPr>
              <a:r>
                <a:rPr lang="en-US" sz="2400" spc="2">
                  <a:solidFill>
                    <a:srgbClr val="000000"/>
                  </a:solidFill>
                  <a:latin typeface="Merriweather Sans Light"/>
                  <a:ea typeface="Merriweather Sans Light"/>
                  <a:cs typeface="Merriweather Sans Light"/>
                  <a:sym typeface="Merriweather Sans Light"/>
                </a:rPr>
                <a:t>sendo não-africanos, indicando uma lacuna crítica em capacidades locais de investigação. Angola está particularmente subrepresentada neste campo, apesar do seu potencial imenso.</a:t>
              </a:r>
            </a:p>
            <a:p>
              <a:pPr algn="just">
                <a:lnSpc>
                  <a:spcPts val="3600"/>
                </a:lnSpc>
              </a:pPr>
            </a:p>
            <a:p>
              <a:pPr algn="just">
                <a:lnSpc>
                  <a:spcPts val="3600"/>
                </a:lnSpc>
              </a:pPr>
              <a:r>
                <a:rPr lang="en-US" sz="2400" spc="3">
                  <a:solidFill>
                    <a:srgbClr val="000000"/>
                  </a:solidFill>
                  <a:latin typeface="Merriweather Sans Light"/>
                  <a:ea typeface="Merriweather Sans Light"/>
                  <a:cs typeface="Merriweather Sans Light"/>
                  <a:sym typeface="Merriweather Sans Light"/>
                </a:rPr>
                <a:t>Apresentamos o projecto BioLingo, uma plataforma digital inovadora que utiliza inteligência artificial para decifrar a comunicação animal, transformando sons da fauna em informações acessíveis e acionáveis. Com foco específico em Angola, o BioLingo visa contribuir para a conservação da biodiversidade, educação ambiental, investigação científica e ecoturismo, alinhando-se com os Objectivos de Desenvolvimento Sustentável (ODS) das Nações Unidas.</a:t>
              </a:r>
            </a:p>
            <a:p>
              <a:pPr algn="just">
                <a:lnSpc>
                  <a:spcPts val="3600"/>
                </a:lnSpc>
              </a:pPr>
            </a:p>
          </p:txBody>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2956" y="1591197"/>
            <a:ext cx="5929072" cy="871435"/>
            <a:chOff x="0" y="0"/>
            <a:chExt cx="8604062" cy="1264596"/>
          </a:xfrm>
        </p:grpSpPr>
        <p:sp>
          <p:nvSpPr>
            <p:cNvPr name="Freeform 3" id="3"/>
            <p:cNvSpPr/>
            <p:nvPr/>
          </p:nvSpPr>
          <p:spPr>
            <a:xfrm flipH="false" flipV="false" rot="0">
              <a:off x="12700" y="12700"/>
              <a:ext cx="8578723" cy="1239139"/>
            </a:xfrm>
            <a:custGeom>
              <a:avLst/>
              <a:gdLst/>
              <a:ahLst/>
              <a:cxnLst/>
              <a:rect r="r" b="b" t="t" l="l"/>
              <a:pathLst>
                <a:path h="1239139" w="8578723">
                  <a:moveTo>
                    <a:pt x="0" y="0"/>
                  </a:moveTo>
                  <a:lnTo>
                    <a:pt x="8578723" y="0"/>
                  </a:lnTo>
                  <a:lnTo>
                    <a:pt x="8578723" y="1239139"/>
                  </a:lnTo>
                  <a:lnTo>
                    <a:pt x="0" y="1239139"/>
                  </a:lnTo>
                  <a:close/>
                </a:path>
              </a:pathLst>
            </a:custGeom>
            <a:solidFill>
              <a:srgbClr val="FE2E45"/>
            </a:solidFill>
          </p:spPr>
        </p:sp>
      </p:grpSp>
      <p:grpSp>
        <p:nvGrpSpPr>
          <p:cNvPr name="Group 4" id="4"/>
          <p:cNvGrpSpPr/>
          <p:nvPr/>
        </p:nvGrpSpPr>
        <p:grpSpPr>
          <a:xfrm rot="0">
            <a:off x="1028700" y="1365230"/>
            <a:ext cx="11653162" cy="1323369"/>
            <a:chOff x="0" y="0"/>
            <a:chExt cx="15537550" cy="1764492"/>
          </a:xfrm>
        </p:grpSpPr>
        <p:sp>
          <p:nvSpPr>
            <p:cNvPr name="Freeform 5" id="5"/>
            <p:cNvSpPr/>
            <p:nvPr/>
          </p:nvSpPr>
          <p:spPr>
            <a:xfrm flipH="false" flipV="false" rot="0">
              <a:off x="0" y="0"/>
              <a:ext cx="15537551" cy="1764492"/>
            </a:xfrm>
            <a:custGeom>
              <a:avLst/>
              <a:gdLst/>
              <a:ahLst/>
              <a:cxnLst/>
              <a:rect r="r" b="b" t="t" l="l"/>
              <a:pathLst>
                <a:path h="1764492" w="15537551">
                  <a:moveTo>
                    <a:pt x="0" y="0"/>
                  </a:moveTo>
                  <a:lnTo>
                    <a:pt x="15537551" y="0"/>
                  </a:lnTo>
                  <a:lnTo>
                    <a:pt x="15537551" y="1764492"/>
                  </a:lnTo>
                  <a:lnTo>
                    <a:pt x="0" y="1764492"/>
                  </a:lnTo>
                  <a:close/>
                </a:path>
              </a:pathLst>
            </a:custGeom>
            <a:solidFill>
              <a:srgbClr val="000000">
                <a:alpha val="0"/>
              </a:srgbClr>
            </a:solidFill>
          </p:spPr>
        </p:sp>
        <p:sp>
          <p:nvSpPr>
            <p:cNvPr name="TextBox 6" id="6"/>
            <p:cNvSpPr txBox="true"/>
            <p:nvPr/>
          </p:nvSpPr>
          <p:spPr>
            <a:xfrm>
              <a:off x="0" y="57150"/>
              <a:ext cx="15537550" cy="1707342"/>
            </a:xfrm>
            <a:prstGeom prst="rect">
              <a:avLst/>
            </a:prstGeom>
          </p:spPr>
          <p:txBody>
            <a:bodyPr anchor="ctr" rtlCol="false" tIns="0" lIns="0" bIns="0" rIns="0"/>
            <a:lstStyle/>
            <a:p>
              <a:pPr algn="l">
                <a:lnSpc>
                  <a:spcPts val="5427"/>
                </a:lnSpc>
              </a:pPr>
              <a:r>
                <a:rPr lang="en-US" b="true" sz="5025" spc="20">
                  <a:solidFill>
                    <a:srgbClr val="2B2551"/>
                  </a:solidFill>
                  <a:latin typeface="Merriweather Sans Bold"/>
                  <a:ea typeface="Merriweather Sans Bold"/>
                  <a:cs typeface="Merriweather Sans Bold"/>
                  <a:sym typeface="Merriweather Sans Bold"/>
                </a:rPr>
                <a:t>OBJECTIVOS </a:t>
              </a:r>
            </a:p>
          </p:txBody>
        </p:sp>
      </p:grpSp>
      <p:grpSp>
        <p:nvGrpSpPr>
          <p:cNvPr name="Group 7" id="7"/>
          <p:cNvGrpSpPr>
            <a:grpSpLocks noChangeAspect="true"/>
          </p:cNvGrpSpPr>
          <p:nvPr/>
        </p:nvGrpSpPr>
        <p:grpSpPr>
          <a:xfrm rot="0">
            <a:off x="682956" y="744174"/>
            <a:ext cx="2921214" cy="248720"/>
            <a:chOff x="0" y="0"/>
            <a:chExt cx="3894952" cy="331626"/>
          </a:xfrm>
        </p:grpSpPr>
        <p:sp>
          <p:nvSpPr>
            <p:cNvPr name="Freeform 8" id="8"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9" id="9"/>
          <p:cNvGrpSpPr>
            <a:grpSpLocks noChangeAspect="true"/>
          </p:cNvGrpSpPr>
          <p:nvPr/>
        </p:nvGrpSpPr>
        <p:grpSpPr>
          <a:xfrm rot="0">
            <a:off x="15222434" y="427439"/>
            <a:ext cx="1580448" cy="780909"/>
            <a:chOff x="0" y="0"/>
            <a:chExt cx="2107264" cy="1041212"/>
          </a:xfrm>
        </p:grpSpPr>
        <p:sp>
          <p:nvSpPr>
            <p:cNvPr name="Freeform 10" id="10"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11" id="11"/>
          <p:cNvGrpSpPr>
            <a:grpSpLocks noChangeAspect="true"/>
          </p:cNvGrpSpPr>
          <p:nvPr/>
        </p:nvGrpSpPr>
        <p:grpSpPr>
          <a:xfrm rot="0">
            <a:off x="13800587" y="338836"/>
            <a:ext cx="1234639" cy="941733"/>
            <a:chOff x="0" y="0"/>
            <a:chExt cx="1646186" cy="1255644"/>
          </a:xfrm>
        </p:grpSpPr>
        <p:sp>
          <p:nvSpPr>
            <p:cNvPr name="Freeform 12" id="12"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13" id="13"/>
          <p:cNvGrpSpPr>
            <a:grpSpLocks noChangeAspect="true"/>
          </p:cNvGrpSpPr>
          <p:nvPr/>
        </p:nvGrpSpPr>
        <p:grpSpPr>
          <a:xfrm rot="0">
            <a:off x="17000025" y="270560"/>
            <a:ext cx="534549" cy="1094670"/>
            <a:chOff x="0" y="0"/>
            <a:chExt cx="712732" cy="1459560"/>
          </a:xfrm>
        </p:grpSpPr>
        <p:sp>
          <p:nvSpPr>
            <p:cNvPr name="Freeform 14" id="14"/>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5" id="15"/>
          <p:cNvGrpSpPr>
            <a:grpSpLocks noChangeAspect="true"/>
          </p:cNvGrpSpPr>
          <p:nvPr/>
        </p:nvGrpSpPr>
        <p:grpSpPr>
          <a:xfrm rot="0">
            <a:off x="12595394" y="338836"/>
            <a:ext cx="1008050" cy="864211"/>
            <a:chOff x="0" y="0"/>
            <a:chExt cx="1344066" cy="1152282"/>
          </a:xfrm>
        </p:grpSpPr>
        <p:sp>
          <p:nvSpPr>
            <p:cNvPr name="Freeform 16" id="16"/>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7" id="17"/>
          <p:cNvGrpSpPr/>
          <p:nvPr/>
        </p:nvGrpSpPr>
        <p:grpSpPr>
          <a:xfrm rot="0">
            <a:off x="-13605" y="9985086"/>
            <a:ext cx="18342351" cy="384878"/>
            <a:chOff x="0" y="0"/>
            <a:chExt cx="24456468" cy="513170"/>
          </a:xfrm>
        </p:grpSpPr>
        <p:sp>
          <p:nvSpPr>
            <p:cNvPr name="Freeform 18" id="18"/>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grpSp>
        <p:nvGrpSpPr>
          <p:cNvPr name="Group 19" id="19"/>
          <p:cNvGrpSpPr/>
          <p:nvPr/>
        </p:nvGrpSpPr>
        <p:grpSpPr>
          <a:xfrm rot="0">
            <a:off x="796730" y="3288673"/>
            <a:ext cx="16694541" cy="5575191"/>
            <a:chOff x="0" y="0"/>
            <a:chExt cx="22259388" cy="7433588"/>
          </a:xfrm>
        </p:grpSpPr>
        <p:sp>
          <p:nvSpPr>
            <p:cNvPr name="Freeform 20" id="20"/>
            <p:cNvSpPr/>
            <p:nvPr/>
          </p:nvSpPr>
          <p:spPr>
            <a:xfrm flipH="false" flipV="false" rot="0">
              <a:off x="0" y="0"/>
              <a:ext cx="22259389" cy="7433588"/>
            </a:xfrm>
            <a:custGeom>
              <a:avLst/>
              <a:gdLst/>
              <a:ahLst/>
              <a:cxnLst/>
              <a:rect r="r" b="b" t="t" l="l"/>
              <a:pathLst>
                <a:path h="7433588" w="22259389">
                  <a:moveTo>
                    <a:pt x="0" y="0"/>
                  </a:moveTo>
                  <a:lnTo>
                    <a:pt x="22259389" y="0"/>
                  </a:lnTo>
                  <a:lnTo>
                    <a:pt x="22259389" y="7433588"/>
                  </a:lnTo>
                  <a:lnTo>
                    <a:pt x="0" y="7433588"/>
                  </a:lnTo>
                  <a:close/>
                </a:path>
              </a:pathLst>
            </a:custGeom>
            <a:solidFill>
              <a:srgbClr val="000000">
                <a:alpha val="0"/>
              </a:srgbClr>
            </a:solidFill>
          </p:spPr>
        </p:sp>
        <p:sp>
          <p:nvSpPr>
            <p:cNvPr name="TextBox 21" id="21"/>
            <p:cNvSpPr txBox="true"/>
            <p:nvPr/>
          </p:nvSpPr>
          <p:spPr>
            <a:xfrm>
              <a:off x="0" y="-76200"/>
              <a:ext cx="22259388" cy="7509788"/>
            </a:xfrm>
            <a:prstGeom prst="rect">
              <a:avLst/>
            </a:prstGeom>
          </p:spPr>
          <p:txBody>
            <a:bodyPr anchor="ctr" rtlCol="false" tIns="0" lIns="0" bIns="0" rIns="0"/>
            <a:lstStyle/>
            <a:p>
              <a:pPr algn="just">
                <a:lnSpc>
                  <a:spcPts val="3600"/>
                </a:lnSpc>
              </a:pPr>
              <a:r>
                <a:rPr lang="en-US" b="true" sz="2400" spc="3">
                  <a:solidFill>
                    <a:srgbClr val="4617DE"/>
                  </a:solidFill>
                  <a:latin typeface="Merriweather Sans Bold"/>
                  <a:ea typeface="Merriweather Sans Bold"/>
                  <a:cs typeface="Merriweather Sans Bold"/>
                  <a:sym typeface="Merriweather Sans Bold"/>
                </a:rPr>
                <a:t>OBJETIVOSOS</a:t>
              </a:r>
              <a:r>
                <a:rPr lang="en-US" sz="2400" spc="3">
                  <a:solidFill>
                    <a:srgbClr val="000000"/>
                  </a:solidFill>
                  <a:latin typeface="Merriweather Sans"/>
                  <a:ea typeface="Merriweather Sans"/>
                  <a:cs typeface="Merriweather Sans"/>
                  <a:sym typeface="Merriweather Sans"/>
                </a:rPr>
                <a:t> </a:t>
              </a:r>
              <a:r>
                <a:rPr lang="en-US" b="true" sz="2400" spc="3">
                  <a:solidFill>
                    <a:srgbClr val="4617DE"/>
                  </a:solidFill>
                  <a:latin typeface="Merriweather Sans Bold"/>
                  <a:ea typeface="Merriweather Sans Bold"/>
                  <a:cs typeface="Merriweather Sans Bold"/>
                  <a:sym typeface="Merriweather Sans Bold"/>
                </a:rPr>
                <a:t>GERAIS</a:t>
              </a:r>
              <a:r>
                <a:rPr lang="en-US" sz="2400" spc="3">
                  <a:solidFill>
                    <a:srgbClr val="000000"/>
                  </a:solidFill>
                  <a:latin typeface="Merriweather Sans"/>
                  <a:ea typeface="Merriweather Sans"/>
                  <a:cs typeface="Merriweather Sans"/>
                  <a:sym typeface="Merriweather Sans"/>
                </a:rPr>
                <a:t>:</a:t>
              </a:r>
            </a:p>
            <a:p>
              <a:pPr algn="just">
                <a:lnSpc>
                  <a:spcPts val="3600"/>
                </a:lnSpc>
              </a:pPr>
              <a:r>
                <a:rPr lang="en-US" sz="2400" spc="3">
                  <a:solidFill>
                    <a:srgbClr val="000000"/>
                  </a:solidFill>
                  <a:latin typeface="Merriweather Sans"/>
                  <a:ea typeface="Merriweather Sans"/>
                  <a:cs typeface="Merriweather Sans"/>
                  <a:sym typeface="Merriweather Sans"/>
                </a:rPr>
                <a:t>• Criar uma base de dados bioacústica abrangente da fauna angolana.</a:t>
              </a:r>
            </a:p>
            <a:p>
              <a:pPr algn="just">
                <a:lnSpc>
                  <a:spcPts val="3600"/>
                </a:lnSpc>
              </a:pPr>
              <a:r>
                <a:rPr lang="en-US" sz="2400" spc="3">
                  <a:solidFill>
                    <a:srgbClr val="000000"/>
                  </a:solidFill>
                  <a:latin typeface="Merriweather Sans"/>
                  <a:ea typeface="Merriweather Sans"/>
                  <a:cs typeface="Merriweather Sans"/>
                  <a:sym typeface="Merriweather Sans"/>
                </a:rPr>
                <a:t>• Desenvolver modelos de IA capazes de identificar espécies e interpretar vocalizações com alta </a:t>
              </a:r>
            </a:p>
            <a:p>
              <a:pPr algn="just">
                <a:lnSpc>
                  <a:spcPts val="3600"/>
                </a:lnSpc>
              </a:pPr>
              <a:r>
                <a:rPr lang="en-US" sz="2400" spc="3">
                  <a:solidFill>
                    <a:srgbClr val="000000"/>
                  </a:solidFill>
                  <a:latin typeface="Merriweather Sans"/>
                  <a:ea typeface="Merriweather Sans"/>
                  <a:cs typeface="Merriweather Sans"/>
                  <a:sym typeface="Merriweather Sans"/>
                </a:rPr>
                <a:t>precisão.</a:t>
              </a:r>
            </a:p>
            <a:p>
              <a:pPr algn="just">
                <a:lnSpc>
                  <a:spcPts val="3600"/>
                </a:lnSpc>
              </a:pPr>
              <a:r>
                <a:rPr lang="en-US" sz="2400" spc="3">
                  <a:solidFill>
                    <a:srgbClr val="000000"/>
                  </a:solidFill>
                  <a:latin typeface="Merriweather Sans"/>
                  <a:ea typeface="Merriweather Sans"/>
                  <a:cs typeface="Merriweather Sans"/>
                  <a:sym typeface="Merriweather Sans"/>
                </a:rPr>
                <a:t>• Promover a educação ambiental e a ciência cidadã em Angola.</a:t>
              </a:r>
            </a:p>
            <a:p>
              <a:pPr algn="just">
                <a:lnSpc>
                  <a:spcPts val="3600"/>
                </a:lnSpc>
              </a:pPr>
              <a:r>
                <a:rPr lang="en-US" sz="2400" spc="3">
                  <a:solidFill>
                    <a:srgbClr val="000000"/>
                  </a:solidFill>
                  <a:latin typeface="Merriweather Sans"/>
                  <a:ea typeface="Merriweather Sans"/>
                  <a:cs typeface="Merriweather Sans"/>
                  <a:sym typeface="Merriweather Sans"/>
                </a:rPr>
                <a:t>• Fornecer ferramentas de monitoramento para a conservação de espécies ameaçadas.</a:t>
              </a:r>
            </a:p>
            <a:p>
              <a:pPr algn="just">
                <a:lnSpc>
                  <a:spcPts val="3600"/>
                </a:lnSpc>
              </a:pPr>
            </a:p>
            <a:p>
              <a:pPr algn="just">
                <a:lnSpc>
                  <a:spcPts val="3600"/>
                </a:lnSpc>
              </a:pPr>
              <a:r>
                <a:rPr lang="en-US" b="true" sz="2400" spc="3">
                  <a:solidFill>
                    <a:srgbClr val="4617DE"/>
                  </a:solidFill>
                  <a:latin typeface="Merriweather Sans Bold"/>
                  <a:ea typeface="Merriweather Sans Bold"/>
                  <a:cs typeface="Merriweather Sans Bold"/>
                  <a:sym typeface="Merriweather Sans Bold"/>
                </a:rPr>
                <a:t>OBJECTIVOS</a:t>
              </a:r>
              <a:r>
                <a:rPr lang="en-US" sz="2400" spc="3">
                  <a:solidFill>
                    <a:srgbClr val="000000"/>
                  </a:solidFill>
                  <a:latin typeface="Merriweather Sans"/>
                  <a:ea typeface="Merriweather Sans"/>
                  <a:cs typeface="Merriweather Sans"/>
                  <a:sym typeface="Merriweather Sans"/>
                </a:rPr>
                <a:t> </a:t>
              </a:r>
              <a:r>
                <a:rPr lang="en-US" b="true" sz="2400" spc="3">
                  <a:solidFill>
                    <a:srgbClr val="4617DE"/>
                  </a:solidFill>
                  <a:latin typeface="Merriweather Sans Bold"/>
                  <a:ea typeface="Merriweather Sans Bold"/>
                  <a:cs typeface="Merriweather Sans Bold"/>
                  <a:sym typeface="Merriweather Sans Bold"/>
                </a:rPr>
                <a:t>ESPECÍFICOS</a:t>
              </a:r>
              <a:r>
                <a:rPr lang="en-US" sz="2400" spc="3">
                  <a:solidFill>
                    <a:srgbClr val="000000"/>
                  </a:solidFill>
                  <a:latin typeface="Merriweather Sans"/>
                  <a:ea typeface="Merriweather Sans"/>
                  <a:cs typeface="Merriweather Sans"/>
                  <a:sym typeface="Merriweather Sans"/>
                </a:rPr>
                <a:t>:</a:t>
              </a:r>
            </a:p>
            <a:p>
              <a:pPr algn="just">
                <a:lnSpc>
                  <a:spcPts val="3600"/>
                </a:lnSpc>
              </a:pPr>
              <a:r>
                <a:rPr lang="en-US" sz="2400" spc="3">
                  <a:solidFill>
                    <a:srgbClr val="000000"/>
                  </a:solidFill>
                  <a:latin typeface="Merriweather Sans"/>
                  <a:ea typeface="Merriweather Sans"/>
                  <a:cs typeface="Merriweather Sans"/>
                  <a:sym typeface="Merriweather Sans"/>
                </a:rPr>
                <a:t>• Lançar um MVP focado em aves de Angola até março de 2026.</a:t>
              </a:r>
            </a:p>
            <a:p>
              <a:pPr algn="just">
                <a:lnSpc>
                  <a:spcPts val="3600"/>
                </a:lnSpc>
              </a:pPr>
              <a:r>
                <a:rPr lang="en-US" sz="2400" spc="3">
                  <a:solidFill>
                    <a:srgbClr val="000000"/>
                  </a:solidFill>
                  <a:latin typeface="Merriweather Sans"/>
                  <a:ea typeface="Merriweather Sans"/>
                  <a:cs typeface="Merriweather Sans"/>
                  <a:sym typeface="Merriweather Sans"/>
                </a:rPr>
                <a:t>• Expandir para mamíferos emblemáticos (elefantes, primatas, palancas) até setembro de 2026.</a:t>
              </a:r>
            </a:p>
            <a:p>
              <a:pPr algn="just">
                <a:lnSpc>
                  <a:spcPts val="3600"/>
                </a:lnSpc>
              </a:pPr>
              <a:r>
                <a:rPr lang="en-US" sz="2400" spc="3">
                  <a:solidFill>
                    <a:srgbClr val="000000"/>
                  </a:solidFill>
                  <a:latin typeface="Merriweather Sans"/>
                  <a:ea typeface="Merriweather Sans"/>
                  <a:cs typeface="Merriweather Sans"/>
                  <a:sym typeface="Merriweather Sans"/>
                </a:rPr>
                <a:t>• Implementar uma rede de sensores bioacústicos em parques nacionais até setembro de 2027.</a:t>
              </a:r>
            </a:p>
            <a:p>
              <a:pPr algn="just">
                <a:lnSpc>
                  <a:spcPts val="3600"/>
                </a:lnSpc>
              </a:pPr>
              <a:r>
                <a:rPr lang="en-US" sz="2400" spc="3">
                  <a:solidFill>
                    <a:srgbClr val="000000"/>
                  </a:solidFill>
                  <a:latin typeface="Merriweather Sans"/>
                  <a:ea typeface="Merriweather Sans"/>
                  <a:cs typeface="Merriweather Sans"/>
                  <a:sym typeface="Merriweather Sans"/>
                </a:rPr>
                <a:t>• Estabelecer parcerias com o Ministério do Ambiente, universidades angolanas e ONGs</a:t>
              </a:r>
            </a:p>
          </p:txBody>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2956" y="1365229"/>
            <a:ext cx="7466507" cy="1097402"/>
            <a:chOff x="0" y="0"/>
            <a:chExt cx="8604062" cy="1264596"/>
          </a:xfrm>
        </p:grpSpPr>
        <p:sp>
          <p:nvSpPr>
            <p:cNvPr name="Freeform 3" id="3"/>
            <p:cNvSpPr/>
            <p:nvPr/>
          </p:nvSpPr>
          <p:spPr>
            <a:xfrm flipH="false" flipV="false" rot="0">
              <a:off x="12700" y="12700"/>
              <a:ext cx="8578723" cy="1239139"/>
            </a:xfrm>
            <a:custGeom>
              <a:avLst/>
              <a:gdLst/>
              <a:ahLst/>
              <a:cxnLst/>
              <a:rect r="r" b="b" t="t" l="l"/>
              <a:pathLst>
                <a:path h="1239139" w="8578723">
                  <a:moveTo>
                    <a:pt x="0" y="0"/>
                  </a:moveTo>
                  <a:lnTo>
                    <a:pt x="8578723" y="0"/>
                  </a:lnTo>
                  <a:lnTo>
                    <a:pt x="8578723" y="1239139"/>
                  </a:lnTo>
                  <a:lnTo>
                    <a:pt x="0" y="1239139"/>
                  </a:lnTo>
                  <a:close/>
                </a:path>
              </a:pathLst>
            </a:custGeom>
            <a:solidFill>
              <a:srgbClr val="FE2E45"/>
            </a:solidFill>
          </p:spPr>
        </p:sp>
      </p:grpSp>
      <p:grpSp>
        <p:nvGrpSpPr>
          <p:cNvPr name="Group 4" id="4"/>
          <p:cNvGrpSpPr/>
          <p:nvPr/>
        </p:nvGrpSpPr>
        <p:grpSpPr>
          <a:xfrm rot="0">
            <a:off x="682956" y="1252246"/>
            <a:ext cx="11653162" cy="1323369"/>
            <a:chOff x="0" y="0"/>
            <a:chExt cx="15537550" cy="1764492"/>
          </a:xfrm>
        </p:grpSpPr>
        <p:sp>
          <p:nvSpPr>
            <p:cNvPr name="Freeform 5" id="5"/>
            <p:cNvSpPr/>
            <p:nvPr/>
          </p:nvSpPr>
          <p:spPr>
            <a:xfrm flipH="false" flipV="false" rot="0">
              <a:off x="0" y="0"/>
              <a:ext cx="15537551" cy="1764492"/>
            </a:xfrm>
            <a:custGeom>
              <a:avLst/>
              <a:gdLst/>
              <a:ahLst/>
              <a:cxnLst/>
              <a:rect r="r" b="b" t="t" l="l"/>
              <a:pathLst>
                <a:path h="1764492" w="15537551">
                  <a:moveTo>
                    <a:pt x="0" y="0"/>
                  </a:moveTo>
                  <a:lnTo>
                    <a:pt x="15537551" y="0"/>
                  </a:lnTo>
                  <a:lnTo>
                    <a:pt x="15537551" y="1764492"/>
                  </a:lnTo>
                  <a:lnTo>
                    <a:pt x="0" y="1764492"/>
                  </a:lnTo>
                  <a:close/>
                </a:path>
              </a:pathLst>
            </a:custGeom>
            <a:solidFill>
              <a:srgbClr val="000000">
                <a:alpha val="0"/>
              </a:srgbClr>
            </a:solidFill>
          </p:spPr>
        </p:sp>
        <p:sp>
          <p:nvSpPr>
            <p:cNvPr name="TextBox 6" id="6"/>
            <p:cNvSpPr txBox="true"/>
            <p:nvPr/>
          </p:nvSpPr>
          <p:spPr>
            <a:xfrm>
              <a:off x="0" y="57150"/>
              <a:ext cx="15537550" cy="1707342"/>
            </a:xfrm>
            <a:prstGeom prst="rect">
              <a:avLst/>
            </a:prstGeom>
          </p:spPr>
          <p:txBody>
            <a:bodyPr anchor="ctr" rtlCol="false" tIns="0" lIns="0" bIns="0" rIns="0"/>
            <a:lstStyle/>
            <a:p>
              <a:pPr algn="l">
                <a:lnSpc>
                  <a:spcPts val="5427"/>
                </a:lnSpc>
              </a:pPr>
              <a:r>
                <a:rPr lang="en-US" b="true" sz="5025" spc="20">
                  <a:solidFill>
                    <a:srgbClr val="2B2551"/>
                  </a:solidFill>
                  <a:latin typeface="Merriweather Sans Bold"/>
                  <a:ea typeface="Merriweather Sans Bold"/>
                  <a:cs typeface="Merriweather Sans Bold"/>
                  <a:sym typeface="Merriweather Sans Bold"/>
                </a:rPr>
                <a:t>RELAÇÃO COM AS ODS</a:t>
              </a:r>
            </a:p>
          </p:txBody>
        </p:sp>
      </p:grpSp>
      <p:grpSp>
        <p:nvGrpSpPr>
          <p:cNvPr name="Group 7" id="7"/>
          <p:cNvGrpSpPr>
            <a:grpSpLocks noChangeAspect="true"/>
          </p:cNvGrpSpPr>
          <p:nvPr/>
        </p:nvGrpSpPr>
        <p:grpSpPr>
          <a:xfrm rot="0">
            <a:off x="682956" y="744174"/>
            <a:ext cx="2921214" cy="248720"/>
            <a:chOff x="0" y="0"/>
            <a:chExt cx="3894952" cy="331626"/>
          </a:xfrm>
        </p:grpSpPr>
        <p:sp>
          <p:nvSpPr>
            <p:cNvPr name="Freeform 8" id="8"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9" id="9"/>
          <p:cNvGrpSpPr>
            <a:grpSpLocks noChangeAspect="true"/>
          </p:cNvGrpSpPr>
          <p:nvPr/>
        </p:nvGrpSpPr>
        <p:grpSpPr>
          <a:xfrm rot="0">
            <a:off x="15222434" y="427439"/>
            <a:ext cx="1580448" cy="780909"/>
            <a:chOff x="0" y="0"/>
            <a:chExt cx="2107264" cy="1041212"/>
          </a:xfrm>
        </p:grpSpPr>
        <p:sp>
          <p:nvSpPr>
            <p:cNvPr name="Freeform 10" id="10"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11" id="11"/>
          <p:cNvGrpSpPr>
            <a:grpSpLocks noChangeAspect="true"/>
          </p:cNvGrpSpPr>
          <p:nvPr/>
        </p:nvGrpSpPr>
        <p:grpSpPr>
          <a:xfrm rot="0">
            <a:off x="13800587" y="338836"/>
            <a:ext cx="1234639" cy="941733"/>
            <a:chOff x="0" y="0"/>
            <a:chExt cx="1646186" cy="1255644"/>
          </a:xfrm>
        </p:grpSpPr>
        <p:sp>
          <p:nvSpPr>
            <p:cNvPr name="Freeform 12" id="12"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13" id="13"/>
          <p:cNvGrpSpPr>
            <a:grpSpLocks noChangeAspect="true"/>
          </p:cNvGrpSpPr>
          <p:nvPr/>
        </p:nvGrpSpPr>
        <p:grpSpPr>
          <a:xfrm rot="0">
            <a:off x="17000025" y="270560"/>
            <a:ext cx="534549" cy="1094670"/>
            <a:chOff x="0" y="0"/>
            <a:chExt cx="712732" cy="1459560"/>
          </a:xfrm>
        </p:grpSpPr>
        <p:sp>
          <p:nvSpPr>
            <p:cNvPr name="Freeform 14" id="14"/>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5" id="15"/>
          <p:cNvGrpSpPr>
            <a:grpSpLocks noChangeAspect="true"/>
          </p:cNvGrpSpPr>
          <p:nvPr/>
        </p:nvGrpSpPr>
        <p:grpSpPr>
          <a:xfrm rot="0">
            <a:off x="12595394" y="338836"/>
            <a:ext cx="1008050" cy="864211"/>
            <a:chOff x="0" y="0"/>
            <a:chExt cx="1344066" cy="1152282"/>
          </a:xfrm>
        </p:grpSpPr>
        <p:sp>
          <p:nvSpPr>
            <p:cNvPr name="Freeform 16" id="16"/>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7" id="17"/>
          <p:cNvGrpSpPr/>
          <p:nvPr/>
        </p:nvGrpSpPr>
        <p:grpSpPr>
          <a:xfrm rot="0">
            <a:off x="-13605" y="9985086"/>
            <a:ext cx="18342351" cy="384878"/>
            <a:chOff x="0" y="0"/>
            <a:chExt cx="24456468" cy="513170"/>
          </a:xfrm>
        </p:grpSpPr>
        <p:sp>
          <p:nvSpPr>
            <p:cNvPr name="Freeform 18" id="18"/>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TextBox 19" id="19"/>
          <p:cNvSpPr txBox="true"/>
          <p:nvPr/>
        </p:nvSpPr>
        <p:spPr>
          <a:xfrm rot="0">
            <a:off x="1171535" y="3506670"/>
            <a:ext cx="15944931" cy="5471160"/>
          </a:xfrm>
          <a:prstGeom prst="rect">
            <a:avLst/>
          </a:prstGeom>
        </p:spPr>
        <p:txBody>
          <a:bodyPr anchor="t" rtlCol="false" tIns="0" lIns="0" bIns="0" rIns="0">
            <a:spAutoFit/>
          </a:bodyPr>
          <a:lstStyle/>
          <a:p>
            <a:pPr algn="l">
              <a:lnSpc>
                <a:spcPts val="3600"/>
              </a:lnSpc>
            </a:pPr>
            <a:r>
              <a:rPr lang="en-US" sz="2400" spc="3" b="true">
                <a:solidFill>
                  <a:srgbClr val="4617DE"/>
                </a:solidFill>
                <a:latin typeface="Merriweather Sans Bold"/>
                <a:ea typeface="Merriweather Sans Bold"/>
                <a:cs typeface="Merriweather Sans Bold"/>
                <a:sym typeface="Merriweather Sans Bold"/>
              </a:rPr>
              <a:t>ODS 9 - INDÚSTRIA , INOVAÇÃO INFRA-ESTRUTURA</a:t>
            </a:r>
          </a:p>
          <a:p>
            <a:pPr algn="l">
              <a:lnSpc>
                <a:spcPts val="3600"/>
              </a:lnSpc>
            </a:pPr>
            <a:r>
              <a:rPr lang="en-US" sz="2400" spc="3">
                <a:solidFill>
                  <a:srgbClr val="000000"/>
                </a:solidFill>
                <a:latin typeface="Merriweather Sans"/>
                <a:ea typeface="Merriweather Sans"/>
                <a:cs typeface="Merriweather Sans"/>
                <a:sym typeface="Merriweather Sans"/>
              </a:rPr>
              <a:t>Uso de IA, big data e bioacústica para uma solução tecnológica inovadora, com API aberta e parcerias de pesquisa com universidades angolanas e centros de investigação.</a:t>
            </a:r>
          </a:p>
          <a:p>
            <a:pPr algn="l">
              <a:lnSpc>
                <a:spcPts val="3600"/>
              </a:lnSpc>
            </a:pPr>
          </a:p>
          <a:p>
            <a:pPr algn="l">
              <a:lnSpc>
                <a:spcPts val="3600"/>
              </a:lnSpc>
            </a:pPr>
            <a:r>
              <a:rPr lang="en-US" sz="2400" spc="3" b="true">
                <a:solidFill>
                  <a:srgbClr val="4617DE"/>
                </a:solidFill>
                <a:latin typeface="Merriweather Sans Bold"/>
                <a:ea typeface="Merriweather Sans Bold"/>
                <a:cs typeface="Merriweather Sans Bold"/>
                <a:sym typeface="Merriweather Sans Bold"/>
              </a:rPr>
              <a:t>ODS 11 - CIDADES E COMUNIDADES SUSTENTÁVEIS </a:t>
            </a:r>
          </a:p>
          <a:p>
            <a:pPr algn="l">
              <a:lnSpc>
                <a:spcPts val="3600"/>
              </a:lnSpc>
            </a:pPr>
            <a:r>
              <a:rPr lang="en-US" sz="2400" spc="3">
                <a:solidFill>
                  <a:srgbClr val="000000"/>
                </a:solidFill>
                <a:latin typeface="Merriweather Sans"/>
                <a:ea typeface="Merriweather Sans"/>
                <a:cs typeface="Merriweather Sans"/>
                <a:sym typeface="Merriweather Sans"/>
              </a:rPr>
              <a:t>Monitoramento</a:t>
            </a:r>
            <a:r>
              <a:rPr lang="en-US" sz="2400" spc="3">
                <a:solidFill>
                  <a:srgbClr val="4617DE"/>
                </a:solidFill>
                <a:latin typeface="Merriweather Sans"/>
                <a:ea typeface="Merriweather Sans"/>
                <a:cs typeface="Merriweather Sans"/>
                <a:sym typeface="Merriweather Sans"/>
              </a:rPr>
              <a:t> </a:t>
            </a:r>
            <a:r>
              <a:rPr lang="en-US" sz="2400" spc="3">
                <a:solidFill>
                  <a:srgbClr val="000000"/>
                </a:solidFill>
                <a:latin typeface="Merriweather Sans"/>
                <a:ea typeface="Merriweather Sans"/>
                <a:cs typeface="Merriweather Sans"/>
                <a:sym typeface="Merriweather Sans"/>
              </a:rPr>
              <a:t>ambientalem áreas urbanas (parques, zonas verdes) e rurais, engajando as comunidadesangolanas no registo de sons ena proteção do ambiente.</a:t>
            </a:r>
          </a:p>
          <a:p>
            <a:pPr algn="l">
              <a:lnSpc>
                <a:spcPts val="3600"/>
              </a:lnSpc>
            </a:pPr>
          </a:p>
          <a:p>
            <a:pPr algn="l">
              <a:lnSpc>
                <a:spcPts val="3600"/>
              </a:lnSpc>
            </a:pPr>
            <a:r>
              <a:rPr lang="en-US" sz="2400" spc="3" b="true">
                <a:solidFill>
                  <a:srgbClr val="4617DE"/>
                </a:solidFill>
                <a:latin typeface="Merriweather Sans Bold"/>
                <a:ea typeface="Merriweather Sans Bold"/>
                <a:cs typeface="Merriweather Sans Bold"/>
                <a:sym typeface="Merriweather Sans Bold"/>
              </a:rPr>
              <a:t>ODS 13 - AÇÃO CONTRA</a:t>
            </a:r>
            <a:r>
              <a:rPr lang="en-US" sz="2400" spc="3">
                <a:solidFill>
                  <a:srgbClr val="4617DE"/>
                </a:solidFill>
                <a:latin typeface="Merriweather Sans"/>
                <a:ea typeface="Merriweather Sans"/>
                <a:cs typeface="Merriweather Sans"/>
                <a:sym typeface="Merriweather Sans"/>
              </a:rPr>
              <a:t> </a:t>
            </a:r>
            <a:r>
              <a:rPr lang="en-US" sz="2400" spc="3" b="true">
                <a:solidFill>
                  <a:srgbClr val="4617DE"/>
                </a:solidFill>
                <a:latin typeface="Merriweather Sans Bold"/>
                <a:ea typeface="Merriweather Sans Bold"/>
                <a:cs typeface="Merriweather Sans Bold"/>
                <a:sym typeface="Merriweather Sans Bold"/>
              </a:rPr>
              <a:t>A</a:t>
            </a:r>
            <a:r>
              <a:rPr lang="en-US" sz="2400" spc="3">
                <a:solidFill>
                  <a:srgbClr val="4617DE"/>
                </a:solidFill>
                <a:latin typeface="Merriweather Sans"/>
                <a:ea typeface="Merriweather Sans"/>
                <a:cs typeface="Merriweather Sans"/>
                <a:sym typeface="Merriweather Sans"/>
              </a:rPr>
              <a:t> </a:t>
            </a:r>
            <a:r>
              <a:rPr lang="en-US" sz="2400" spc="3" b="true">
                <a:solidFill>
                  <a:srgbClr val="4617DE"/>
                </a:solidFill>
                <a:latin typeface="Merriweather Sans Bold"/>
                <a:ea typeface="Merriweather Sans Bold"/>
                <a:cs typeface="Merriweather Sans Bold"/>
                <a:sym typeface="Merriweather Sans Bold"/>
              </a:rPr>
              <a:t>MUDANÇA GLOBAL DO</a:t>
            </a:r>
            <a:r>
              <a:rPr lang="en-US" sz="2400" spc="3">
                <a:solidFill>
                  <a:srgbClr val="000000"/>
                </a:solidFill>
                <a:latin typeface="Merriweather Sans"/>
                <a:ea typeface="Merriweather Sans"/>
                <a:cs typeface="Merriweather Sans"/>
                <a:sym typeface="Merriweather Sans"/>
              </a:rPr>
              <a:t> </a:t>
            </a:r>
            <a:r>
              <a:rPr lang="en-US" sz="2400" spc="3" b="true">
                <a:solidFill>
                  <a:srgbClr val="4617DE"/>
                </a:solidFill>
                <a:latin typeface="Merriweather Sans Bold"/>
                <a:ea typeface="Merriweather Sans Bold"/>
                <a:cs typeface="Merriweather Sans Bold"/>
                <a:sym typeface="Merriweather Sans Bold"/>
              </a:rPr>
              <a:t>CLIMA</a:t>
            </a:r>
          </a:p>
          <a:p>
            <a:pPr algn="l">
              <a:lnSpc>
                <a:spcPts val="3600"/>
              </a:lnSpc>
            </a:pPr>
            <a:r>
              <a:rPr lang="en-US" sz="2400" spc="3">
                <a:solidFill>
                  <a:srgbClr val="000000"/>
                </a:solidFill>
                <a:latin typeface="Merriweather Sans"/>
                <a:ea typeface="Merriweather Sans"/>
                <a:cs typeface="Merriweather Sans"/>
                <a:sym typeface="Merriweather Sans"/>
              </a:rPr>
              <a:t>Ajuda a entender o impacto das mudanças climáticas na biodiversidade angolana através do monitoramento acústico, apoiando políticaspúblicas de adaptação.</a:t>
            </a:r>
          </a:p>
          <a:p>
            <a:pPr algn="l">
              <a:lnSpc>
                <a:spcPts val="3600"/>
              </a:lnSpc>
            </a:pP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2956" y="1365229"/>
            <a:ext cx="7466507" cy="1097402"/>
            <a:chOff x="0" y="0"/>
            <a:chExt cx="8604062" cy="1264596"/>
          </a:xfrm>
        </p:grpSpPr>
        <p:sp>
          <p:nvSpPr>
            <p:cNvPr name="Freeform 3" id="3"/>
            <p:cNvSpPr/>
            <p:nvPr/>
          </p:nvSpPr>
          <p:spPr>
            <a:xfrm flipH="false" flipV="false" rot="0">
              <a:off x="12700" y="12700"/>
              <a:ext cx="8578723" cy="1239139"/>
            </a:xfrm>
            <a:custGeom>
              <a:avLst/>
              <a:gdLst/>
              <a:ahLst/>
              <a:cxnLst/>
              <a:rect r="r" b="b" t="t" l="l"/>
              <a:pathLst>
                <a:path h="1239139" w="8578723">
                  <a:moveTo>
                    <a:pt x="0" y="0"/>
                  </a:moveTo>
                  <a:lnTo>
                    <a:pt x="8578723" y="0"/>
                  </a:lnTo>
                  <a:lnTo>
                    <a:pt x="8578723" y="1239139"/>
                  </a:lnTo>
                  <a:lnTo>
                    <a:pt x="0" y="1239139"/>
                  </a:lnTo>
                  <a:close/>
                </a:path>
              </a:pathLst>
            </a:custGeom>
            <a:solidFill>
              <a:srgbClr val="FE2E45"/>
            </a:solidFill>
          </p:spPr>
        </p:sp>
      </p:grpSp>
      <p:grpSp>
        <p:nvGrpSpPr>
          <p:cNvPr name="Group 4" id="4"/>
          <p:cNvGrpSpPr/>
          <p:nvPr/>
        </p:nvGrpSpPr>
        <p:grpSpPr>
          <a:xfrm rot="0">
            <a:off x="682956" y="1252246"/>
            <a:ext cx="11653162" cy="1323369"/>
            <a:chOff x="0" y="0"/>
            <a:chExt cx="15537550" cy="1764492"/>
          </a:xfrm>
        </p:grpSpPr>
        <p:sp>
          <p:nvSpPr>
            <p:cNvPr name="Freeform 5" id="5"/>
            <p:cNvSpPr/>
            <p:nvPr/>
          </p:nvSpPr>
          <p:spPr>
            <a:xfrm flipH="false" flipV="false" rot="0">
              <a:off x="0" y="0"/>
              <a:ext cx="15537551" cy="1764492"/>
            </a:xfrm>
            <a:custGeom>
              <a:avLst/>
              <a:gdLst/>
              <a:ahLst/>
              <a:cxnLst/>
              <a:rect r="r" b="b" t="t" l="l"/>
              <a:pathLst>
                <a:path h="1764492" w="15537551">
                  <a:moveTo>
                    <a:pt x="0" y="0"/>
                  </a:moveTo>
                  <a:lnTo>
                    <a:pt x="15537551" y="0"/>
                  </a:lnTo>
                  <a:lnTo>
                    <a:pt x="15537551" y="1764492"/>
                  </a:lnTo>
                  <a:lnTo>
                    <a:pt x="0" y="1764492"/>
                  </a:lnTo>
                  <a:close/>
                </a:path>
              </a:pathLst>
            </a:custGeom>
            <a:solidFill>
              <a:srgbClr val="000000">
                <a:alpha val="0"/>
              </a:srgbClr>
            </a:solidFill>
          </p:spPr>
        </p:sp>
        <p:sp>
          <p:nvSpPr>
            <p:cNvPr name="TextBox 6" id="6"/>
            <p:cNvSpPr txBox="true"/>
            <p:nvPr/>
          </p:nvSpPr>
          <p:spPr>
            <a:xfrm>
              <a:off x="0" y="57150"/>
              <a:ext cx="15537550" cy="1707342"/>
            </a:xfrm>
            <a:prstGeom prst="rect">
              <a:avLst/>
            </a:prstGeom>
          </p:spPr>
          <p:txBody>
            <a:bodyPr anchor="ctr" rtlCol="false" tIns="0" lIns="0" bIns="0" rIns="0"/>
            <a:lstStyle/>
            <a:p>
              <a:pPr algn="l">
                <a:lnSpc>
                  <a:spcPts val="5427"/>
                </a:lnSpc>
              </a:pPr>
              <a:r>
                <a:rPr lang="en-US" b="true" sz="5025" spc="20">
                  <a:solidFill>
                    <a:srgbClr val="2B2551"/>
                  </a:solidFill>
                  <a:latin typeface="Merriweather Sans Bold"/>
                  <a:ea typeface="Merriweather Sans Bold"/>
                  <a:cs typeface="Merriweather Sans Bold"/>
                  <a:sym typeface="Merriweather Sans Bold"/>
                </a:rPr>
                <a:t>RELAÇÃO COM AS ODS</a:t>
              </a:r>
            </a:p>
          </p:txBody>
        </p:sp>
      </p:grpSp>
      <p:grpSp>
        <p:nvGrpSpPr>
          <p:cNvPr name="Group 7" id="7"/>
          <p:cNvGrpSpPr>
            <a:grpSpLocks noChangeAspect="true"/>
          </p:cNvGrpSpPr>
          <p:nvPr/>
        </p:nvGrpSpPr>
        <p:grpSpPr>
          <a:xfrm rot="0">
            <a:off x="682956" y="744174"/>
            <a:ext cx="2921214" cy="248720"/>
            <a:chOff x="0" y="0"/>
            <a:chExt cx="3894952" cy="331626"/>
          </a:xfrm>
        </p:grpSpPr>
        <p:sp>
          <p:nvSpPr>
            <p:cNvPr name="Freeform 8" id="8"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9" id="9"/>
          <p:cNvGrpSpPr>
            <a:grpSpLocks noChangeAspect="true"/>
          </p:cNvGrpSpPr>
          <p:nvPr/>
        </p:nvGrpSpPr>
        <p:grpSpPr>
          <a:xfrm rot="0">
            <a:off x="15222434" y="427439"/>
            <a:ext cx="1580448" cy="780909"/>
            <a:chOff x="0" y="0"/>
            <a:chExt cx="2107264" cy="1041212"/>
          </a:xfrm>
        </p:grpSpPr>
        <p:sp>
          <p:nvSpPr>
            <p:cNvPr name="Freeform 10" id="10"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11" id="11"/>
          <p:cNvGrpSpPr>
            <a:grpSpLocks noChangeAspect="true"/>
          </p:cNvGrpSpPr>
          <p:nvPr/>
        </p:nvGrpSpPr>
        <p:grpSpPr>
          <a:xfrm rot="0">
            <a:off x="13800587" y="338836"/>
            <a:ext cx="1234639" cy="941733"/>
            <a:chOff x="0" y="0"/>
            <a:chExt cx="1646186" cy="1255644"/>
          </a:xfrm>
        </p:grpSpPr>
        <p:sp>
          <p:nvSpPr>
            <p:cNvPr name="Freeform 12" id="12"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13" id="13"/>
          <p:cNvGrpSpPr>
            <a:grpSpLocks noChangeAspect="true"/>
          </p:cNvGrpSpPr>
          <p:nvPr/>
        </p:nvGrpSpPr>
        <p:grpSpPr>
          <a:xfrm rot="0">
            <a:off x="17000025" y="270560"/>
            <a:ext cx="534549" cy="1094670"/>
            <a:chOff x="0" y="0"/>
            <a:chExt cx="712732" cy="1459560"/>
          </a:xfrm>
        </p:grpSpPr>
        <p:sp>
          <p:nvSpPr>
            <p:cNvPr name="Freeform 14" id="14"/>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5" id="15"/>
          <p:cNvGrpSpPr>
            <a:grpSpLocks noChangeAspect="true"/>
          </p:cNvGrpSpPr>
          <p:nvPr/>
        </p:nvGrpSpPr>
        <p:grpSpPr>
          <a:xfrm rot="0">
            <a:off x="12595394" y="338836"/>
            <a:ext cx="1008050" cy="864211"/>
            <a:chOff x="0" y="0"/>
            <a:chExt cx="1344066" cy="1152282"/>
          </a:xfrm>
        </p:grpSpPr>
        <p:sp>
          <p:nvSpPr>
            <p:cNvPr name="Freeform 16" id="16"/>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7" id="17"/>
          <p:cNvGrpSpPr/>
          <p:nvPr/>
        </p:nvGrpSpPr>
        <p:grpSpPr>
          <a:xfrm rot="0">
            <a:off x="-13605" y="9985086"/>
            <a:ext cx="18342351" cy="384878"/>
            <a:chOff x="0" y="0"/>
            <a:chExt cx="24456468" cy="513170"/>
          </a:xfrm>
        </p:grpSpPr>
        <p:sp>
          <p:nvSpPr>
            <p:cNvPr name="Freeform 18" id="18"/>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TextBox 19" id="19"/>
          <p:cNvSpPr txBox="true"/>
          <p:nvPr/>
        </p:nvSpPr>
        <p:spPr>
          <a:xfrm rot="0">
            <a:off x="943325" y="3506670"/>
            <a:ext cx="16401349" cy="5471160"/>
          </a:xfrm>
          <a:prstGeom prst="rect">
            <a:avLst/>
          </a:prstGeom>
        </p:spPr>
        <p:txBody>
          <a:bodyPr anchor="t" rtlCol="false" tIns="0" lIns="0" bIns="0" rIns="0">
            <a:spAutoFit/>
          </a:bodyPr>
          <a:lstStyle/>
          <a:p>
            <a:pPr algn="l">
              <a:lnSpc>
                <a:spcPts val="3600"/>
              </a:lnSpc>
            </a:pPr>
            <a:r>
              <a:rPr lang="en-US" sz="2400" spc="2" b="true">
                <a:solidFill>
                  <a:srgbClr val="4617DE"/>
                </a:solidFill>
                <a:latin typeface="Merriweather Sans Bold"/>
                <a:ea typeface="Merriweather Sans Bold"/>
                <a:cs typeface="Merriweather Sans Bold"/>
                <a:sym typeface="Merriweather Sans Bold"/>
              </a:rPr>
              <a:t>ODS 14 - VIDA</a:t>
            </a:r>
            <a:r>
              <a:rPr lang="en-US" sz="2400" spc="2" b="true">
                <a:solidFill>
                  <a:srgbClr val="000000"/>
                </a:solidFill>
                <a:latin typeface="Merriweather Sans Bold"/>
                <a:ea typeface="Merriweather Sans Bold"/>
                <a:cs typeface="Merriweather Sans Bold"/>
                <a:sym typeface="Merriweather Sans Bold"/>
              </a:rPr>
              <a:t> </a:t>
            </a:r>
            <a:r>
              <a:rPr lang="en-US" sz="2400" spc="2" b="true">
                <a:solidFill>
                  <a:srgbClr val="4617DE"/>
                </a:solidFill>
                <a:latin typeface="Merriweather Sans Bold"/>
                <a:ea typeface="Merriweather Sans Bold"/>
                <a:cs typeface="Merriweather Sans Bold"/>
                <a:sym typeface="Merriweather Sans Bold"/>
              </a:rPr>
              <a:t>NA ÁGUA </a:t>
            </a:r>
          </a:p>
          <a:p>
            <a:pPr algn="l">
              <a:lnSpc>
                <a:spcPts val="3600"/>
              </a:lnSpc>
            </a:pPr>
            <a:r>
              <a:rPr lang="en-US" sz="2400" spc="2">
                <a:solidFill>
                  <a:srgbClr val="000000"/>
                </a:solidFill>
                <a:latin typeface="Merriweather Sans"/>
                <a:ea typeface="Merriweather Sans"/>
                <a:cs typeface="Merriweather Sans"/>
                <a:sym typeface="Merriweather Sans"/>
              </a:rPr>
              <a:t>Potencial para monitoramento davida marinha (bioacústicaoceânica) na costa angolana, com parcerias de conservação marinha para proteger os oceanos.</a:t>
            </a:r>
          </a:p>
          <a:p>
            <a:pPr algn="l">
              <a:lnSpc>
                <a:spcPts val="3600"/>
              </a:lnSpc>
            </a:pPr>
          </a:p>
          <a:p>
            <a:pPr algn="l">
              <a:lnSpc>
                <a:spcPts val="3600"/>
              </a:lnSpc>
            </a:pPr>
            <a:r>
              <a:rPr lang="en-US" sz="2400" spc="2" b="true">
                <a:solidFill>
                  <a:srgbClr val="4617DE"/>
                </a:solidFill>
                <a:latin typeface="Merriweather Sans Bold"/>
                <a:ea typeface="Merriweather Sans Bold"/>
                <a:cs typeface="Merriweather Sans Bold"/>
                <a:sym typeface="Merriweather Sans Bold"/>
              </a:rPr>
              <a:t>ODS</a:t>
            </a:r>
            <a:r>
              <a:rPr lang="en-US" sz="2400" spc="2">
                <a:solidFill>
                  <a:srgbClr val="4617DE"/>
                </a:solidFill>
                <a:latin typeface="Merriweather Sans"/>
                <a:ea typeface="Merriweather Sans"/>
                <a:cs typeface="Merriweather Sans"/>
                <a:sym typeface="Merriweather Sans"/>
              </a:rPr>
              <a:t> </a:t>
            </a:r>
            <a:r>
              <a:rPr lang="en-US" sz="2400" spc="2" b="true">
                <a:solidFill>
                  <a:srgbClr val="4617DE"/>
                </a:solidFill>
                <a:latin typeface="Merriweather Sans Bold"/>
                <a:ea typeface="Merriweather Sans Bold"/>
                <a:cs typeface="Merriweather Sans Bold"/>
                <a:sym typeface="Merriweather Sans Bold"/>
              </a:rPr>
              <a:t>15</a:t>
            </a:r>
            <a:r>
              <a:rPr lang="en-US" sz="2400" spc="2">
                <a:solidFill>
                  <a:srgbClr val="4617DE"/>
                </a:solidFill>
                <a:latin typeface="Merriweather Sans"/>
                <a:ea typeface="Merriweather Sans"/>
                <a:cs typeface="Merriweather Sans"/>
                <a:sym typeface="Merriweather Sans"/>
              </a:rPr>
              <a:t> - </a:t>
            </a:r>
            <a:r>
              <a:rPr lang="en-US" sz="2400" spc="2" b="true">
                <a:solidFill>
                  <a:srgbClr val="4617DE"/>
                </a:solidFill>
                <a:latin typeface="Merriweather Sans Bold"/>
                <a:ea typeface="Merriweather Sans Bold"/>
                <a:cs typeface="Merriweather Sans Bold"/>
                <a:sym typeface="Merriweather Sans Bold"/>
              </a:rPr>
              <a:t>VIDA TERRESTRE</a:t>
            </a:r>
            <a:r>
              <a:rPr lang="en-US" sz="2400" spc="2" b="true">
                <a:solidFill>
                  <a:srgbClr val="000000"/>
                </a:solidFill>
                <a:latin typeface="Merriweather Sans Bold"/>
                <a:ea typeface="Merriweather Sans Bold"/>
                <a:cs typeface="Merriweather Sans Bold"/>
                <a:sym typeface="Merriweather Sans Bold"/>
              </a:rPr>
              <a:t> </a:t>
            </a:r>
          </a:p>
          <a:p>
            <a:pPr algn="l">
              <a:lnSpc>
                <a:spcPts val="3600"/>
              </a:lnSpc>
            </a:pPr>
            <a:r>
              <a:rPr lang="en-US" sz="2400" spc="2">
                <a:solidFill>
                  <a:srgbClr val="000000"/>
                </a:solidFill>
                <a:latin typeface="Merriweather Sans"/>
                <a:ea typeface="Merriweather Sans"/>
                <a:cs typeface="Merriweather Sans"/>
                <a:sym typeface="Merriweather Sans"/>
              </a:rPr>
              <a:t>Contribuição direta para a conservação da fauna e biodiversidade terrestre angolana, identificação de espécies em risco (como a Palanca Negra Gigante) e mapeamento colaborativo em parques nacionais como Quiçama e Maiombe.</a:t>
            </a:r>
          </a:p>
          <a:p>
            <a:pPr algn="l">
              <a:lnSpc>
                <a:spcPts val="3600"/>
              </a:lnSpc>
            </a:pPr>
          </a:p>
          <a:p>
            <a:pPr algn="l">
              <a:lnSpc>
                <a:spcPts val="3600"/>
              </a:lnSpc>
            </a:pPr>
            <a:r>
              <a:rPr lang="en-US" sz="2400" spc="2" b="true">
                <a:solidFill>
                  <a:srgbClr val="4617DE"/>
                </a:solidFill>
                <a:latin typeface="Merriweather Sans Bold"/>
                <a:ea typeface="Merriweather Sans Bold"/>
                <a:cs typeface="Merriweather Sans Bold"/>
                <a:sym typeface="Merriweather Sans Bold"/>
              </a:rPr>
              <a:t>ODS</a:t>
            </a:r>
            <a:r>
              <a:rPr lang="en-US" sz="2400" spc="2">
                <a:solidFill>
                  <a:srgbClr val="4617DE"/>
                </a:solidFill>
                <a:latin typeface="Merriweather Sans"/>
                <a:ea typeface="Merriweather Sans"/>
                <a:cs typeface="Merriweather Sans"/>
                <a:sym typeface="Merriweather Sans"/>
              </a:rPr>
              <a:t> </a:t>
            </a:r>
            <a:r>
              <a:rPr lang="en-US" sz="2400" spc="2" b="true">
                <a:solidFill>
                  <a:srgbClr val="4617DE"/>
                </a:solidFill>
                <a:latin typeface="Merriweather Sans Bold"/>
                <a:ea typeface="Merriweather Sans Bold"/>
                <a:cs typeface="Merriweather Sans Bold"/>
                <a:sym typeface="Merriweather Sans Bold"/>
              </a:rPr>
              <a:t>4</a:t>
            </a:r>
            <a:r>
              <a:rPr lang="en-US" sz="2400" spc="2">
                <a:solidFill>
                  <a:srgbClr val="4617DE"/>
                </a:solidFill>
                <a:latin typeface="Merriweather Sans"/>
                <a:ea typeface="Merriweather Sans"/>
                <a:cs typeface="Merriweather Sans"/>
                <a:sym typeface="Merriweather Sans"/>
              </a:rPr>
              <a:t> - </a:t>
            </a:r>
            <a:r>
              <a:rPr lang="en-US" sz="2400" spc="2" b="true">
                <a:solidFill>
                  <a:srgbClr val="4617DE"/>
                </a:solidFill>
                <a:latin typeface="Merriweather Sans Bold"/>
                <a:ea typeface="Merriweather Sans Bold"/>
                <a:cs typeface="Merriweather Sans Bold"/>
                <a:sym typeface="Merriweather Sans Bold"/>
              </a:rPr>
              <a:t>EDUCAÇÃO</a:t>
            </a:r>
            <a:r>
              <a:rPr lang="en-US" sz="2400" spc="2">
                <a:solidFill>
                  <a:srgbClr val="000000"/>
                </a:solidFill>
                <a:latin typeface="Merriweather Sans"/>
                <a:ea typeface="Merriweather Sans"/>
                <a:cs typeface="Merriweather Sans"/>
                <a:sym typeface="Merriweather Sans"/>
              </a:rPr>
              <a:t> </a:t>
            </a:r>
            <a:r>
              <a:rPr lang="en-US" sz="2400" spc="2" b="true">
                <a:solidFill>
                  <a:srgbClr val="4617DE"/>
                </a:solidFill>
                <a:latin typeface="Merriweather Sans Bold"/>
                <a:ea typeface="Merriweather Sans Bold"/>
                <a:cs typeface="Merriweather Sans Bold"/>
                <a:sym typeface="Merriweather Sans Bold"/>
              </a:rPr>
              <a:t>DE</a:t>
            </a:r>
            <a:r>
              <a:rPr lang="en-US" sz="2400" spc="2">
                <a:solidFill>
                  <a:srgbClr val="000000"/>
                </a:solidFill>
                <a:latin typeface="Merriweather Sans"/>
                <a:ea typeface="Merriweather Sans"/>
                <a:cs typeface="Merriweather Sans"/>
                <a:sym typeface="Merriweather Sans"/>
              </a:rPr>
              <a:t> </a:t>
            </a:r>
            <a:r>
              <a:rPr lang="en-US" sz="2400" spc="2" b="true">
                <a:solidFill>
                  <a:srgbClr val="4617DE"/>
                </a:solidFill>
                <a:latin typeface="Merriweather Sans Bold"/>
                <a:ea typeface="Merriweather Sans Bold"/>
                <a:cs typeface="Merriweather Sans Bold"/>
                <a:sym typeface="Merriweather Sans Bold"/>
              </a:rPr>
              <a:t>QUALIDADE</a:t>
            </a:r>
          </a:p>
          <a:p>
            <a:pPr algn="l">
              <a:lnSpc>
                <a:spcPts val="3600"/>
              </a:lnSpc>
            </a:pPr>
            <a:r>
              <a:rPr lang="en-US" sz="2400" spc="3">
                <a:solidFill>
                  <a:srgbClr val="000000"/>
                </a:solidFill>
                <a:latin typeface="Merriweather Sans"/>
                <a:ea typeface="Merriweather Sans"/>
                <a:cs typeface="Merriweather Sans"/>
                <a:sym typeface="Merriweather Sans"/>
              </a:rPr>
              <a:t>Ferramenta educativa interativa sobre biodiversidade para escolas e universidades angolanas,promovendo o conhecimento sobre a nossa fauna.</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38963" y="1974824"/>
            <a:ext cx="18324701" cy="8321702"/>
            <a:chOff x="0" y="0"/>
            <a:chExt cx="24432934" cy="11095602"/>
          </a:xfrm>
        </p:grpSpPr>
        <p:sp>
          <p:nvSpPr>
            <p:cNvPr name="Freeform 3" id="3"/>
            <p:cNvSpPr/>
            <p:nvPr/>
          </p:nvSpPr>
          <p:spPr>
            <a:xfrm flipH="false" flipV="false" rot="0">
              <a:off x="12700" y="12700"/>
              <a:ext cx="24407495" cy="11070209"/>
            </a:xfrm>
            <a:custGeom>
              <a:avLst/>
              <a:gdLst/>
              <a:ahLst/>
              <a:cxnLst/>
              <a:rect r="r" b="b" t="t" l="l"/>
              <a:pathLst>
                <a:path h="11070209" w="24407495">
                  <a:moveTo>
                    <a:pt x="0" y="0"/>
                  </a:moveTo>
                  <a:lnTo>
                    <a:pt x="24407495" y="0"/>
                  </a:lnTo>
                  <a:lnTo>
                    <a:pt x="24407495" y="11070209"/>
                  </a:lnTo>
                  <a:lnTo>
                    <a:pt x="0" y="11070209"/>
                  </a:lnTo>
                  <a:close/>
                </a:path>
              </a:pathLst>
            </a:custGeom>
            <a:solidFill>
              <a:srgbClr val="4617DE"/>
            </a:solidFill>
          </p:spPr>
        </p:sp>
        <p:sp>
          <p:nvSpPr>
            <p:cNvPr name="Freeform 4" id="4"/>
            <p:cNvSpPr/>
            <p:nvPr/>
          </p:nvSpPr>
          <p:spPr>
            <a:xfrm flipH="false" flipV="false" rot="0">
              <a:off x="0" y="0"/>
              <a:ext cx="24432895" cy="11095609"/>
            </a:xfrm>
            <a:custGeom>
              <a:avLst/>
              <a:gdLst/>
              <a:ahLst/>
              <a:cxnLst/>
              <a:rect r="r" b="b" t="t" l="l"/>
              <a:pathLst>
                <a:path h="11095609" w="24432895">
                  <a:moveTo>
                    <a:pt x="12700" y="0"/>
                  </a:moveTo>
                  <a:lnTo>
                    <a:pt x="24420195" y="0"/>
                  </a:lnTo>
                  <a:cubicBezTo>
                    <a:pt x="24427180" y="0"/>
                    <a:pt x="24432895" y="5715"/>
                    <a:pt x="24432895" y="12700"/>
                  </a:cubicBezTo>
                  <a:lnTo>
                    <a:pt x="24432895" y="11082909"/>
                  </a:lnTo>
                  <a:cubicBezTo>
                    <a:pt x="24432895" y="11089894"/>
                    <a:pt x="24427180" y="11095609"/>
                    <a:pt x="24420195" y="11095609"/>
                  </a:cubicBezTo>
                  <a:lnTo>
                    <a:pt x="12700" y="11095609"/>
                  </a:lnTo>
                  <a:cubicBezTo>
                    <a:pt x="5715" y="11095609"/>
                    <a:pt x="0" y="11089894"/>
                    <a:pt x="0" y="11082909"/>
                  </a:cubicBezTo>
                  <a:lnTo>
                    <a:pt x="0" y="12700"/>
                  </a:lnTo>
                  <a:cubicBezTo>
                    <a:pt x="0" y="5715"/>
                    <a:pt x="5715" y="0"/>
                    <a:pt x="12700" y="0"/>
                  </a:cubicBezTo>
                  <a:moveTo>
                    <a:pt x="12700" y="25400"/>
                  </a:moveTo>
                  <a:lnTo>
                    <a:pt x="12700" y="12700"/>
                  </a:lnTo>
                  <a:lnTo>
                    <a:pt x="25400" y="12700"/>
                  </a:lnTo>
                  <a:lnTo>
                    <a:pt x="25400" y="11082909"/>
                  </a:lnTo>
                  <a:lnTo>
                    <a:pt x="12700" y="11082909"/>
                  </a:lnTo>
                  <a:lnTo>
                    <a:pt x="12700" y="11070209"/>
                  </a:lnTo>
                  <a:lnTo>
                    <a:pt x="24420195" y="11070209"/>
                  </a:lnTo>
                  <a:lnTo>
                    <a:pt x="24420195" y="11082909"/>
                  </a:lnTo>
                  <a:lnTo>
                    <a:pt x="24407495" y="11082909"/>
                  </a:lnTo>
                  <a:lnTo>
                    <a:pt x="24407495" y="12700"/>
                  </a:lnTo>
                  <a:lnTo>
                    <a:pt x="24420195" y="12700"/>
                  </a:lnTo>
                  <a:lnTo>
                    <a:pt x="24420195" y="25400"/>
                  </a:lnTo>
                  <a:lnTo>
                    <a:pt x="12700" y="25400"/>
                  </a:lnTo>
                  <a:close/>
                </a:path>
              </a:pathLst>
            </a:custGeom>
            <a:solidFill>
              <a:srgbClr val="4617DE"/>
            </a:solidFill>
          </p:spPr>
        </p:sp>
      </p:grpSp>
      <p:grpSp>
        <p:nvGrpSpPr>
          <p:cNvPr name="Group 5" id="5"/>
          <p:cNvGrpSpPr>
            <a:grpSpLocks noChangeAspect="true"/>
          </p:cNvGrpSpPr>
          <p:nvPr/>
        </p:nvGrpSpPr>
        <p:grpSpPr>
          <a:xfrm rot="0">
            <a:off x="15127473" y="572394"/>
            <a:ext cx="1777568" cy="877906"/>
            <a:chOff x="0" y="0"/>
            <a:chExt cx="2370090" cy="1170542"/>
          </a:xfrm>
        </p:grpSpPr>
        <p:sp>
          <p:nvSpPr>
            <p:cNvPr name="Freeform 6" id="6" descr="Picture 7"/>
            <p:cNvSpPr/>
            <p:nvPr/>
          </p:nvSpPr>
          <p:spPr>
            <a:xfrm flipH="false" flipV="false" rot="0">
              <a:off x="0" y="0"/>
              <a:ext cx="2370074" cy="1170559"/>
            </a:xfrm>
            <a:custGeom>
              <a:avLst/>
              <a:gdLst/>
              <a:ahLst/>
              <a:cxnLst/>
              <a:rect r="r" b="b" t="t" l="l"/>
              <a:pathLst>
                <a:path h="1170559" w="2370074">
                  <a:moveTo>
                    <a:pt x="0" y="0"/>
                  </a:moveTo>
                  <a:lnTo>
                    <a:pt x="2370074" y="0"/>
                  </a:lnTo>
                  <a:lnTo>
                    <a:pt x="2370074" y="1170559"/>
                  </a:lnTo>
                  <a:lnTo>
                    <a:pt x="0" y="1170559"/>
                  </a:lnTo>
                  <a:lnTo>
                    <a:pt x="0" y="0"/>
                  </a:lnTo>
                  <a:close/>
                </a:path>
              </a:pathLst>
            </a:custGeom>
            <a:blipFill>
              <a:blip r:embed="rId2"/>
              <a:stretch>
                <a:fillRect l="-561" t="0" r="-562" b="1"/>
              </a:stretch>
            </a:blipFill>
          </p:spPr>
        </p:sp>
      </p:grpSp>
      <p:grpSp>
        <p:nvGrpSpPr>
          <p:cNvPr name="Group 7" id="7"/>
          <p:cNvGrpSpPr>
            <a:grpSpLocks noChangeAspect="true"/>
          </p:cNvGrpSpPr>
          <p:nvPr/>
        </p:nvGrpSpPr>
        <p:grpSpPr>
          <a:xfrm rot="0">
            <a:off x="13445664" y="434190"/>
            <a:ext cx="1458211" cy="1119732"/>
            <a:chOff x="0" y="0"/>
            <a:chExt cx="1944282" cy="1492976"/>
          </a:xfrm>
        </p:grpSpPr>
        <p:sp>
          <p:nvSpPr>
            <p:cNvPr name="Freeform 8" id="8" descr="Picture 9"/>
            <p:cNvSpPr/>
            <p:nvPr/>
          </p:nvSpPr>
          <p:spPr>
            <a:xfrm flipH="false" flipV="false" rot="0">
              <a:off x="0" y="0"/>
              <a:ext cx="1944243" cy="1493012"/>
            </a:xfrm>
            <a:custGeom>
              <a:avLst/>
              <a:gdLst/>
              <a:ahLst/>
              <a:cxnLst/>
              <a:rect r="r" b="b" t="t" l="l"/>
              <a:pathLst>
                <a:path h="1493012" w="1944243">
                  <a:moveTo>
                    <a:pt x="0" y="0"/>
                  </a:moveTo>
                  <a:lnTo>
                    <a:pt x="1944243" y="0"/>
                  </a:lnTo>
                  <a:lnTo>
                    <a:pt x="1944243" y="1493012"/>
                  </a:lnTo>
                  <a:lnTo>
                    <a:pt x="0" y="1493012"/>
                  </a:lnTo>
                  <a:lnTo>
                    <a:pt x="0" y="0"/>
                  </a:lnTo>
                  <a:close/>
                </a:path>
              </a:pathLst>
            </a:custGeom>
            <a:blipFill>
              <a:blip r:embed="rId3"/>
              <a:stretch>
                <a:fillRect l="-107" t="0" r="-109" b="2"/>
              </a:stretch>
            </a:blipFill>
          </p:spPr>
        </p:sp>
      </p:grpSp>
      <p:grpSp>
        <p:nvGrpSpPr>
          <p:cNvPr name="Group 9" id="9"/>
          <p:cNvGrpSpPr>
            <a:grpSpLocks noChangeAspect="true"/>
          </p:cNvGrpSpPr>
          <p:nvPr/>
        </p:nvGrpSpPr>
        <p:grpSpPr>
          <a:xfrm rot="0">
            <a:off x="17201592" y="146404"/>
            <a:ext cx="808054" cy="1617030"/>
            <a:chOff x="0" y="0"/>
            <a:chExt cx="1077406" cy="2156040"/>
          </a:xfrm>
        </p:grpSpPr>
        <p:sp>
          <p:nvSpPr>
            <p:cNvPr name="Freeform 10" id="10" descr="pasted-movie.png"/>
            <p:cNvSpPr/>
            <p:nvPr/>
          </p:nvSpPr>
          <p:spPr>
            <a:xfrm flipH="false" flipV="false" rot="0">
              <a:off x="0" y="0"/>
              <a:ext cx="1077468" cy="2156079"/>
            </a:xfrm>
            <a:custGeom>
              <a:avLst/>
              <a:gdLst/>
              <a:ahLst/>
              <a:cxnLst/>
              <a:rect r="r" b="b" t="t" l="l"/>
              <a:pathLst>
                <a:path h="2156079" w="1077468">
                  <a:moveTo>
                    <a:pt x="0" y="0"/>
                  </a:moveTo>
                  <a:lnTo>
                    <a:pt x="1077468" y="0"/>
                  </a:lnTo>
                  <a:lnTo>
                    <a:pt x="1077468" y="2156079"/>
                  </a:lnTo>
                  <a:lnTo>
                    <a:pt x="0" y="2156079"/>
                  </a:lnTo>
                  <a:lnTo>
                    <a:pt x="0" y="0"/>
                  </a:lnTo>
                  <a:close/>
                </a:path>
              </a:pathLst>
            </a:custGeom>
            <a:blipFill>
              <a:blip r:embed="rId4"/>
              <a:stretch>
                <a:fillRect l="0" t="-604" r="5" b="-602"/>
              </a:stretch>
            </a:blipFill>
          </p:spPr>
        </p:sp>
      </p:grpSp>
      <p:grpSp>
        <p:nvGrpSpPr>
          <p:cNvPr name="Group 11" id="11"/>
          <p:cNvGrpSpPr>
            <a:grpSpLocks noChangeAspect="true"/>
          </p:cNvGrpSpPr>
          <p:nvPr/>
        </p:nvGrpSpPr>
        <p:grpSpPr>
          <a:xfrm rot="0">
            <a:off x="11943321" y="366993"/>
            <a:ext cx="1380389" cy="1175602"/>
            <a:chOff x="0" y="0"/>
            <a:chExt cx="1840518" cy="1567470"/>
          </a:xfrm>
        </p:grpSpPr>
        <p:sp>
          <p:nvSpPr>
            <p:cNvPr name="Freeform 12" id="12" descr="pasted-movie.png"/>
            <p:cNvSpPr/>
            <p:nvPr/>
          </p:nvSpPr>
          <p:spPr>
            <a:xfrm flipH="false" flipV="false" rot="0">
              <a:off x="0" y="0"/>
              <a:ext cx="1840484" cy="1567434"/>
            </a:xfrm>
            <a:custGeom>
              <a:avLst/>
              <a:gdLst/>
              <a:ahLst/>
              <a:cxnLst/>
              <a:rect r="r" b="b" t="t" l="l"/>
              <a:pathLst>
                <a:path h="1567434" w="1840484">
                  <a:moveTo>
                    <a:pt x="0" y="0"/>
                  </a:moveTo>
                  <a:lnTo>
                    <a:pt x="1840484" y="0"/>
                  </a:lnTo>
                  <a:lnTo>
                    <a:pt x="1840484" y="1567434"/>
                  </a:lnTo>
                  <a:lnTo>
                    <a:pt x="0" y="1567434"/>
                  </a:lnTo>
                  <a:lnTo>
                    <a:pt x="0" y="0"/>
                  </a:lnTo>
                  <a:close/>
                </a:path>
              </a:pathLst>
            </a:custGeom>
            <a:blipFill>
              <a:blip r:embed="rId5"/>
              <a:stretch>
                <a:fillRect l="-19378" t="-31606" r="-19623" b="-31609"/>
              </a:stretch>
            </a:blipFill>
          </p:spPr>
        </p:sp>
      </p:grpSp>
      <p:grpSp>
        <p:nvGrpSpPr>
          <p:cNvPr name="Group 13" id="13"/>
          <p:cNvGrpSpPr>
            <a:grpSpLocks noChangeAspect="true"/>
          </p:cNvGrpSpPr>
          <p:nvPr/>
        </p:nvGrpSpPr>
        <p:grpSpPr>
          <a:xfrm rot="0">
            <a:off x="15003453" y="7913580"/>
            <a:ext cx="3394872" cy="2414976"/>
            <a:chOff x="0" y="0"/>
            <a:chExt cx="4526496" cy="3219968"/>
          </a:xfrm>
        </p:grpSpPr>
        <p:sp>
          <p:nvSpPr>
            <p:cNvPr name="Freeform 14" id="14" descr="Image"/>
            <p:cNvSpPr/>
            <p:nvPr/>
          </p:nvSpPr>
          <p:spPr>
            <a:xfrm flipH="false" flipV="false" rot="0">
              <a:off x="0" y="0"/>
              <a:ext cx="4526534" cy="3219958"/>
            </a:xfrm>
            <a:custGeom>
              <a:avLst/>
              <a:gdLst/>
              <a:ahLst/>
              <a:cxnLst/>
              <a:rect r="r" b="b" t="t" l="l"/>
              <a:pathLst>
                <a:path h="3219958" w="4526534">
                  <a:moveTo>
                    <a:pt x="0" y="0"/>
                  </a:moveTo>
                  <a:lnTo>
                    <a:pt x="4526534" y="0"/>
                  </a:lnTo>
                  <a:lnTo>
                    <a:pt x="4526534" y="3219958"/>
                  </a:lnTo>
                  <a:lnTo>
                    <a:pt x="0" y="3219958"/>
                  </a:lnTo>
                  <a:lnTo>
                    <a:pt x="0" y="0"/>
                  </a:lnTo>
                  <a:close/>
                </a:path>
              </a:pathLst>
            </a:custGeom>
            <a:blipFill>
              <a:blip r:embed="rId6"/>
              <a:stretch>
                <a:fillRect l="-1173" t="0" r="-16160" b="-51433"/>
              </a:stretch>
            </a:blipFill>
          </p:spPr>
        </p:sp>
      </p:grpSp>
      <p:grpSp>
        <p:nvGrpSpPr>
          <p:cNvPr name="Group 15" id="15"/>
          <p:cNvGrpSpPr>
            <a:grpSpLocks noChangeAspect="true"/>
          </p:cNvGrpSpPr>
          <p:nvPr/>
        </p:nvGrpSpPr>
        <p:grpSpPr>
          <a:xfrm rot="0">
            <a:off x="2061220" y="3067194"/>
            <a:ext cx="6380205" cy="6194822"/>
            <a:chOff x="0" y="0"/>
            <a:chExt cx="8506940" cy="8259762"/>
          </a:xfrm>
        </p:grpSpPr>
        <p:sp>
          <p:nvSpPr>
            <p:cNvPr name="Freeform 16" id="16" descr="Image"/>
            <p:cNvSpPr/>
            <p:nvPr/>
          </p:nvSpPr>
          <p:spPr>
            <a:xfrm flipH="false" flipV="false" rot="0">
              <a:off x="0" y="0"/>
              <a:ext cx="8506968" cy="8259699"/>
            </a:xfrm>
            <a:custGeom>
              <a:avLst/>
              <a:gdLst/>
              <a:ahLst/>
              <a:cxnLst/>
              <a:rect r="r" b="b" t="t" l="l"/>
              <a:pathLst>
                <a:path h="8259699" w="8506968">
                  <a:moveTo>
                    <a:pt x="0" y="0"/>
                  </a:moveTo>
                  <a:lnTo>
                    <a:pt x="8506968" y="0"/>
                  </a:lnTo>
                  <a:lnTo>
                    <a:pt x="8506968" y="8259699"/>
                  </a:lnTo>
                  <a:lnTo>
                    <a:pt x="0" y="8259699"/>
                  </a:lnTo>
                  <a:lnTo>
                    <a:pt x="0" y="0"/>
                  </a:lnTo>
                  <a:close/>
                </a:path>
              </a:pathLst>
            </a:custGeom>
            <a:blipFill>
              <a:blip r:embed="rId7"/>
              <a:stretch>
                <a:fillRect l="0" t="-15" r="0" b="-15"/>
              </a:stretch>
            </a:blipFill>
          </p:spPr>
        </p:sp>
      </p:grpSp>
      <p:sp>
        <p:nvSpPr>
          <p:cNvPr name="TextBox 17" id="17"/>
          <p:cNvSpPr txBox="true"/>
          <p:nvPr/>
        </p:nvSpPr>
        <p:spPr>
          <a:xfrm rot="0">
            <a:off x="9812947" y="4974724"/>
            <a:ext cx="8723645" cy="838200"/>
          </a:xfrm>
          <a:prstGeom prst="rect">
            <a:avLst/>
          </a:prstGeom>
        </p:spPr>
        <p:txBody>
          <a:bodyPr anchor="t" rtlCol="false" tIns="0" lIns="0" bIns="0" rIns="0">
            <a:spAutoFit/>
          </a:bodyPr>
          <a:lstStyle/>
          <a:p>
            <a:pPr algn="ctr">
              <a:lnSpc>
                <a:spcPts val="6659"/>
              </a:lnSpc>
            </a:pPr>
            <a:r>
              <a:rPr lang="en-US" b="true" sz="5550" spc="22">
                <a:solidFill>
                  <a:srgbClr val="2B2551"/>
                </a:solidFill>
                <a:latin typeface="Merriweather Sans Bold"/>
                <a:ea typeface="Merriweather Sans Bold"/>
                <a:cs typeface="Merriweather Sans Bold"/>
                <a:sym typeface="Merriweather Sans Bold"/>
              </a:rPr>
              <a:t>DADOS</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2956" y="1707387"/>
            <a:ext cx="6453046" cy="948447"/>
            <a:chOff x="0" y="0"/>
            <a:chExt cx="8604062" cy="1264596"/>
          </a:xfrm>
        </p:grpSpPr>
        <p:sp>
          <p:nvSpPr>
            <p:cNvPr name="Freeform 3" id="3"/>
            <p:cNvSpPr/>
            <p:nvPr/>
          </p:nvSpPr>
          <p:spPr>
            <a:xfrm flipH="false" flipV="false" rot="0">
              <a:off x="12700" y="12700"/>
              <a:ext cx="8578723" cy="1239139"/>
            </a:xfrm>
            <a:custGeom>
              <a:avLst/>
              <a:gdLst/>
              <a:ahLst/>
              <a:cxnLst/>
              <a:rect r="r" b="b" t="t" l="l"/>
              <a:pathLst>
                <a:path h="1239139" w="8578723">
                  <a:moveTo>
                    <a:pt x="0" y="0"/>
                  </a:moveTo>
                  <a:lnTo>
                    <a:pt x="8578723" y="0"/>
                  </a:lnTo>
                  <a:lnTo>
                    <a:pt x="8578723" y="1239139"/>
                  </a:lnTo>
                  <a:lnTo>
                    <a:pt x="0" y="1239139"/>
                  </a:lnTo>
                  <a:close/>
                </a:path>
              </a:pathLst>
            </a:custGeom>
            <a:solidFill>
              <a:srgbClr val="FE2E45"/>
            </a:solidFill>
          </p:spPr>
        </p:sp>
      </p:grpSp>
      <p:grpSp>
        <p:nvGrpSpPr>
          <p:cNvPr name="Group 4" id="4"/>
          <p:cNvGrpSpPr/>
          <p:nvPr/>
        </p:nvGrpSpPr>
        <p:grpSpPr>
          <a:xfrm rot="0">
            <a:off x="682956" y="1524688"/>
            <a:ext cx="11653162" cy="1323369"/>
            <a:chOff x="0" y="0"/>
            <a:chExt cx="15537550" cy="1764492"/>
          </a:xfrm>
        </p:grpSpPr>
        <p:sp>
          <p:nvSpPr>
            <p:cNvPr name="Freeform 5" id="5"/>
            <p:cNvSpPr/>
            <p:nvPr/>
          </p:nvSpPr>
          <p:spPr>
            <a:xfrm flipH="false" flipV="false" rot="0">
              <a:off x="0" y="0"/>
              <a:ext cx="15537551" cy="1764492"/>
            </a:xfrm>
            <a:custGeom>
              <a:avLst/>
              <a:gdLst/>
              <a:ahLst/>
              <a:cxnLst/>
              <a:rect r="r" b="b" t="t" l="l"/>
              <a:pathLst>
                <a:path h="1764492" w="15537551">
                  <a:moveTo>
                    <a:pt x="0" y="0"/>
                  </a:moveTo>
                  <a:lnTo>
                    <a:pt x="15537551" y="0"/>
                  </a:lnTo>
                  <a:lnTo>
                    <a:pt x="15537551" y="1764492"/>
                  </a:lnTo>
                  <a:lnTo>
                    <a:pt x="0" y="1764492"/>
                  </a:lnTo>
                  <a:close/>
                </a:path>
              </a:pathLst>
            </a:custGeom>
            <a:solidFill>
              <a:srgbClr val="000000">
                <a:alpha val="0"/>
              </a:srgbClr>
            </a:solidFill>
          </p:spPr>
        </p:sp>
        <p:sp>
          <p:nvSpPr>
            <p:cNvPr name="TextBox 6" id="6"/>
            <p:cNvSpPr txBox="true"/>
            <p:nvPr/>
          </p:nvSpPr>
          <p:spPr>
            <a:xfrm>
              <a:off x="0" y="57150"/>
              <a:ext cx="15537550" cy="1707342"/>
            </a:xfrm>
            <a:prstGeom prst="rect">
              <a:avLst/>
            </a:prstGeom>
          </p:spPr>
          <p:txBody>
            <a:bodyPr anchor="ctr" rtlCol="false" tIns="0" lIns="0" bIns="0" rIns="0"/>
            <a:lstStyle/>
            <a:p>
              <a:pPr algn="l">
                <a:lnSpc>
                  <a:spcPts val="5453"/>
                </a:lnSpc>
              </a:pPr>
              <a:r>
                <a:rPr lang="en-US" b="true" sz="5049" spc="20">
                  <a:solidFill>
                    <a:srgbClr val="2B2551"/>
                  </a:solidFill>
                  <a:latin typeface="Merriweather Sans Bold"/>
                  <a:ea typeface="Merriweather Sans Bold"/>
                  <a:cs typeface="Merriweather Sans Bold"/>
                  <a:sym typeface="Merriweather Sans Bold"/>
                </a:rPr>
                <a:t>DADOS</a:t>
              </a:r>
            </a:p>
          </p:txBody>
        </p:sp>
      </p:grpSp>
      <p:grpSp>
        <p:nvGrpSpPr>
          <p:cNvPr name="Group 7" id="7"/>
          <p:cNvGrpSpPr>
            <a:grpSpLocks noChangeAspect="true"/>
          </p:cNvGrpSpPr>
          <p:nvPr/>
        </p:nvGrpSpPr>
        <p:grpSpPr>
          <a:xfrm rot="0">
            <a:off x="682956" y="744174"/>
            <a:ext cx="2921214" cy="248720"/>
            <a:chOff x="0" y="0"/>
            <a:chExt cx="3894952" cy="331626"/>
          </a:xfrm>
        </p:grpSpPr>
        <p:sp>
          <p:nvSpPr>
            <p:cNvPr name="Freeform 8" id="8"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9" id="9"/>
          <p:cNvGrpSpPr>
            <a:grpSpLocks noChangeAspect="true"/>
          </p:cNvGrpSpPr>
          <p:nvPr/>
        </p:nvGrpSpPr>
        <p:grpSpPr>
          <a:xfrm rot="0">
            <a:off x="15222434" y="427439"/>
            <a:ext cx="1580448" cy="780909"/>
            <a:chOff x="0" y="0"/>
            <a:chExt cx="2107264" cy="1041212"/>
          </a:xfrm>
        </p:grpSpPr>
        <p:sp>
          <p:nvSpPr>
            <p:cNvPr name="Freeform 10" id="10"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11" id="11"/>
          <p:cNvGrpSpPr>
            <a:grpSpLocks noChangeAspect="true"/>
          </p:cNvGrpSpPr>
          <p:nvPr/>
        </p:nvGrpSpPr>
        <p:grpSpPr>
          <a:xfrm rot="0">
            <a:off x="13800587" y="338836"/>
            <a:ext cx="1234639" cy="941733"/>
            <a:chOff x="0" y="0"/>
            <a:chExt cx="1646186" cy="1255644"/>
          </a:xfrm>
        </p:grpSpPr>
        <p:sp>
          <p:nvSpPr>
            <p:cNvPr name="Freeform 12" id="12"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13" id="13"/>
          <p:cNvGrpSpPr>
            <a:grpSpLocks noChangeAspect="true"/>
          </p:cNvGrpSpPr>
          <p:nvPr/>
        </p:nvGrpSpPr>
        <p:grpSpPr>
          <a:xfrm rot="0">
            <a:off x="17000025" y="270560"/>
            <a:ext cx="534549" cy="1094670"/>
            <a:chOff x="0" y="0"/>
            <a:chExt cx="712732" cy="1459560"/>
          </a:xfrm>
        </p:grpSpPr>
        <p:sp>
          <p:nvSpPr>
            <p:cNvPr name="Freeform 14" id="14"/>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5" id="15"/>
          <p:cNvGrpSpPr>
            <a:grpSpLocks noChangeAspect="true"/>
          </p:cNvGrpSpPr>
          <p:nvPr/>
        </p:nvGrpSpPr>
        <p:grpSpPr>
          <a:xfrm rot="0">
            <a:off x="12595394" y="338836"/>
            <a:ext cx="1008050" cy="864211"/>
            <a:chOff x="0" y="0"/>
            <a:chExt cx="1344066" cy="1152282"/>
          </a:xfrm>
        </p:grpSpPr>
        <p:sp>
          <p:nvSpPr>
            <p:cNvPr name="Freeform 16" id="16"/>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7" id="17"/>
          <p:cNvGrpSpPr/>
          <p:nvPr/>
        </p:nvGrpSpPr>
        <p:grpSpPr>
          <a:xfrm rot="0">
            <a:off x="-13605" y="9985086"/>
            <a:ext cx="18342351" cy="384878"/>
            <a:chOff x="0" y="0"/>
            <a:chExt cx="24456468" cy="513170"/>
          </a:xfrm>
        </p:grpSpPr>
        <p:sp>
          <p:nvSpPr>
            <p:cNvPr name="Freeform 18" id="18"/>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Freeform 19" id="19"/>
          <p:cNvSpPr/>
          <p:nvPr/>
        </p:nvSpPr>
        <p:spPr>
          <a:xfrm flipH="false" flipV="false" rot="0">
            <a:off x="682956" y="4552080"/>
            <a:ext cx="14574694" cy="5433006"/>
          </a:xfrm>
          <a:custGeom>
            <a:avLst/>
            <a:gdLst/>
            <a:ahLst/>
            <a:cxnLst/>
            <a:rect r="r" b="b" t="t" l="l"/>
            <a:pathLst>
              <a:path h="5433006" w="14574694">
                <a:moveTo>
                  <a:pt x="0" y="0"/>
                </a:moveTo>
                <a:lnTo>
                  <a:pt x="14574694" y="0"/>
                </a:lnTo>
                <a:lnTo>
                  <a:pt x="14574694" y="5433006"/>
                </a:lnTo>
                <a:lnTo>
                  <a:pt x="0" y="5433006"/>
                </a:lnTo>
                <a:lnTo>
                  <a:pt x="0" y="0"/>
                </a:lnTo>
                <a:close/>
              </a:path>
            </a:pathLst>
          </a:custGeom>
          <a:blipFill>
            <a:blip r:embed="rId8"/>
            <a:stretch>
              <a:fillRect l="0" t="-3039" r="0" b="-6276"/>
            </a:stretch>
          </a:blipFill>
        </p:spPr>
      </p:sp>
      <p:sp>
        <p:nvSpPr>
          <p:cNvPr name="TextBox 20" id="20"/>
          <p:cNvSpPr txBox="true"/>
          <p:nvPr/>
        </p:nvSpPr>
        <p:spPr>
          <a:xfrm rot="0">
            <a:off x="682956" y="2983789"/>
            <a:ext cx="15984930" cy="1356360"/>
          </a:xfrm>
          <a:prstGeom prst="rect">
            <a:avLst/>
          </a:prstGeom>
        </p:spPr>
        <p:txBody>
          <a:bodyPr anchor="t" rtlCol="false" tIns="0" lIns="0" bIns="0" rIns="0">
            <a:spAutoFit/>
          </a:bodyPr>
          <a:lstStyle/>
          <a:p>
            <a:pPr algn="l">
              <a:lnSpc>
                <a:spcPts val="3600"/>
              </a:lnSpc>
            </a:pPr>
            <a:r>
              <a:rPr lang="en-US" sz="2400" spc="3" b="true">
                <a:solidFill>
                  <a:srgbClr val="4617DE"/>
                </a:solidFill>
                <a:latin typeface="Merriweather Sans Bold"/>
                <a:ea typeface="Merriweather Sans Bold"/>
                <a:cs typeface="Merriweather Sans Bold"/>
                <a:sym typeface="Merriweather Sans Bold"/>
              </a:rPr>
              <a:t>RECOLHA</a:t>
            </a:r>
            <a:r>
              <a:rPr lang="en-US" sz="2400" spc="3" b="true">
                <a:solidFill>
                  <a:srgbClr val="000000"/>
                </a:solidFill>
                <a:latin typeface="Merriweather Sans Bold"/>
                <a:ea typeface="Merriweather Sans Bold"/>
                <a:cs typeface="Merriweather Sans Bold"/>
                <a:sym typeface="Merriweather Sans Bold"/>
              </a:rPr>
              <a:t> </a:t>
            </a:r>
            <a:r>
              <a:rPr lang="en-US" sz="2400" spc="3" b="true">
                <a:solidFill>
                  <a:srgbClr val="4617DE"/>
                </a:solidFill>
                <a:latin typeface="Merriweather Sans Bold"/>
                <a:ea typeface="Merriweather Sans Bold"/>
                <a:cs typeface="Merriweather Sans Bold"/>
                <a:sym typeface="Merriweather Sans Bold"/>
              </a:rPr>
              <a:t>DE</a:t>
            </a:r>
            <a:r>
              <a:rPr lang="en-US" sz="2400" spc="3" b="true">
                <a:solidFill>
                  <a:srgbClr val="000000"/>
                </a:solidFill>
                <a:latin typeface="Merriweather Sans Bold"/>
                <a:ea typeface="Merriweather Sans Bold"/>
                <a:cs typeface="Merriweather Sans Bold"/>
                <a:sym typeface="Merriweather Sans Bold"/>
              </a:rPr>
              <a:t> </a:t>
            </a:r>
            <a:r>
              <a:rPr lang="en-US" sz="2400" spc="3" b="true">
                <a:solidFill>
                  <a:srgbClr val="4617DE"/>
                </a:solidFill>
                <a:latin typeface="Merriweather Sans Bold"/>
                <a:ea typeface="Merriweather Sans Bold"/>
                <a:cs typeface="Merriweather Sans Bold"/>
                <a:sym typeface="Merriweather Sans Bold"/>
              </a:rPr>
              <a:t>DADOS</a:t>
            </a:r>
            <a:r>
              <a:rPr lang="en-US" sz="2400" spc="3" b="true">
                <a:solidFill>
                  <a:srgbClr val="000000"/>
                </a:solidFill>
                <a:latin typeface="Merriweather Sans Bold"/>
                <a:ea typeface="Merriweather Sans Bold"/>
                <a:cs typeface="Merriweather Sans Bold"/>
                <a:sym typeface="Merriweather Sans Bold"/>
              </a:rPr>
              <a:t> </a:t>
            </a:r>
          </a:p>
          <a:p>
            <a:pPr algn="l">
              <a:lnSpc>
                <a:spcPts val="3600"/>
              </a:lnSpc>
            </a:pPr>
            <a:r>
              <a:rPr lang="en-US" sz="2400" spc="3">
                <a:solidFill>
                  <a:srgbClr val="000000"/>
                </a:solidFill>
                <a:latin typeface="Merriweather Sans"/>
                <a:ea typeface="Merriweather Sans"/>
                <a:cs typeface="Merriweather Sans"/>
                <a:sym typeface="Merriweather Sans"/>
              </a:rPr>
              <a:t>A</a:t>
            </a:r>
            <a:r>
              <a:rPr lang="en-US" sz="2400" spc="3">
                <a:solidFill>
                  <a:srgbClr val="000000"/>
                </a:solidFill>
                <a:latin typeface="Merriweather Sans"/>
                <a:ea typeface="Merriweather Sans"/>
                <a:cs typeface="Merriweather Sans"/>
                <a:sym typeface="Merriweather Sans"/>
              </a:rPr>
              <a:t> recolha de dados para o treino dos modelos do BioLingo combina fontes globais e locais, garantindo diversidade e representatividade da fauna angolana.</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2956" y="744174"/>
            <a:ext cx="2921214" cy="248720"/>
            <a:chOff x="0" y="0"/>
            <a:chExt cx="3894952" cy="331626"/>
          </a:xfrm>
        </p:grpSpPr>
        <p:sp>
          <p:nvSpPr>
            <p:cNvPr name="Freeform 3" id="3"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4" id="4"/>
          <p:cNvGrpSpPr>
            <a:grpSpLocks noChangeAspect="true"/>
          </p:cNvGrpSpPr>
          <p:nvPr/>
        </p:nvGrpSpPr>
        <p:grpSpPr>
          <a:xfrm rot="0">
            <a:off x="15222434" y="427439"/>
            <a:ext cx="1580448" cy="780909"/>
            <a:chOff x="0" y="0"/>
            <a:chExt cx="2107264" cy="1041212"/>
          </a:xfrm>
        </p:grpSpPr>
        <p:sp>
          <p:nvSpPr>
            <p:cNvPr name="Freeform 5" id="5"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6" id="6"/>
          <p:cNvGrpSpPr>
            <a:grpSpLocks noChangeAspect="true"/>
          </p:cNvGrpSpPr>
          <p:nvPr/>
        </p:nvGrpSpPr>
        <p:grpSpPr>
          <a:xfrm rot="0">
            <a:off x="13800587" y="338836"/>
            <a:ext cx="1234639" cy="941733"/>
            <a:chOff x="0" y="0"/>
            <a:chExt cx="1646186" cy="1255644"/>
          </a:xfrm>
        </p:grpSpPr>
        <p:sp>
          <p:nvSpPr>
            <p:cNvPr name="Freeform 7" id="7"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8" id="8"/>
          <p:cNvGrpSpPr>
            <a:grpSpLocks noChangeAspect="true"/>
          </p:cNvGrpSpPr>
          <p:nvPr/>
        </p:nvGrpSpPr>
        <p:grpSpPr>
          <a:xfrm rot="0">
            <a:off x="17000025" y="270560"/>
            <a:ext cx="534549" cy="1094670"/>
            <a:chOff x="0" y="0"/>
            <a:chExt cx="712732" cy="1459560"/>
          </a:xfrm>
        </p:grpSpPr>
        <p:sp>
          <p:nvSpPr>
            <p:cNvPr name="Freeform 9" id="9"/>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0" id="10"/>
          <p:cNvGrpSpPr>
            <a:grpSpLocks noChangeAspect="true"/>
          </p:cNvGrpSpPr>
          <p:nvPr/>
        </p:nvGrpSpPr>
        <p:grpSpPr>
          <a:xfrm rot="0">
            <a:off x="12595394" y="338836"/>
            <a:ext cx="1008050" cy="864211"/>
            <a:chOff x="0" y="0"/>
            <a:chExt cx="1344066" cy="1152282"/>
          </a:xfrm>
        </p:grpSpPr>
        <p:sp>
          <p:nvSpPr>
            <p:cNvPr name="Freeform 11" id="11"/>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2" id="12"/>
          <p:cNvGrpSpPr/>
          <p:nvPr/>
        </p:nvGrpSpPr>
        <p:grpSpPr>
          <a:xfrm rot="0">
            <a:off x="-13605" y="9985086"/>
            <a:ext cx="18342351" cy="384878"/>
            <a:chOff x="0" y="0"/>
            <a:chExt cx="24456468" cy="513170"/>
          </a:xfrm>
        </p:grpSpPr>
        <p:sp>
          <p:nvSpPr>
            <p:cNvPr name="Freeform 13" id="13"/>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TextBox 14" id="14"/>
          <p:cNvSpPr txBox="true"/>
          <p:nvPr/>
        </p:nvSpPr>
        <p:spPr>
          <a:xfrm rot="0">
            <a:off x="942231" y="1958340"/>
            <a:ext cx="16317069" cy="3642360"/>
          </a:xfrm>
          <a:prstGeom prst="rect">
            <a:avLst/>
          </a:prstGeom>
        </p:spPr>
        <p:txBody>
          <a:bodyPr anchor="t" rtlCol="false" tIns="0" lIns="0" bIns="0" rIns="0">
            <a:spAutoFit/>
          </a:bodyPr>
          <a:lstStyle/>
          <a:p>
            <a:pPr algn="l">
              <a:lnSpc>
                <a:spcPts val="3600"/>
              </a:lnSpc>
            </a:pPr>
            <a:r>
              <a:rPr lang="en-US" sz="2400" spc="2" b="true">
                <a:solidFill>
                  <a:srgbClr val="4617DE"/>
                </a:solidFill>
                <a:latin typeface="Merriweather Sans Bold"/>
                <a:ea typeface="Merriweather Sans Bold"/>
                <a:cs typeface="Merriweather Sans Bold"/>
                <a:sym typeface="Merriweather Sans Bold"/>
              </a:rPr>
              <a:t>CRITÉRIOS</a:t>
            </a:r>
            <a:r>
              <a:rPr lang="en-US" sz="2400" spc="2" b="true">
                <a:solidFill>
                  <a:srgbClr val="000000"/>
                </a:solidFill>
                <a:latin typeface="Merriweather Sans Bold"/>
                <a:ea typeface="Merriweather Sans Bold"/>
                <a:cs typeface="Merriweather Sans Bold"/>
                <a:sym typeface="Merriweather Sans Bold"/>
              </a:rPr>
              <a:t> </a:t>
            </a:r>
            <a:r>
              <a:rPr lang="en-US" sz="2400" spc="2" b="true">
                <a:solidFill>
                  <a:srgbClr val="4617DE"/>
                </a:solidFill>
                <a:latin typeface="Merriweather Sans Bold"/>
                <a:ea typeface="Merriweather Sans Bold"/>
                <a:cs typeface="Merriweather Sans Bold"/>
                <a:sym typeface="Merriweather Sans Bold"/>
              </a:rPr>
              <a:t>DE</a:t>
            </a:r>
            <a:r>
              <a:rPr lang="en-US" sz="2400" spc="2" b="true">
                <a:solidFill>
                  <a:srgbClr val="000000"/>
                </a:solidFill>
                <a:latin typeface="Merriweather Sans Bold"/>
                <a:ea typeface="Merriweather Sans Bold"/>
                <a:cs typeface="Merriweather Sans Bold"/>
                <a:sym typeface="Merriweather Sans Bold"/>
              </a:rPr>
              <a:t> </a:t>
            </a:r>
            <a:r>
              <a:rPr lang="en-US" sz="2400" spc="2" b="true">
                <a:solidFill>
                  <a:srgbClr val="4617DE"/>
                </a:solidFill>
                <a:latin typeface="Merriweather Sans Bold"/>
                <a:ea typeface="Merriweather Sans Bold"/>
                <a:cs typeface="Merriweather Sans Bold"/>
                <a:sym typeface="Merriweather Sans Bold"/>
              </a:rPr>
              <a:t>QUALIDADE</a:t>
            </a:r>
            <a:r>
              <a:rPr lang="en-US" sz="2400" spc="2">
                <a:solidFill>
                  <a:srgbClr val="000000"/>
                </a:solidFill>
                <a:latin typeface="Merriweather Sans"/>
                <a:ea typeface="Merriweather Sans"/>
                <a:cs typeface="Merriweather Sans"/>
                <a:sym typeface="Merriweather Sans"/>
              </a:rPr>
              <a:t></a:t>
            </a:r>
          </a:p>
          <a:p>
            <a:pPr algn="l">
              <a:lnSpc>
                <a:spcPts val="3600"/>
              </a:lnSpc>
            </a:pPr>
          </a:p>
          <a:p>
            <a:pPr algn="l">
              <a:lnSpc>
                <a:spcPts val="3600"/>
              </a:lnSpc>
            </a:pPr>
            <a:r>
              <a:rPr lang="en-US" sz="2400" spc="3">
                <a:solidFill>
                  <a:srgbClr val="000000"/>
                </a:solidFill>
                <a:latin typeface="Merriweather Sans"/>
                <a:ea typeface="Merriweather Sans"/>
                <a:cs typeface="Merriweather Sans"/>
                <a:sym typeface="Merriweather Sans"/>
              </a:rPr>
              <a:t> • C</a:t>
            </a:r>
            <a:r>
              <a:rPr lang="en-US" sz="2400" spc="3">
                <a:solidFill>
                  <a:srgbClr val="000000"/>
                </a:solidFill>
                <a:latin typeface="Merriweather Sans"/>
                <a:ea typeface="Merriweather Sans"/>
                <a:cs typeface="Merriweather Sans"/>
                <a:sym typeface="Merriweather Sans"/>
              </a:rPr>
              <a:t>ada gravação deve ter duração mínima de 3 segundos e máxima de 60 segundos</a:t>
            </a:r>
          </a:p>
          <a:p>
            <a:pPr algn="l">
              <a:lnSpc>
                <a:spcPts val="3600"/>
              </a:lnSpc>
            </a:pPr>
            <a:r>
              <a:rPr lang="en-US" sz="2400" spc="3">
                <a:solidFill>
                  <a:srgbClr val="000000"/>
                </a:solidFill>
                <a:latin typeface="Merriweather Sans"/>
                <a:ea typeface="Merriweather Sans"/>
                <a:cs typeface="Merriweather Sans"/>
                <a:sym typeface="Merriweather Sans"/>
              </a:rPr>
              <a:t> • Iden</a:t>
            </a:r>
            <a:r>
              <a:rPr lang="en-US" sz="2400" spc="3">
                <a:solidFill>
                  <a:srgbClr val="000000"/>
                </a:solidFill>
                <a:latin typeface="Merriweather Sans"/>
                <a:ea typeface="Merriweather Sans"/>
                <a:cs typeface="Merriweather Sans"/>
                <a:sym typeface="Merriweather Sans"/>
              </a:rPr>
              <a:t>tificação de espécie confirmada por especialistas ou múltiplos observadores</a:t>
            </a:r>
          </a:p>
          <a:p>
            <a:pPr algn="l">
              <a:lnSpc>
                <a:spcPts val="3600"/>
              </a:lnSpc>
            </a:pPr>
            <a:r>
              <a:rPr lang="en-US" sz="2400" spc="3">
                <a:solidFill>
                  <a:srgbClr val="000000"/>
                </a:solidFill>
                <a:latin typeface="Merriweather Sans"/>
                <a:ea typeface="Merriweather Sans"/>
                <a:cs typeface="Merriweather Sans"/>
                <a:sym typeface="Merriweather Sans"/>
              </a:rPr>
              <a:t> • Qu</a:t>
            </a:r>
            <a:r>
              <a:rPr lang="en-US" sz="2400" spc="3">
                <a:solidFill>
                  <a:srgbClr val="000000"/>
                </a:solidFill>
                <a:latin typeface="Merriweather Sans"/>
                <a:ea typeface="Merriweather Sans"/>
                <a:cs typeface="Merriweather Sans"/>
                <a:sym typeface="Merriweather Sans"/>
              </a:rPr>
              <a:t>alidade de áudio deve ser classificada como boa ou excelente (relação sinal-ruído &gt; 10 dB), e os metadados devem incluir localização geográfica, data, hora e tipo de habitat.</a:t>
            </a:r>
          </a:p>
          <a:p>
            <a:pPr algn="l">
              <a:lnSpc>
                <a:spcPts val="3600"/>
              </a:lnSpc>
            </a:pPr>
            <a:r>
              <a:rPr lang="en-US" sz="2400" spc="3">
                <a:solidFill>
                  <a:srgbClr val="000000"/>
                </a:solidFill>
                <a:latin typeface="Merriweather Sans"/>
                <a:ea typeface="Merriweather Sans"/>
                <a:cs typeface="Merriweather Sans"/>
                <a:sym typeface="Merriweather Sans"/>
              </a:rPr>
              <a:t> • Grav</a:t>
            </a:r>
            <a:r>
              <a:rPr lang="en-US" sz="2400" spc="3">
                <a:solidFill>
                  <a:srgbClr val="000000"/>
                </a:solidFill>
                <a:latin typeface="Merriweather Sans"/>
                <a:ea typeface="Merriweather Sans"/>
                <a:cs typeface="Merriweather Sans"/>
                <a:sym typeface="Merriweather Sans"/>
              </a:rPr>
              <a:t>ações de Angola e países vizinhos (Namíbia, Zâmbia, RDC, Congo) serão priorizadas para garantir relevância biogeográfica</a:t>
            </a:r>
          </a:p>
        </p:txBody>
      </p:sp>
      <p:sp>
        <p:nvSpPr>
          <p:cNvPr name="TextBox 15" id="15"/>
          <p:cNvSpPr txBox="true"/>
          <p:nvPr/>
        </p:nvSpPr>
        <p:spPr>
          <a:xfrm rot="0">
            <a:off x="942231" y="6073140"/>
            <a:ext cx="16317069" cy="3185160"/>
          </a:xfrm>
          <a:prstGeom prst="rect">
            <a:avLst/>
          </a:prstGeom>
        </p:spPr>
        <p:txBody>
          <a:bodyPr anchor="t" rtlCol="false" tIns="0" lIns="0" bIns="0" rIns="0">
            <a:spAutoFit/>
          </a:bodyPr>
          <a:lstStyle/>
          <a:p>
            <a:pPr algn="l">
              <a:lnSpc>
                <a:spcPts val="3600"/>
              </a:lnSpc>
            </a:pPr>
            <a:r>
              <a:rPr lang="en-US" sz="2400" spc="3" b="true">
                <a:solidFill>
                  <a:srgbClr val="4617DE"/>
                </a:solidFill>
                <a:latin typeface="Merriweather Sans Bold"/>
                <a:ea typeface="Merriweather Sans Bold"/>
                <a:cs typeface="Merriweather Sans Bold"/>
                <a:sym typeface="Merriweather Sans Bold"/>
              </a:rPr>
              <a:t>PREPARAÇÃO</a:t>
            </a:r>
            <a:r>
              <a:rPr lang="en-US" sz="2400" spc="3" b="true">
                <a:solidFill>
                  <a:srgbClr val="000000"/>
                </a:solidFill>
                <a:latin typeface="Merriweather Sans Bold"/>
                <a:ea typeface="Merriweather Sans Bold"/>
                <a:cs typeface="Merriweather Sans Bold"/>
                <a:sym typeface="Merriweather Sans Bold"/>
              </a:rPr>
              <a:t> </a:t>
            </a:r>
            <a:r>
              <a:rPr lang="en-US" sz="2400" spc="3" b="true">
                <a:solidFill>
                  <a:srgbClr val="4617DE"/>
                </a:solidFill>
                <a:latin typeface="Merriweather Sans Bold"/>
                <a:ea typeface="Merriweather Sans Bold"/>
                <a:cs typeface="Merriweather Sans Bold"/>
                <a:sym typeface="Merriweather Sans Bold"/>
              </a:rPr>
              <a:t>DE</a:t>
            </a:r>
            <a:r>
              <a:rPr lang="en-US" sz="2400" spc="3" b="true">
                <a:solidFill>
                  <a:srgbClr val="000000"/>
                </a:solidFill>
                <a:latin typeface="Merriweather Sans Bold"/>
                <a:ea typeface="Merriweather Sans Bold"/>
                <a:cs typeface="Merriweather Sans Bold"/>
                <a:sym typeface="Merriweather Sans Bold"/>
              </a:rPr>
              <a:t> </a:t>
            </a:r>
            <a:r>
              <a:rPr lang="en-US" sz="2400" spc="3" b="true">
                <a:solidFill>
                  <a:srgbClr val="4617DE"/>
                </a:solidFill>
                <a:latin typeface="Merriweather Sans Bold"/>
                <a:ea typeface="Merriweather Sans Bold"/>
                <a:cs typeface="Merriweather Sans Bold"/>
                <a:sym typeface="Merriweather Sans Bold"/>
              </a:rPr>
              <a:t>DADOS</a:t>
            </a:r>
            <a:r>
              <a:rPr lang="en-US" sz="2400" spc="3" b="true">
                <a:solidFill>
                  <a:srgbClr val="000000"/>
                </a:solidFill>
                <a:latin typeface="Merriweather Sans Bold"/>
                <a:ea typeface="Merriweather Sans Bold"/>
                <a:cs typeface="Merriweather Sans Bold"/>
                <a:sym typeface="Merriweather Sans Bold"/>
              </a:rPr>
              <a:t> (</a:t>
            </a:r>
            <a:r>
              <a:rPr lang="en-US" sz="2400" spc="3" b="true">
                <a:solidFill>
                  <a:srgbClr val="4617DE"/>
                </a:solidFill>
                <a:latin typeface="Merriweather Sans Bold"/>
                <a:ea typeface="Merriweather Sans Bold"/>
                <a:cs typeface="Merriweather Sans Bold"/>
                <a:sym typeface="Merriweather Sans Bold"/>
              </a:rPr>
              <a:t>LIMPEZA</a:t>
            </a:r>
            <a:r>
              <a:rPr lang="en-US" sz="2400" spc="3" b="true">
                <a:solidFill>
                  <a:srgbClr val="000000"/>
                </a:solidFill>
                <a:latin typeface="Merriweather Sans Bold"/>
                <a:ea typeface="Merriweather Sans Bold"/>
                <a:cs typeface="Merriweather Sans Bold"/>
                <a:sym typeface="Merriweather Sans Bold"/>
              </a:rPr>
              <a:t> </a:t>
            </a:r>
            <a:r>
              <a:rPr lang="en-US" sz="2400" spc="3" b="true">
                <a:solidFill>
                  <a:srgbClr val="4617DE"/>
                </a:solidFill>
                <a:latin typeface="Merriweather Sans Bold"/>
                <a:ea typeface="Merriweather Sans Bold"/>
                <a:cs typeface="Merriweather Sans Bold"/>
                <a:sym typeface="Merriweather Sans Bold"/>
              </a:rPr>
              <a:t>E</a:t>
            </a:r>
            <a:r>
              <a:rPr lang="en-US" sz="2400" spc="3" b="true">
                <a:solidFill>
                  <a:srgbClr val="000000"/>
                </a:solidFill>
                <a:latin typeface="Merriweather Sans Bold"/>
                <a:ea typeface="Merriweather Sans Bold"/>
                <a:cs typeface="Merriweather Sans Bold"/>
                <a:sym typeface="Merriweather Sans Bold"/>
              </a:rPr>
              <a:t> </a:t>
            </a:r>
            <a:r>
              <a:rPr lang="en-US" sz="2400" spc="3" b="true">
                <a:solidFill>
                  <a:srgbClr val="4617DE"/>
                </a:solidFill>
                <a:latin typeface="Merriweather Sans Bold"/>
                <a:ea typeface="Merriweather Sans Bold"/>
                <a:cs typeface="Merriweather Sans Bold"/>
                <a:sym typeface="Merriweather Sans Bold"/>
              </a:rPr>
              <a:t>VALIDAÇÃO)</a:t>
            </a:r>
          </a:p>
          <a:p>
            <a:pPr algn="l">
              <a:lnSpc>
                <a:spcPts val="3600"/>
              </a:lnSpc>
            </a:pPr>
            <a:r>
              <a:rPr lang="en-US" sz="2400" spc="3">
                <a:solidFill>
                  <a:srgbClr val="000000"/>
                </a:solidFill>
                <a:latin typeface="Merriweather Sans"/>
                <a:ea typeface="Merriweather Sans"/>
                <a:cs typeface="Merriweather Sans"/>
                <a:sym typeface="Merriweather Sans"/>
              </a:rPr>
              <a:t>• Re</a:t>
            </a:r>
            <a:r>
              <a:rPr lang="en-US" sz="2400" spc="3">
                <a:solidFill>
                  <a:srgbClr val="000000"/>
                </a:solidFill>
                <a:latin typeface="Merriweather Sans"/>
                <a:ea typeface="Merriweather Sans"/>
                <a:cs typeface="Merriweather Sans"/>
                <a:sym typeface="Merriweather Sans"/>
              </a:rPr>
              <a:t>moção de gravações duplicadas através de hashing de áudio e validação da correspondência </a:t>
            </a:r>
          </a:p>
          <a:p>
            <a:pPr algn="l">
              <a:lnSpc>
                <a:spcPts val="3600"/>
              </a:lnSpc>
            </a:pPr>
            <a:r>
              <a:rPr lang="en-US" sz="2400" spc="3">
                <a:solidFill>
                  <a:srgbClr val="000000"/>
                </a:solidFill>
                <a:latin typeface="Merriweather Sans"/>
                <a:ea typeface="Merriweather Sans"/>
                <a:cs typeface="Merriweather Sans"/>
                <a:sym typeface="Merriweather Sans"/>
              </a:rPr>
              <a:t>entre metadados e conteúdo de áudio.</a:t>
            </a:r>
          </a:p>
          <a:p>
            <a:pPr algn="l">
              <a:lnSpc>
                <a:spcPts val="3600"/>
              </a:lnSpc>
            </a:pPr>
            <a:r>
              <a:rPr lang="en-US" sz="2400" spc="3">
                <a:solidFill>
                  <a:srgbClr val="000000"/>
                </a:solidFill>
                <a:latin typeface="Merriweather Sans"/>
                <a:ea typeface="Merriweather Sans"/>
                <a:cs typeface="Merriweather Sans"/>
                <a:sym typeface="Merriweather Sans"/>
              </a:rPr>
              <a:t> • Id</a:t>
            </a:r>
            <a:r>
              <a:rPr lang="en-US" sz="2400" spc="3">
                <a:solidFill>
                  <a:srgbClr val="000000"/>
                </a:solidFill>
                <a:latin typeface="Merriweather Sans"/>
                <a:ea typeface="Merriweather Sans"/>
                <a:cs typeface="Merriweather Sans"/>
                <a:sym typeface="Merriweather Sans"/>
              </a:rPr>
              <a:t>entificação e correção de inconsistências taxonómicas, utilizando a nomenclatura científica padrão da IOC World Bird List.</a:t>
            </a:r>
          </a:p>
          <a:p>
            <a:pPr algn="l">
              <a:lnSpc>
                <a:spcPts val="3600"/>
              </a:lnSpc>
            </a:pPr>
            <a:r>
              <a:rPr lang="en-US" sz="2400" spc="3">
                <a:solidFill>
                  <a:srgbClr val="000000"/>
                </a:solidFill>
                <a:latin typeface="Merriweather Sans"/>
                <a:ea typeface="Merriweather Sans"/>
                <a:cs typeface="Merriweather Sans"/>
                <a:sym typeface="Merriweather Sans"/>
              </a:rPr>
              <a:t> • Fi</a:t>
            </a:r>
            <a:r>
              <a:rPr lang="en-US" sz="2400" spc="3">
                <a:solidFill>
                  <a:srgbClr val="000000"/>
                </a:solidFill>
                <a:latin typeface="Merriweather Sans"/>
                <a:ea typeface="Merriweather Sans"/>
                <a:cs typeface="Merriweather Sans"/>
                <a:sym typeface="Merriweather Sans"/>
              </a:rPr>
              <a:t>ltro de gravações com ruído excessivo (tráfego, vento, interferência humana) através de análise espectral </a:t>
            </a:r>
          </a:p>
          <a:p>
            <a:pPr algn="l">
              <a:lnSpc>
                <a:spcPts val="3600"/>
              </a:lnSpc>
            </a:pPr>
            <a:r>
              <a:rPr lang="en-US" sz="2400" spc="3">
                <a:solidFill>
                  <a:srgbClr val="000000"/>
                </a:solidFill>
                <a:latin typeface="Merriweather Sans"/>
                <a:ea typeface="Merriweather Sans"/>
                <a:cs typeface="Merriweather Sans"/>
                <a:sym typeface="Merriweather Sans"/>
              </a:rPr>
              <a:t>automatizada e revisão manual.</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2956" y="744174"/>
            <a:ext cx="2921214" cy="248720"/>
            <a:chOff x="0" y="0"/>
            <a:chExt cx="3894952" cy="331626"/>
          </a:xfrm>
        </p:grpSpPr>
        <p:sp>
          <p:nvSpPr>
            <p:cNvPr name="Freeform 3" id="3"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4" id="4"/>
          <p:cNvGrpSpPr>
            <a:grpSpLocks noChangeAspect="true"/>
          </p:cNvGrpSpPr>
          <p:nvPr/>
        </p:nvGrpSpPr>
        <p:grpSpPr>
          <a:xfrm rot="0">
            <a:off x="15222434" y="427439"/>
            <a:ext cx="1580448" cy="780909"/>
            <a:chOff x="0" y="0"/>
            <a:chExt cx="2107264" cy="1041212"/>
          </a:xfrm>
        </p:grpSpPr>
        <p:sp>
          <p:nvSpPr>
            <p:cNvPr name="Freeform 5" id="5"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6" id="6"/>
          <p:cNvGrpSpPr>
            <a:grpSpLocks noChangeAspect="true"/>
          </p:cNvGrpSpPr>
          <p:nvPr/>
        </p:nvGrpSpPr>
        <p:grpSpPr>
          <a:xfrm rot="0">
            <a:off x="13800587" y="338836"/>
            <a:ext cx="1234639" cy="941733"/>
            <a:chOff x="0" y="0"/>
            <a:chExt cx="1646186" cy="1255644"/>
          </a:xfrm>
        </p:grpSpPr>
        <p:sp>
          <p:nvSpPr>
            <p:cNvPr name="Freeform 7" id="7"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8" id="8"/>
          <p:cNvGrpSpPr>
            <a:grpSpLocks noChangeAspect="true"/>
          </p:cNvGrpSpPr>
          <p:nvPr/>
        </p:nvGrpSpPr>
        <p:grpSpPr>
          <a:xfrm rot="0">
            <a:off x="17000025" y="270560"/>
            <a:ext cx="534549" cy="1094670"/>
            <a:chOff x="0" y="0"/>
            <a:chExt cx="712732" cy="1459560"/>
          </a:xfrm>
        </p:grpSpPr>
        <p:sp>
          <p:nvSpPr>
            <p:cNvPr name="Freeform 9" id="9"/>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0" id="10"/>
          <p:cNvGrpSpPr>
            <a:grpSpLocks noChangeAspect="true"/>
          </p:cNvGrpSpPr>
          <p:nvPr/>
        </p:nvGrpSpPr>
        <p:grpSpPr>
          <a:xfrm rot="0">
            <a:off x="12595394" y="338836"/>
            <a:ext cx="1008050" cy="864211"/>
            <a:chOff x="0" y="0"/>
            <a:chExt cx="1344066" cy="1152282"/>
          </a:xfrm>
        </p:grpSpPr>
        <p:sp>
          <p:nvSpPr>
            <p:cNvPr name="Freeform 11" id="11"/>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2" id="12"/>
          <p:cNvGrpSpPr/>
          <p:nvPr/>
        </p:nvGrpSpPr>
        <p:grpSpPr>
          <a:xfrm rot="0">
            <a:off x="-13605" y="9985086"/>
            <a:ext cx="18342351" cy="384878"/>
            <a:chOff x="0" y="0"/>
            <a:chExt cx="24456468" cy="513170"/>
          </a:xfrm>
        </p:grpSpPr>
        <p:sp>
          <p:nvSpPr>
            <p:cNvPr name="Freeform 13" id="13"/>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TextBox 14" id="14"/>
          <p:cNvSpPr txBox="true"/>
          <p:nvPr/>
        </p:nvSpPr>
        <p:spPr>
          <a:xfrm rot="0">
            <a:off x="1028700" y="1958340"/>
            <a:ext cx="15971325" cy="3642360"/>
          </a:xfrm>
          <a:prstGeom prst="rect">
            <a:avLst/>
          </a:prstGeom>
        </p:spPr>
        <p:txBody>
          <a:bodyPr anchor="t" rtlCol="false" tIns="0" lIns="0" bIns="0" rIns="0">
            <a:spAutoFit/>
          </a:bodyPr>
          <a:lstStyle/>
          <a:p>
            <a:pPr algn="l">
              <a:lnSpc>
                <a:spcPts val="3600"/>
              </a:lnSpc>
            </a:pPr>
            <a:r>
              <a:rPr lang="en-US" sz="2400" spc="2" b="true">
                <a:solidFill>
                  <a:srgbClr val="4617DE"/>
                </a:solidFill>
                <a:latin typeface="Merriweather Sans Bold"/>
                <a:ea typeface="Merriweather Sans Bold"/>
                <a:cs typeface="Merriweather Sans Bold"/>
                <a:sym typeface="Merriweather Sans Bold"/>
              </a:rPr>
              <a:t>AUMENTO DE</a:t>
            </a:r>
            <a:r>
              <a:rPr lang="en-US" sz="2400" spc="2" b="true">
                <a:solidFill>
                  <a:srgbClr val="000000"/>
                </a:solidFill>
                <a:latin typeface="Merriweather Sans Bold"/>
                <a:ea typeface="Merriweather Sans Bold"/>
                <a:cs typeface="Merriweather Sans Bold"/>
                <a:sym typeface="Merriweather Sans Bold"/>
              </a:rPr>
              <a:t> </a:t>
            </a:r>
            <a:r>
              <a:rPr lang="en-US" sz="2400" spc="2" b="true">
                <a:solidFill>
                  <a:srgbClr val="4617DE"/>
                </a:solidFill>
                <a:latin typeface="Merriweather Sans Bold"/>
                <a:ea typeface="Merriweather Sans Bold"/>
                <a:cs typeface="Merriweather Sans Bold"/>
                <a:sym typeface="Merriweather Sans Bold"/>
              </a:rPr>
              <a:t>DADOS</a:t>
            </a:r>
            <a:r>
              <a:rPr lang="en-US" sz="2400" spc="2">
                <a:solidFill>
                  <a:srgbClr val="4617DE"/>
                </a:solidFill>
                <a:latin typeface="Merriweather Sans"/>
                <a:ea typeface="Merriweather Sans"/>
                <a:cs typeface="Merriweather Sans"/>
                <a:sym typeface="Merriweather Sans"/>
              </a:rPr>
              <a:t> (</a:t>
            </a:r>
            <a:r>
              <a:rPr lang="en-US" sz="2400" spc="2" b="true">
                <a:solidFill>
                  <a:srgbClr val="4617DE"/>
                </a:solidFill>
                <a:latin typeface="Merriweather Sans Bold"/>
                <a:ea typeface="Merriweather Sans Bold"/>
                <a:cs typeface="Merriweather Sans Bold"/>
                <a:sym typeface="Merriweather Sans Bold"/>
              </a:rPr>
              <a:t>DATA</a:t>
            </a:r>
            <a:r>
              <a:rPr lang="en-US" sz="2400" spc="2">
                <a:solidFill>
                  <a:srgbClr val="4617DE"/>
                </a:solidFill>
                <a:latin typeface="Merriweather Sans"/>
                <a:ea typeface="Merriweather Sans"/>
                <a:cs typeface="Merriweather Sans"/>
                <a:sym typeface="Merriweather Sans"/>
              </a:rPr>
              <a:t> </a:t>
            </a:r>
            <a:r>
              <a:rPr lang="en-US" sz="2400" spc="2" b="true">
                <a:solidFill>
                  <a:srgbClr val="4617DE"/>
                </a:solidFill>
                <a:latin typeface="Merriweather Sans Bold"/>
                <a:ea typeface="Merriweather Sans Bold"/>
                <a:cs typeface="Merriweather Sans Bold"/>
                <a:sym typeface="Merriweather Sans Bold"/>
              </a:rPr>
              <a:t>AUGMENTATION</a:t>
            </a:r>
            <a:r>
              <a:rPr lang="en-US" sz="2400" spc="2">
                <a:solidFill>
                  <a:srgbClr val="000000"/>
                </a:solidFill>
                <a:latin typeface="Merriweather Sans"/>
                <a:ea typeface="Merriweather Sans"/>
                <a:cs typeface="Merriweather Sans"/>
                <a:sym typeface="Merriweather Sans"/>
              </a:rPr>
              <a:t>)</a:t>
            </a:r>
          </a:p>
          <a:p>
            <a:pPr algn="l">
              <a:lnSpc>
                <a:spcPts val="3600"/>
              </a:lnSpc>
            </a:pPr>
          </a:p>
          <a:p>
            <a:pPr algn="l">
              <a:lnSpc>
                <a:spcPts val="3600"/>
              </a:lnSpc>
            </a:pPr>
            <a:r>
              <a:rPr lang="en-US" sz="2400" spc="2">
                <a:solidFill>
                  <a:srgbClr val="000000"/>
                </a:solidFill>
                <a:latin typeface="Merriweather Sans"/>
                <a:ea typeface="Merriweather Sans"/>
                <a:cs typeface="Merriweather Sans"/>
                <a:sym typeface="Merriweather Sans"/>
              </a:rPr>
              <a:t> • Aplicação de técnicas de aumento de dados durante o treino para elevar a </a:t>
            </a:r>
            <a:r>
              <a:rPr lang="en-US" sz="2400" spc="2">
                <a:solidFill>
                  <a:srgbClr val="000000"/>
                </a:solidFill>
                <a:latin typeface="Merriweather Sans"/>
                <a:ea typeface="Merriweather Sans"/>
                <a:cs typeface="Merriweather Sans"/>
                <a:sym typeface="Merriweather Sans"/>
              </a:rPr>
              <a:t>robustez dos modelos e compensar o desequilíbrio de classes, estas técnicas incluem :</a:t>
            </a:r>
          </a:p>
          <a:p>
            <a:pPr algn="l">
              <a:lnSpc>
                <a:spcPts val="3600"/>
              </a:lnSpc>
            </a:pPr>
            <a:r>
              <a:rPr lang="en-US" sz="2400" spc="2">
                <a:solidFill>
                  <a:srgbClr val="000000"/>
                </a:solidFill>
                <a:latin typeface="Merriweather Sans"/>
                <a:ea typeface="Merriweather Sans"/>
                <a:cs typeface="Merriweather Sans"/>
                <a:sym typeface="Merriweather Sans"/>
              </a:rPr>
              <a:t>      • </a:t>
            </a:r>
            <a:r>
              <a:rPr lang="en-US" sz="2400" spc="2" b="true">
                <a:solidFill>
                  <a:srgbClr val="000000"/>
                </a:solidFill>
                <a:latin typeface="Merriweather Sans Bold"/>
                <a:ea typeface="Merriweather Sans Bold"/>
                <a:cs typeface="Merriweather Sans Bold"/>
                <a:sym typeface="Merriweather Sans Bold"/>
              </a:rPr>
              <a:t>TIME</a:t>
            </a:r>
            <a:r>
              <a:rPr lang="en-US" sz="2400" spc="2">
                <a:solidFill>
                  <a:srgbClr val="000000"/>
                </a:solidFill>
                <a:latin typeface="Merriweather Sans"/>
                <a:ea typeface="Merriweather Sans"/>
                <a:cs typeface="Merriweather Sans"/>
                <a:sym typeface="Merriweather Sans"/>
              </a:rPr>
              <a:t> </a:t>
            </a:r>
            <a:r>
              <a:rPr lang="en-US" sz="2400" spc="2" b="true">
                <a:solidFill>
                  <a:srgbClr val="000000"/>
                </a:solidFill>
                <a:latin typeface="Merriweather Sans Bold"/>
                <a:ea typeface="Merriweather Sans Bold"/>
                <a:cs typeface="Merriweather Sans Bold"/>
                <a:sym typeface="Merriweather Sans Bold"/>
              </a:rPr>
              <a:t>STRETCHING</a:t>
            </a:r>
          </a:p>
          <a:p>
            <a:pPr algn="l">
              <a:lnSpc>
                <a:spcPts val="3600"/>
              </a:lnSpc>
            </a:pPr>
            <a:r>
              <a:rPr lang="en-US" sz="2400" spc="2">
                <a:solidFill>
                  <a:srgbClr val="000000"/>
                </a:solidFill>
                <a:latin typeface="Merriweather Sans"/>
                <a:ea typeface="Merriweather Sans"/>
                <a:cs typeface="Merriweather Sans"/>
                <a:sym typeface="Merriweather Sans"/>
              </a:rPr>
              <a:t>      • </a:t>
            </a:r>
            <a:r>
              <a:rPr lang="en-US" sz="2400" spc="2" b="true">
                <a:solidFill>
                  <a:srgbClr val="000000"/>
                </a:solidFill>
                <a:latin typeface="Merriweather Sans Bold"/>
                <a:ea typeface="Merriweather Sans Bold"/>
                <a:cs typeface="Merriweather Sans Bold"/>
                <a:sym typeface="Merriweather Sans Bold"/>
              </a:rPr>
              <a:t>PITCH</a:t>
            </a:r>
            <a:r>
              <a:rPr lang="en-US" sz="2400" spc="2">
                <a:solidFill>
                  <a:srgbClr val="000000"/>
                </a:solidFill>
                <a:latin typeface="Merriweather Sans"/>
                <a:ea typeface="Merriweather Sans"/>
                <a:cs typeface="Merriweather Sans"/>
                <a:sym typeface="Merriweather Sans"/>
              </a:rPr>
              <a:t> </a:t>
            </a:r>
            <a:r>
              <a:rPr lang="en-US" sz="2400" spc="2" b="true">
                <a:solidFill>
                  <a:srgbClr val="000000"/>
                </a:solidFill>
                <a:latin typeface="Merriweather Sans Bold"/>
                <a:ea typeface="Merriweather Sans Bold"/>
                <a:cs typeface="Merriweather Sans Bold"/>
                <a:sym typeface="Merriweather Sans Bold"/>
              </a:rPr>
              <a:t>SHIFTING</a:t>
            </a:r>
            <a:r>
              <a:rPr lang="en-US" sz="2400" spc="2">
                <a:solidFill>
                  <a:srgbClr val="000000"/>
                </a:solidFill>
                <a:latin typeface="Merriweather Sans"/>
                <a:ea typeface="Merriweather Sans"/>
                <a:cs typeface="Merriweather Sans"/>
                <a:sym typeface="Merriweather Sans"/>
              </a:rPr>
              <a:t> </a:t>
            </a:r>
          </a:p>
          <a:p>
            <a:pPr algn="l">
              <a:lnSpc>
                <a:spcPts val="3600"/>
              </a:lnSpc>
            </a:pPr>
            <a:r>
              <a:rPr lang="en-US" sz="2400" spc="2">
                <a:solidFill>
                  <a:srgbClr val="000000"/>
                </a:solidFill>
                <a:latin typeface="Merriweather Sans"/>
                <a:ea typeface="Merriweather Sans"/>
                <a:cs typeface="Merriweather Sans"/>
                <a:sym typeface="Merriweather Sans"/>
              </a:rPr>
              <a:t>      • </a:t>
            </a:r>
            <a:r>
              <a:rPr lang="en-US" sz="2400" spc="2" b="true">
                <a:solidFill>
                  <a:srgbClr val="000000"/>
                </a:solidFill>
                <a:latin typeface="Merriweather Sans Bold"/>
                <a:ea typeface="Merriweather Sans Bold"/>
                <a:cs typeface="Merriweather Sans Bold"/>
                <a:sym typeface="Merriweather Sans Bold"/>
              </a:rPr>
              <a:t>TIME</a:t>
            </a:r>
            <a:r>
              <a:rPr lang="en-US" sz="2400" spc="2">
                <a:solidFill>
                  <a:srgbClr val="000000"/>
                </a:solidFill>
                <a:latin typeface="Merriweather Sans"/>
                <a:ea typeface="Merriweather Sans"/>
                <a:cs typeface="Merriweather Sans"/>
                <a:sym typeface="Merriweather Sans"/>
              </a:rPr>
              <a:t> </a:t>
            </a:r>
            <a:r>
              <a:rPr lang="en-US" sz="2400" spc="2" b="true">
                <a:solidFill>
                  <a:srgbClr val="000000"/>
                </a:solidFill>
                <a:latin typeface="Merriweather Sans Bold"/>
                <a:ea typeface="Merriweather Sans Bold"/>
                <a:cs typeface="Merriweather Sans Bold"/>
                <a:sym typeface="Merriweather Sans Bold"/>
              </a:rPr>
              <a:t>MASKING</a:t>
            </a:r>
          </a:p>
          <a:p>
            <a:pPr algn="l">
              <a:lnSpc>
                <a:spcPts val="3600"/>
              </a:lnSpc>
            </a:pPr>
            <a:r>
              <a:rPr lang="en-US" sz="2400" spc="3">
                <a:solidFill>
                  <a:srgbClr val="000000"/>
                </a:solidFill>
                <a:latin typeface="Merriweather Sans"/>
                <a:ea typeface="Merriweather Sans"/>
                <a:cs typeface="Merriweather Sans"/>
                <a:sym typeface="Merriweather Sans"/>
              </a:rPr>
              <a:t>      • </a:t>
            </a:r>
            <a:r>
              <a:rPr lang="en-US" sz="2400" spc="3" b="true">
                <a:solidFill>
                  <a:srgbClr val="000000"/>
                </a:solidFill>
                <a:latin typeface="Merriweather Sans Bold"/>
                <a:ea typeface="Merriweather Sans Bold"/>
                <a:cs typeface="Merriweather Sans Bold"/>
                <a:sym typeface="Merriweather Sans Bold"/>
              </a:rPr>
              <a:t>FRE</a:t>
            </a:r>
            <a:r>
              <a:rPr lang="en-US" sz="2400" spc="3" b="true">
                <a:solidFill>
                  <a:srgbClr val="000000"/>
                </a:solidFill>
                <a:latin typeface="Merriweather Sans Bold"/>
                <a:ea typeface="Merriweather Sans Bold"/>
                <a:cs typeface="Merriweather Sans Bold"/>
                <a:sym typeface="Merriweather Sans Bold"/>
              </a:rPr>
              <a:t>QUENCY</a:t>
            </a:r>
            <a:r>
              <a:rPr lang="en-US" sz="2400" spc="3">
                <a:solidFill>
                  <a:srgbClr val="000000"/>
                </a:solidFill>
                <a:latin typeface="Merriweather Sans"/>
                <a:ea typeface="Merriweather Sans"/>
                <a:cs typeface="Merriweather Sans"/>
                <a:sym typeface="Merriweather Sans"/>
              </a:rPr>
              <a:t> </a:t>
            </a:r>
            <a:r>
              <a:rPr lang="en-US" sz="2400" spc="3" b="true">
                <a:solidFill>
                  <a:srgbClr val="000000"/>
                </a:solidFill>
                <a:latin typeface="Merriweather Sans Bold"/>
                <a:ea typeface="Merriweather Sans Bold"/>
                <a:cs typeface="Merriweather Sans Bold"/>
                <a:sym typeface="Merriweather Sans Bold"/>
              </a:rPr>
              <a:t>MASKING</a:t>
            </a:r>
            <a:r>
              <a:rPr lang="en-US" sz="2400" spc="3">
                <a:solidFill>
                  <a:srgbClr val="000000"/>
                </a:solidFill>
                <a:latin typeface="Merriweather Sans"/>
                <a:ea typeface="Merriweather Sans"/>
                <a:cs typeface="Merriweather Sans"/>
                <a:sym typeface="Merriweather Sans"/>
              </a:rPr>
              <a:t> </a:t>
            </a:r>
          </a:p>
        </p:txBody>
      </p:sp>
      <p:sp>
        <p:nvSpPr>
          <p:cNvPr name="TextBox 15" id="15"/>
          <p:cNvSpPr txBox="true"/>
          <p:nvPr/>
        </p:nvSpPr>
        <p:spPr>
          <a:xfrm rot="0">
            <a:off x="1028700" y="6353175"/>
            <a:ext cx="14997562" cy="2727960"/>
          </a:xfrm>
          <a:prstGeom prst="rect">
            <a:avLst/>
          </a:prstGeom>
        </p:spPr>
        <p:txBody>
          <a:bodyPr anchor="t" rtlCol="false" tIns="0" lIns="0" bIns="0" rIns="0">
            <a:spAutoFit/>
          </a:bodyPr>
          <a:lstStyle/>
          <a:p>
            <a:pPr algn="l">
              <a:lnSpc>
                <a:spcPts val="3600"/>
              </a:lnSpc>
            </a:pPr>
            <a:r>
              <a:rPr lang="en-US" sz="2400" spc="3" b="true">
                <a:solidFill>
                  <a:srgbClr val="4617DE"/>
                </a:solidFill>
                <a:latin typeface="Merriweather Sans Bold"/>
                <a:ea typeface="Merriweather Sans Bold"/>
                <a:cs typeface="Merriweather Sans Bold"/>
                <a:sym typeface="Merriweather Sans Bold"/>
              </a:rPr>
              <a:t>DIVISÃO</a:t>
            </a:r>
            <a:r>
              <a:rPr lang="en-US" sz="2400" spc="3">
                <a:solidFill>
                  <a:srgbClr val="000000"/>
                </a:solidFill>
                <a:latin typeface="Merriweather Sans"/>
                <a:ea typeface="Merriweather Sans"/>
                <a:cs typeface="Merriweather Sans"/>
                <a:sym typeface="Merriweather Sans"/>
              </a:rPr>
              <a:t> </a:t>
            </a:r>
            <a:r>
              <a:rPr lang="en-US" sz="2400" spc="3" b="true">
                <a:solidFill>
                  <a:srgbClr val="4617DE"/>
                </a:solidFill>
                <a:latin typeface="Merriweather Sans Bold"/>
                <a:ea typeface="Merriweather Sans Bold"/>
                <a:cs typeface="Merriweather Sans Bold"/>
                <a:sym typeface="Merriweather Sans Bold"/>
              </a:rPr>
              <a:t>DE</a:t>
            </a:r>
            <a:r>
              <a:rPr lang="en-US" sz="2400" spc="3">
                <a:solidFill>
                  <a:srgbClr val="000000"/>
                </a:solidFill>
                <a:latin typeface="Merriweather Sans"/>
                <a:ea typeface="Merriweather Sans"/>
                <a:cs typeface="Merriweather Sans"/>
                <a:sym typeface="Merriweather Sans"/>
              </a:rPr>
              <a:t> </a:t>
            </a:r>
            <a:r>
              <a:rPr lang="en-US" sz="2400" spc="3" b="true">
                <a:solidFill>
                  <a:srgbClr val="4617DE"/>
                </a:solidFill>
                <a:latin typeface="Merriweather Sans Bold"/>
                <a:ea typeface="Merriweather Sans Bold"/>
                <a:cs typeface="Merriweather Sans Bold"/>
                <a:sym typeface="Merriweather Sans Bold"/>
              </a:rPr>
              <a:t>DADOS</a:t>
            </a:r>
            <a:r>
              <a:rPr lang="en-US" sz="2400" spc="3">
                <a:solidFill>
                  <a:srgbClr val="000000"/>
                </a:solidFill>
                <a:latin typeface="Merriweather Sans"/>
                <a:ea typeface="Merriweather Sans"/>
                <a:cs typeface="Merriweather Sans"/>
                <a:sym typeface="Merriweather Sans"/>
              </a:rPr>
              <a:t> </a:t>
            </a:r>
          </a:p>
          <a:p>
            <a:pPr algn="l">
              <a:lnSpc>
                <a:spcPts val="3600"/>
              </a:lnSpc>
            </a:pPr>
            <a:r>
              <a:rPr lang="en-US" sz="2400" spc="2">
                <a:solidFill>
                  <a:srgbClr val="000000"/>
                </a:solidFill>
                <a:latin typeface="Merriweather Sans"/>
                <a:ea typeface="Merriweather Sans"/>
                <a:cs typeface="Merriweather Sans"/>
                <a:sym typeface="Merriweather Sans"/>
              </a:rPr>
              <a:t>• </a:t>
            </a:r>
            <a:r>
              <a:rPr lang="en-US" sz="2400" spc="2">
                <a:solidFill>
                  <a:srgbClr val="000000"/>
                </a:solidFill>
                <a:latin typeface="Merriweather Sans"/>
                <a:ea typeface="Merriweather Sans"/>
                <a:cs typeface="Merriweather Sans"/>
                <a:sym typeface="Merriweather Sans"/>
              </a:rPr>
              <a:t>70% dos dados para treino, 15% para validação (ajuste dehiperparâmetros e early stopping) e 15% para teste (avaliação final do modelo). A divisão é estratificada por espécie e tipo de vocalização, garantindo que todas as classes estejam representadas em cada conjunto. </a:t>
            </a:r>
          </a:p>
          <a:p>
            <a:pPr algn="l">
              <a:lnSpc>
                <a:spcPts val="3600"/>
              </a:lnSpc>
            </a:pPr>
            <a:r>
              <a:rPr lang="en-US" sz="2400" spc="3">
                <a:solidFill>
                  <a:srgbClr val="000000"/>
                </a:solidFill>
                <a:latin typeface="Merriweather Sans"/>
                <a:ea typeface="Merriweather Sans"/>
                <a:cs typeface="Merriweather Sans"/>
                <a:sym typeface="Merriweather Sans"/>
              </a:rPr>
              <a:t>• </a:t>
            </a:r>
            <a:r>
              <a:rPr lang="en-US" sz="2400" spc="3" b="true">
                <a:solidFill>
                  <a:srgbClr val="4617DE"/>
                </a:solidFill>
                <a:latin typeface="Merriweather Sans Bold"/>
                <a:ea typeface="Merriweather Sans Bold"/>
                <a:cs typeface="Merriweather Sans Bold"/>
                <a:sym typeface="Merriweather Sans Bold"/>
              </a:rPr>
              <a:t>VALIDAÇÃO</a:t>
            </a:r>
            <a:r>
              <a:rPr lang="en-US" sz="2400" spc="3">
                <a:solidFill>
                  <a:srgbClr val="000000"/>
                </a:solidFill>
                <a:latin typeface="Merriweather Sans"/>
                <a:ea typeface="Merriweather Sans"/>
                <a:cs typeface="Merriweather Sans"/>
                <a:sym typeface="Merriweather Sans"/>
              </a:rPr>
              <a:t> </a:t>
            </a:r>
            <a:r>
              <a:rPr lang="en-US" sz="2400" spc="3" b="true">
                <a:solidFill>
                  <a:srgbClr val="4617DE"/>
                </a:solidFill>
                <a:latin typeface="Merriweather Sans Bold"/>
                <a:ea typeface="Merriweather Sans Bold"/>
                <a:cs typeface="Merriweather Sans Bold"/>
                <a:sym typeface="Merriweather Sans Bold"/>
              </a:rPr>
              <a:t>CRUZADA</a:t>
            </a:r>
            <a:r>
              <a:rPr lang="en-US" sz="2400" spc="3">
                <a:solidFill>
                  <a:srgbClr val="000000"/>
                </a:solidFill>
                <a:latin typeface="Merriweather Sans"/>
                <a:ea typeface="Merriweather Sans"/>
                <a:cs typeface="Merriweather Sans"/>
                <a:sym typeface="Merriweather Sans"/>
              </a:rPr>
              <a:t> </a:t>
            </a:r>
            <a:r>
              <a:rPr lang="en-US" sz="2400" spc="3" b="true">
                <a:solidFill>
                  <a:srgbClr val="4617DE"/>
                </a:solidFill>
                <a:latin typeface="Merriweather Sans Bold"/>
                <a:ea typeface="Merriweather Sans Bold"/>
                <a:cs typeface="Merriweather Sans Bold"/>
                <a:sym typeface="Merriweather Sans Bold"/>
              </a:rPr>
              <a:t>K</a:t>
            </a:r>
            <a:r>
              <a:rPr lang="en-US" sz="2400" spc="3" b="true">
                <a:solidFill>
                  <a:srgbClr val="000000"/>
                </a:solidFill>
                <a:latin typeface="Merriweather Sans Bold"/>
                <a:ea typeface="Merriweather Sans Bold"/>
                <a:cs typeface="Merriweather Sans Bold"/>
                <a:sym typeface="Merriweather Sans Bold"/>
              </a:rPr>
              <a:t>-</a:t>
            </a:r>
            <a:r>
              <a:rPr lang="en-US" sz="2400" spc="3" b="true">
                <a:solidFill>
                  <a:srgbClr val="4617DE"/>
                </a:solidFill>
                <a:latin typeface="Merriweather Sans Bold"/>
                <a:ea typeface="Merriweather Sans Bold"/>
                <a:cs typeface="Merriweather Sans Bold"/>
                <a:sym typeface="Merriweather Sans Bold"/>
              </a:rPr>
              <a:t>FOLD</a:t>
            </a:r>
            <a:r>
              <a:rPr lang="en-US" sz="2400" spc="3" b="true">
                <a:solidFill>
                  <a:srgbClr val="000000"/>
                </a:solidFill>
                <a:latin typeface="Merriweather Sans Bold"/>
                <a:ea typeface="Merriweather Sans Bold"/>
                <a:cs typeface="Merriweather Sans Bold"/>
                <a:sym typeface="Merriweather Sans Bold"/>
              </a:rPr>
              <a:t>(</a:t>
            </a:r>
            <a:r>
              <a:rPr lang="en-US" sz="2400" spc="3" b="true">
                <a:solidFill>
                  <a:srgbClr val="4617DE"/>
                </a:solidFill>
                <a:latin typeface="Merriweather Sans Bold"/>
                <a:ea typeface="Merriweather Sans Bold"/>
                <a:cs typeface="Merriweather Sans Bold"/>
                <a:sym typeface="Merriweather Sans Bold"/>
              </a:rPr>
              <a:t>K</a:t>
            </a:r>
            <a:r>
              <a:rPr lang="en-US" sz="2400" spc="3" b="true">
                <a:solidFill>
                  <a:srgbClr val="4617DE"/>
                </a:solidFill>
                <a:latin typeface="Merriweather Sans Bold"/>
                <a:ea typeface="Merriweather Sans Bold"/>
                <a:cs typeface="Merriweather Sans Bold"/>
                <a:sym typeface="Merriweather Sans Bold"/>
              </a:rPr>
              <a:t>=5</a:t>
            </a:r>
            <a:r>
              <a:rPr lang="en-US" sz="2400" spc="3" b="true">
                <a:solidFill>
                  <a:srgbClr val="000000"/>
                </a:solidFill>
                <a:latin typeface="Merriweather Sans Bold"/>
                <a:ea typeface="Merriweather Sans Bold"/>
                <a:cs typeface="Merriweather Sans Bold"/>
                <a:sym typeface="Merriweather Sans Bold"/>
              </a:rPr>
              <a:t>) </a:t>
            </a:r>
            <a:r>
              <a:rPr lang="en-US" sz="2400" spc="3">
                <a:solidFill>
                  <a:srgbClr val="000000"/>
                </a:solidFill>
                <a:latin typeface="Merriweather Sans"/>
                <a:ea typeface="Merriweather Sans"/>
                <a:cs typeface="Merriweather Sans"/>
                <a:sym typeface="Merriweather Sans"/>
              </a:rPr>
              <a:t>para avaliação mais robusta do desempenho.</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2956" y="744174"/>
            <a:ext cx="2921214" cy="248720"/>
            <a:chOff x="0" y="0"/>
            <a:chExt cx="3894952" cy="331626"/>
          </a:xfrm>
        </p:grpSpPr>
        <p:sp>
          <p:nvSpPr>
            <p:cNvPr name="Freeform 3" id="3"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4" id="4"/>
          <p:cNvGrpSpPr>
            <a:grpSpLocks noChangeAspect="true"/>
          </p:cNvGrpSpPr>
          <p:nvPr/>
        </p:nvGrpSpPr>
        <p:grpSpPr>
          <a:xfrm rot="0">
            <a:off x="15222434" y="427439"/>
            <a:ext cx="1580448" cy="780909"/>
            <a:chOff x="0" y="0"/>
            <a:chExt cx="2107264" cy="1041212"/>
          </a:xfrm>
        </p:grpSpPr>
        <p:sp>
          <p:nvSpPr>
            <p:cNvPr name="Freeform 5" id="5"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6" id="6"/>
          <p:cNvGrpSpPr>
            <a:grpSpLocks noChangeAspect="true"/>
          </p:cNvGrpSpPr>
          <p:nvPr/>
        </p:nvGrpSpPr>
        <p:grpSpPr>
          <a:xfrm rot="0">
            <a:off x="13800587" y="338836"/>
            <a:ext cx="1234639" cy="941733"/>
            <a:chOff x="0" y="0"/>
            <a:chExt cx="1646186" cy="1255644"/>
          </a:xfrm>
        </p:grpSpPr>
        <p:sp>
          <p:nvSpPr>
            <p:cNvPr name="Freeform 7" id="7"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8" id="8"/>
          <p:cNvGrpSpPr>
            <a:grpSpLocks noChangeAspect="true"/>
          </p:cNvGrpSpPr>
          <p:nvPr/>
        </p:nvGrpSpPr>
        <p:grpSpPr>
          <a:xfrm rot="0">
            <a:off x="17000025" y="270560"/>
            <a:ext cx="534549" cy="1094670"/>
            <a:chOff x="0" y="0"/>
            <a:chExt cx="712732" cy="1459560"/>
          </a:xfrm>
        </p:grpSpPr>
        <p:sp>
          <p:nvSpPr>
            <p:cNvPr name="Freeform 9" id="9"/>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0" id="10"/>
          <p:cNvGrpSpPr>
            <a:grpSpLocks noChangeAspect="true"/>
          </p:cNvGrpSpPr>
          <p:nvPr/>
        </p:nvGrpSpPr>
        <p:grpSpPr>
          <a:xfrm rot="0">
            <a:off x="12595394" y="338836"/>
            <a:ext cx="1008050" cy="864211"/>
            <a:chOff x="0" y="0"/>
            <a:chExt cx="1344066" cy="1152282"/>
          </a:xfrm>
        </p:grpSpPr>
        <p:sp>
          <p:nvSpPr>
            <p:cNvPr name="Freeform 11" id="11"/>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2" id="12"/>
          <p:cNvGrpSpPr/>
          <p:nvPr/>
        </p:nvGrpSpPr>
        <p:grpSpPr>
          <a:xfrm rot="0">
            <a:off x="-13605" y="9985086"/>
            <a:ext cx="18342351" cy="384878"/>
            <a:chOff x="0" y="0"/>
            <a:chExt cx="24456468" cy="513170"/>
          </a:xfrm>
        </p:grpSpPr>
        <p:sp>
          <p:nvSpPr>
            <p:cNvPr name="Freeform 13" id="13"/>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TextBox 14" id="14"/>
          <p:cNvSpPr txBox="true"/>
          <p:nvPr/>
        </p:nvSpPr>
        <p:spPr>
          <a:xfrm rot="0">
            <a:off x="1028700" y="1661037"/>
            <a:ext cx="15971325" cy="5013960"/>
          </a:xfrm>
          <a:prstGeom prst="rect">
            <a:avLst/>
          </a:prstGeom>
        </p:spPr>
        <p:txBody>
          <a:bodyPr anchor="t" rtlCol="false" tIns="0" lIns="0" bIns="0" rIns="0">
            <a:spAutoFit/>
          </a:bodyPr>
          <a:lstStyle/>
          <a:p>
            <a:pPr algn="l">
              <a:lnSpc>
                <a:spcPts val="3600"/>
              </a:lnSpc>
            </a:pPr>
            <a:r>
              <a:rPr lang="en-US" sz="2400" spc="3" b="true">
                <a:solidFill>
                  <a:srgbClr val="4617DE"/>
                </a:solidFill>
                <a:latin typeface="Merriweather Sans Bold"/>
                <a:ea typeface="Merriweather Sans Bold"/>
                <a:cs typeface="Merriweather Sans Bold"/>
                <a:sym typeface="Merriweather Sans Bold"/>
              </a:rPr>
              <a:t>ENGENHARIA DE</a:t>
            </a:r>
            <a:r>
              <a:rPr lang="en-US" sz="2400" spc="3" b="true">
                <a:solidFill>
                  <a:srgbClr val="000000"/>
                </a:solidFill>
                <a:latin typeface="Merriweather Sans Bold"/>
                <a:ea typeface="Merriweather Sans Bold"/>
                <a:cs typeface="Merriweather Sans Bold"/>
                <a:sym typeface="Merriweather Sans Bold"/>
              </a:rPr>
              <a:t> </a:t>
            </a:r>
            <a:r>
              <a:rPr lang="en-US" sz="2400" spc="3" b="true">
                <a:solidFill>
                  <a:srgbClr val="4617DE"/>
                </a:solidFill>
                <a:latin typeface="Merriweather Sans Bold"/>
                <a:ea typeface="Merriweather Sans Bold"/>
                <a:cs typeface="Merriweather Sans Bold"/>
                <a:sym typeface="Merriweather Sans Bold"/>
              </a:rPr>
              <a:t>RECURSOS</a:t>
            </a:r>
            <a:r>
              <a:rPr lang="en-US" sz="2400" spc="3" b="true">
                <a:solidFill>
                  <a:srgbClr val="000000"/>
                </a:solidFill>
                <a:latin typeface="Merriweather Sans Bold"/>
                <a:ea typeface="Merriweather Sans Bold"/>
                <a:cs typeface="Merriweather Sans Bold"/>
                <a:sym typeface="Merriweather Sans Bold"/>
              </a:rPr>
              <a:t> </a:t>
            </a:r>
          </a:p>
          <a:p>
            <a:pPr algn="l">
              <a:lnSpc>
                <a:spcPts val="3600"/>
              </a:lnSpc>
            </a:pPr>
            <a:r>
              <a:rPr lang="en-US" sz="2400" spc="3">
                <a:solidFill>
                  <a:srgbClr val="000000"/>
                </a:solidFill>
                <a:latin typeface="Merriweather Sans"/>
                <a:ea typeface="Merriweather Sans"/>
                <a:cs typeface="Merriweather Sans"/>
                <a:sym typeface="Merriweather Sans"/>
              </a:rPr>
              <a:t>  • Transformação do </a:t>
            </a:r>
            <a:r>
              <a:rPr lang="en-US" sz="2400" spc="3">
                <a:solidFill>
                  <a:srgbClr val="000000"/>
                </a:solidFill>
                <a:latin typeface="Merriweather Sans"/>
                <a:ea typeface="Merriweather Sans"/>
                <a:cs typeface="Merriweather Sans"/>
                <a:sym typeface="Merriweather Sans"/>
              </a:rPr>
              <a:t>áudio bruto em múltiplas representações numéricas que capturam diferentes </a:t>
            </a:r>
          </a:p>
          <a:p>
            <a:pPr algn="l">
              <a:lnSpc>
                <a:spcPts val="3600"/>
              </a:lnSpc>
            </a:pPr>
            <a:r>
              <a:rPr lang="en-US" sz="2400" spc="3">
                <a:solidFill>
                  <a:srgbClr val="000000"/>
                </a:solidFill>
                <a:latin typeface="Merriweather Sans"/>
                <a:ea typeface="Merriweather Sans"/>
                <a:cs typeface="Merriweather Sans"/>
                <a:sym typeface="Merriweather Sans"/>
              </a:rPr>
              <a:t>aspetos do sinal acústico.</a:t>
            </a:r>
          </a:p>
          <a:p>
            <a:pPr algn="l">
              <a:lnSpc>
                <a:spcPts val="3600"/>
              </a:lnSpc>
            </a:pPr>
            <a:r>
              <a:rPr lang="en-US" sz="2400" spc="3">
                <a:solidFill>
                  <a:srgbClr val="000000"/>
                </a:solidFill>
                <a:latin typeface="Merriweather Sans"/>
                <a:ea typeface="Merriweather Sans"/>
                <a:cs typeface="Merriweather Sans"/>
                <a:sym typeface="Merriweather Sans"/>
              </a:rPr>
              <a:t>  • </a:t>
            </a:r>
            <a:r>
              <a:rPr lang="en-US" sz="2400" spc="3">
                <a:solidFill>
                  <a:srgbClr val="000000"/>
                </a:solidFill>
                <a:latin typeface="Merriweather Sans"/>
                <a:ea typeface="Merriweather Sans"/>
                <a:cs typeface="Merriweather Sans"/>
                <a:sym typeface="Merriweather Sans"/>
              </a:rPr>
              <a:t>ESPECTROGRAMA MEL: Representação visual do espectro de frequências ao longo do tempo, utilizando a escala Mel que aproxima a perceção auditiva humana. Configuração: 128 bandas Mel, janela de 2048 amostras, hop length de 512 amostras, resultando em imagens de 224x224 pixels (redimensionadas para compatibilidade com modelos pré-treinados).</a:t>
            </a:r>
          </a:p>
          <a:p>
            <a:pPr algn="l">
              <a:lnSpc>
                <a:spcPts val="3600"/>
              </a:lnSpc>
            </a:pPr>
            <a:r>
              <a:rPr lang="en-US" sz="2400" spc="3">
                <a:solidFill>
                  <a:srgbClr val="000000"/>
                </a:solidFill>
                <a:latin typeface="Merriweather Sans"/>
                <a:ea typeface="Merriweather Sans"/>
                <a:cs typeface="Merriweather Sans"/>
                <a:sym typeface="Merriweather Sans"/>
              </a:rPr>
              <a:t>  • </a:t>
            </a:r>
            <a:r>
              <a:rPr lang="en-US" sz="2400" spc="3">
                <a:solidFill>
                  <a:srgbClr val="000000"/>
                </a:solidFill>
                <a:latin typeface="Merriweather Sans"/>
                <a:ea typeface="Merriweather Sans"/>
                <a:cs typeface="Merriweather Sans"/>
                <a:sym typeface="Merriweather Sans"/>
              </a:rPr>
              <a:t>MFCCs (MEL-FREQUENCY CEPSTRAL COEFFICIENTS): Representação compacta das características </a:t>
            </a:r>
          </a:p>
          <a:p>
            <a:pPr algn="l">
              <a:lnSpc>
                <a:spcPts val="3600"/>
              </a:lnSpc>
            </a:pPr>
            <a:r>
              <a:rPr lang="en-US" sz="2400" spc="3">
                <a:solidFill>
                  <a:srgbClr val="000000"/>
                </a:solidFill>
                <a:latin typeface="Merriweather Sans"/>
                <a:ea typeface="Merriweather Sans"/>
                <a:cs typeface="Merriweather Sans"/>
                <a:sym typeface="Merriweather Sans"/>
              </a:rPr>
              <a:t>espectrais do som, amplamente utilizada em reconhecimento de fala e sons.</a:t>
            </a:r>
          </a:p>
          <a:p>
            <a:pPr algn="l">
              <a:lnSpc>
                <a:spcPts val="3600"/>
              </a:lnSpc>
            </a:pPr>
            <a:r>
              <a:rPr lang="en-US" sz="2400" spc="3">
                <a:solidFill>
                  <a:srgbClr val="000000"/>
                </a:solidFill>
                <a:latin typeface="Merriweather Sans"/>
                <a:ea typeface="Merriweather Sans"/>
                <a:cs typeface="Merriweather Sans"/>
                <a:sym typeface="Merriweather Sans"/>
              </a:rPr>
              <a:t>  • </a:t>
            </a:r>
            <a:r>
              <a:rPr lang="en-US" sz="2400" spc="3">
                <a:solidFill>
                  <a:srgbClr val="000000"/>
                </a:solidFill>
                <a:latin typeface="Merriweather Sans"/>
                <a:ea typeface="Merriweather Sans"/>
                <a:cs typeface="Merriweather Sans"/>
                <a:sym typeface="Merriweather Sans"/>
              </a:rPr>
              <a:t>CONFIGURAÇÃO: 40 coeficientes MFCC, janela de 2048 amostras, hop length de 512 amostras, incluindo deltas e delta-deltas para capturar dinâmica temporal.</a:t>
            </a:r>
          </a:p>
        </p:txBody>
      </p:sp>
      <p:sp>
        <p:nvSpPr>
          <p:cNvPr name="TextBox 15" id="15"/>
          <p:cNvSpPr txBox="true"/>
          <p:nvPr/>
        </p:nvSpPr>
        <p:spPr>
          <a:xfrm rot="0">
            <a:off x="1028700" y="7055997"/>
            <a:ext cx="15971325" cy="2727960"/>
          </a:xfrm>
          <a:prstGeom prst="rect">
            <a:avLst/>
          </a:prstGeom>
        </p:spPr>
        <p:txBody>
          <a:bodyPr anchor="t" rtlCol="false" tIns="0" lIns="0" bIns="0" rIns="0">
            <a:spAutoFit/>
          </a:bodyPr>
          <a:lstStyle/>
          <a:p>
            <a:pPr algn="l">
              <a:lnSpc>
                <a:spcPts val="3600"/>
              </a:lnSpc>
            </a:pPr>
            <a:r>
              <a:rPr lang="en-US" sz="2400" spc="3">
                <a:solidFill>
                  <a:srgbClr val="000000"/>
                </a:solidFill>
                <a:latin typeface="Merriweather Sans"/>
                <a:ea typeface="Merriweather Sans"/>
                <a:cs typeface="Merriweather Sans"/>
                <a:sym typeface="Merriweather Sans"/>
              </a:rPr>
              <a:t>  • CARACTERÍSTICAS TEMPORAIS : Pitch médio e desvio padrão (frequência fundamental), energia R</a:t>
            </a:r>
            <a:r>
              <a:rPr lang="en-US" sz="2400" spc="3">
                <a:solidFill>
                  <a:srgbClr val="000000"/>
                </a:solidFill>
                <a:latin typeface="Merriweather Sans"/>
                <a:ea typeface="Merriweather Sans"/>
                <a:cs typeface="Merriweather Sans"/>
                <a:sym typeface="Merriweather Sans"/>
              </a:rPr>
              <a:t>MS (Root Mean Square) ao longo do tempo, taxa de cruzamento por zero (Zero Crossing Rate), duração total da vocalização e intervalos entre vocalizações.</a:t>
            </a:r>
          </a:p>
          <a:p>
            <a:pPr algn="l">
              <a:lnSpc>
                <a:spcPts val="3600"/>
              </a:lnSpc>
            </a:pPr>
            <a:r>
              <a:rPr lang="en-US" sz="2400" spc="3">
                <a:solidFill>
                  <a:srgbClr val="000000"/>
                </a:solidFill>
                <a:latin typeface="Merriweather Sans"/>
                <a:ea typeface="Merriweather Sans"/>
                <a:cs typeface="Merriweather Sans"/>
                <a:sym typeface="Merriweather Sans"/>
              </a:rPr>
              <a:t>  • C</a:t>
            </a:r>
            <a:r>
              <a:rPr lang="en-US" sz="2400" spc="3">
                <a:solidFill>
                  <a:srgbClr val="000000"/>
                </a:solidFill>
                <a:latin typeface="Merriweather Sans"/>
                <a:ea typeface="Merriweather Sans"/>
                <a:cs typeface="Merriweather Sans"/>
                <a:sym typeface="Merriweather Sans"/>
              </a:rPr>
              <a:t>ARACTERÍSTICAS CONTEXTUAIS : Coordenadas GPS (latitude, longitude), hora do dia (manhã,tarde,noite), estação do ano (seca, chuvosa), tipo de habitat (floresta, savana, zona húmida, urbano) e presença de outras espécies (co-ocorrência).</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38963" y="1974824"/>
            <a:ext cx="18324701" cy="8321702"/>
            <a:chOff x="0" y="0"/>
            <a:chExt cx="24432934" cy="11095602"/>
          </a:xfrm>
        </p:grpSpPr>
        <p:sp>
          <p:nvSpPr>
            <p:cNvPr name="Freeform 3" id="3"/>
            <p:cNvSpPr/>
            <p:nvPr/>
          </p:nvSpPr>
          <p:spPr>
            <a:xfrm flipH="false" flipV="false" rot="0">
              <a:off x="12700" y="12700"/>
              <a:ext cx="24407495" cy="11070209"/>
            </a:xfrm>
            <a:custGeom>
              <a:avLst/>
              <a:gdLst/>
              <a:ahLst/>
              <a:cxnLst/>
              <a:rect r="r" b="b" t="t" l="l"/>
              <a:pathLst>
                <a:path h="11070209" w="24407495">
                  <a:moveTo>
                    <a:pt x="0" y="0"/>
                  </a:moveTo>
                  <a:lnTo>
                    <a:pt x="24407495" y="0"/>
                  </a:lnTo>
                  <a:lnTo>
                    <a:pt x="24407495" y="11070209"/>
                  </a:lnTo>
                  <a:lnTo>
                    <a:pt x="0" y="11070209"/>
                  </a:lnTo>
                  <a:close/>
                </a:path>
              </a:pathLst>
            </a:custGeom>
            <a:solidFill>
              <a:srgbClr val="4617DE"/>
            </a:solidFill>
          </p:spPr>
        </p:sp>
        <p:sp>
          <p:nvSpPr>
            <p:cNvPr name="Freeform 4" id="4"/>
            <p:cNvSpPr/>
            <p:nvPr/>
          </p:nvSpPr>
          <p:spPr>
            <a:xfrm flipH="false" flipV="false" rot="0">
              <a:off x="0" y="0"/>
              <a:ext cx="24432895" cy="11095609"/>
            </a:xfrm>
            <a:custGeom>
              <a:avLst/>
              <a:gdLst/>
              <a:ahLst/>
              <a:cxnLst/>
              <a:rect r="r" b="b" t="t" l="l"/>
              <a:pathLst>
                <a:path h="11095609" w="24432895">
                  <a:moveTo>
                    <a:pt x="12700" y="0"/>
                  </a:moveTo>
                  <a:lnTo>
                    <a:pt x="24420195" y="0"/>
                  </a:lnTo>
                  <a:cubicBezTo>
                    <a:pt x="24427180" y="0"/>
                    <a:pt x="24432895" y="5715"/>
                    <a:pt x="24432895" y="12700"/>
                  </a:cubicBezTo>
                  <a:lnTo>
                    <a:pt x="24432895" y="11082909"/>
                  </a:lnTo>
                  <a:cubicBezTo>
                    <a:pt x="24432895" y="11089894"/>
                    <a:pt x="24427180" y="11095609"/>
                    <a:pt x="24420195" y="11095609"/>
                  </a:cubicBezTo>
                  <a:lnTo>
                    <a:pt x="12700" y="11095609"/>
                  </a:lnTo>
                  <a:cubicBezTo>
                    <a:pt x="5715" y="11095609"/>
                    <a:pt x="0" y="11089894"/>
                    <a:pt x="0" y="11082909"/>
                  </a:cubicBezTo>
                  <a:lnTo>
                    <a:pt x="0" y="12700"/>
                  </a:lnTo>
                  <a:cubicBezTo>
                    <a:pt x="0" y="5715"/>
                    <a:pt x="5715" y="0"/>
                    <a:pt x="12700" y="0"/>
                  </a:cubicBezTo>
                  <a:moveTo>
                    <a:pt x="12700" y="25400"/>
                  </a:moveTo>
                  <a:lnTo>
                    <a:pt x="12700" y="12700"/>
                  </a:lnTo>
                  <a:lnTo>
                    <a:pt x="25400" y="12700"/>
                  </a:lnTo>
                  <a:lnTo>
                    <a:pt x="25400" y="11082909"/>
                  </a:lnTo>
                  <a:lnTo>
                    <a:pt x="12700" y="11082909"/>
                  </a:lnTo>
                  <a:lnTo>
                    <a:pt x="12700" y="11070209"/>
                  </a:lnTo>
                  <a:lnTo>
                    <a:pt x="24420195" y="11070209"/>
                  </a:lnTo>
                  <a:lnTo>
                    <a:pt x="24420195" y="11082909"/>
                  </a:lnTo>
                  <a:lnTo>
                    <a:pt x="24407495" y="11082909"/>
                  </a:lnTo>
                  <a:lnTo>
                    <a:pt x="24407495" y="12700"/>
                  </a:lnTo>
                  <a:lnTo>
                    <a:pt x="24420195" y="12700"/>
                  </a:lnTo>
                  <a:lnTo>
                    <a:pt x="24420195" y="25400"/>
                  </a:lnTo>
                  <a:lnTo>
                    <a:pt x="12700" y="25400"/>
                  </a:lnTo>
                  <a:close/>
                </a:path>
              </a:pathLst>
            </a:custGeom>
            <a:solidFill>
              <a:srgbClr val="4617DE"/>
            </a:solidFill>
          </p:spPr>
        </p:sp>
      </p:grpSp>
      <p:grpSp>
        <p:nvGrpSpPr>
          <p:cNvPr name="Group 5" id="5"/>
          <p:cNvGrpSpPr>
            <a:grpSpLocks noChangeAspect="true"/>
          </p:cNvGrpSpPr>
          <p:nvPr/>
        </p:nvGrpSpPr>
        <p:grpSpPr>
          <a:xfrm rot="0">
            <a:off x="15127473" y="572394"/>
            <a:ext cx="1777568" cy="877906"/>
            <a:chOff x="0" y="0"/>
            <a:chExt cx="2370090" cy="1170542"/>
          </a:xfrm>
        </p:grpSpPr>
        <p:sp>
          <p:nvSpPr>
            <p:cNvPr name="Freeform 6" id="6" descr="Picture 7"/>
            <p:cNvSpPr/>
            <p:nvPr/>
          </p:nvSpPr>
          <p:spPr>
            <a:xfrm flipH="false" flipV="false" rot="0">
              <a:off x="0" y="0"/>
              <a:ext cx="2370074" cy="1170559"/>
            </a:xfrm>
            <a:custGeom>
              <a:avLst/>
              <a:gdLst/>
              <a:ahLst/>
              <a:cxnLst/>
              <a:rect r="r" b="b" t="t" l="l"/>
              <a:pathLst>
                <a:path h="1170559" w="2370074">
                  <a:moveTo>
                    <a:pt x="0" y="0"/>
                  </a:moveTo>
                  <a:lnTo>
                    <a:pt x="2370074" y="0"/>
                  </a:lnTo>
                  <a:lnTo>
                    <a:pt x="2370074" y="1170559"/>
                  </a:lnTo>
                  <a:lnTo>
                    <a:pt x="0" y="1170559"/>
                  </a:lnTo>
                  <a:lnTo>
                    <a:pt x="0" y="0"/>
                  </a:lnTo>
                  <a:close/>
                </a:path>
              </a:pathLst>
            </a:custGeom>
            <a:blipFill>
              <a:blip r:embed="rId2"/>
              <a:stretch>
                <a:fillRect l="-561" t="0" r="-562" b="1"/>
              </a:stretch>
            </a:blipFill>
          </p:spPr>
        </p:sp>
      </p:grpSp>
      <p:grpSp>
        <p:nvGrpSpPr>
          <p:cNvPr name="Group 7" id="7"/>
          <p:cNvGrpSpPr>
            <a:grpSpLocks noChangeAspect="true"/>
          </p:cNvGrpSpPr>
          <p:nvPr/>
        </p:nvGrpSpPr>
        <p:grpSpPr>
          <a:xfrm rot="0">
            <a:off x="13445664" y="434190"/>
            <a:ext cx="1458211" cy="1119732"/>
            <a:chOff x="0" y="0"/>
            <a:chExt cx="1944282" cy="1492976"/>
          </a:xfrm>
        </p:grpSpPr>
        <p:sp>
          <p:nvSpPr>
            <p:cNvPr name="Freeform 8" id="8" descr="Picture 9"/>
            <p:cNvSpPr/>
            <p:nvPr/>
          </p:nvSpPr>
          <p:spPr>
            <a:xfrm flipH="false" flipV="false" rot="0">
              <a:off x="0" y="0"/>
              <a:ext cx="1944243" cy="1493012"/>
            </a:xfrm>
            <a:custGeom>
              <a:avLst/>
              <a:gdLst/>
              <a:ahLst/>
              <a:cxnLst/>
              <a:rect r="r" b="b" t="t" l="l"/>
              <a:pathLst>
                <a:path h="1493012" w="1944243">
                  <a:moveTo>
                    <a:pt x="0" y="0"/>
                  </a:moveTo>
                  <a:lnTo>
                    <a:pt x="1944243" y="0"/>
                  </a:lnTo>
                  <a:lnTo>
                    <a:pt x="1944243" y="1493012"/>
                  </a:lnTo>
                  <a:lnTo>
                    <a:pt x="0" y="1493012"/>
                  </a:lnTo>
                  <a:lnTo>
                    <a:pt x="0" y="0"/>
                  </a:lnTo>
                  <a:close/>
                </a:path>
              </a:pathLst>
            </a:custGeom>
            <a:blipFill>
              <a:blip r:embed="rId3"/>
              <a:stretch>
                <a:fillRect l="-107" t="0" r="-109" b="2"/>
              </a:stretch>
            </a:blipFill>
          </p:spPr>
        </p:sp>
      </p:grpSp>
      <p:grpSp>
        <p:nvGrpSpPr>
          <p:cNvPr name="Group 9" id="9"/>
          <p:cNvGrpSpPr>
            <a:grpSpLocks noChangeAspect="true"/>
          </p:cNvGrpSpPr>
          <p:nvPr/>
        </p:nvGrpSpPr>
        <p:grpSpPr>
          <a:xfrm rot="0">
            <a:off x="17201592" y="146404"/>
            <a:ext cx="808054" cy="1617030"/>
            <a:chOff x="0" y="0"/>
            <a:chExt cx="1077406" cy="2156040"/>
          </a:xfrm>
        </p:grpSpPr>
        <p:sp>
          <p:nvSpPr>
            <p:cNvPr name="Freeform 10" id="10" descr="pasted-movie.png"/>
            <p:cNvSpPr/>
            <p:nvPr/>
          </p:nvSpPr>
          <p:spPr>
            <a:xfrm flipH="false" flipV="false" rot="0">
              <a:off x="0" y="0"/>
              <a:ext cx="1077468" cy="2156079"/>
            </a:xfrm>
            <a:custGeom>
              <a:avLst/>
              <a:gdLst/>
              <a:ahLst/>
              <a:cxnLst/>
              <a:rect r="r" b="b" t="t" l="l"/>
              <a:pathLst>
                <a:path h="2156079" w="1077468">
                  <a:moveTo>
                    <a:pt x="0" y="0"/>
                  </a:moveTo>
                  <a:lnTo>
                    <a:pt x="1077468" y="0"/>
                  </a:lnTo>
                  <a:lnTo>
                    <a:pt x="1077468" y="2156079"/>
                  </a:lnTo>
                  <a:lnTo>
                    <a:pt x="0" y="2156079"/>
                  </a:lnTo>
                  <a:lnTo>
                    <a:pt x="0" y="0"/>
                  </a:lnTo>
                  <a:close/>
                </a:path>
              </a:pathLst>
            </a:custGeom>
            <a:blipFill>
              <a:blip r:embed="rId4"/>
              <a:stretch>
                <a:fillRect l="0" t="-604" r="5" b="-602"/>
              </a:stretch>
            </a:blipFill>
          </p:spPr>
        </p:sp>
      </p:grpSp>
      <p:grpSp>
        <p:nvGrpSpPr>
          <p:cNvPr name="Group 11" id="11"/>
          <p:cNvGrpSpPr>
            <a:grpSpLocks noChangeAspect="true"/>
          </p:cNvGrpSpPr>
          <p:nvPr/>
        </p:nvGrpSpPr>
        <p:grpSpPr>
          <a:xfrm rot="0">
            <a:off x="11943321" y="366993"/>
            <a:ext cx="1380389" cy="1175602"/>
            <a:chOff x="0" y="0"/>
            <a:chExt cx="1840518" cy="1567470"/>
          </a:xfrm>
        </p:grpSpPr>
        <p:sp>
          <p:nvSpPr>
            <p:cNvPr name="Freeform 12" id="12" descr="pasted-movie.png"/>
            <p:cNvSpPr/>
            <p:nvPr/>
          </p:nvSpPr>
          <p:spPr>
            <a:xfrm flipH="false" flipV="false" rot="0">
              <a:off x="0" y="0"/>
              <a:ext cx="1840484" cy="1567434"/>
            </a:xfrm>
            <a:custGeom>
              <a:avLst/>
              <a:gdLst/>
              <a:ahLst/>
              <a:cxnLst/>
              <a:rect r="r" b="b" t="t" l="l"/>
              <a:pathLst>
                <a:path h="1567434" w="1840484">
                  <a:moveTo>
                    <a:pt x="0" y="0"/>
                  </a:moveTo>
                  <a:lnTo>
                    <a:pt x="1840484" y="0"/>
                  </a:lnTo>
                  <a:lnTo>
                    <a:pt x="1840484" y="1567434"/>
                  </a:lnTo>
                  <a:lnTo>
                    <a:pt x="0" y="1567434"/>
                  </a:lnTo>
                  <a:lnTo>
                    <a:pt x="0" y="0"/>
                  </a:lnTo>
                  <a:close/>
                </a:path>
              </a:pathLst>
            </a:custGeom>
            <a:blipFill>
              <a:blip r:embed="rId5"/>
              <a:stretch>
                <a:fillRect l="-19378" t="-31606" r="-19623" b="-31609"/>
              </a:stretch>
            </a:blipFill>
          </p:spPr>
        </p:sp>
      </p:grpSp>
      <p:grpSp>
        <p:nvGrpSpPr>
          <p:cNvPr name="Group 13" id="13"/>
          <p:cNvGrpSpPr>
            <a:grpSpLocks noChangeAspect="true"/>
          </p:cNvGrpSpPr>
          <p:nvPr/>
        </p:nvGrpSpPr>
        <p:grpSpPr>
          <a:xfrm rot="0">
            <a:off x="15003453" y="7913580"/>
            <a:ext cx="3394872" cy="2414976"/>
            <a:chOff x="0" y="0"/>
            <a:chExt cx="4526496" cy="3219968"/>
          </a:xfrm>
        </p:grpSpPr>
        <p:sp>
          <p:nvSpPr>
            <p:cNvPr name="Freeform 14" id="14" descr="Image"/>
            <p:cNvSpPr/>
            <p:nvPr/>
          </p:nvSpPr>
          <p:spPr>
            <a:xfrm flipH="false" flipV="false" rot="0">
              <a:off x="0" y="0"/>
              <a:ext cx="4526534" cy="3219958"/>
            </a:xfrm>
            <a:custGeom>
              <a:avLst/>
              <a:gdLst/>
              <a:ahLst/>
              <a:cxnLst/>
              <a:rect r="r" b="b" t="t" l="l"/>
              <a:pathLst>
                <a:path h="3219958" w="4526534">
                  <a:moveTo>
                    <a:pt x="0" y="0"/>
                  </a:moveTo>
                  <a:lnTo>
                    <a:pt x="4526534" y="0"/>
                  </a:lnTo>
                  <a:lnTo>
                    <a:pt x="4526534" y="3219958"/>
                  </a:lnTo>
                  <a:lnTo>
                    <a:pt x="0" y="3219958"/>
                  </a:lnTo>
                  <a:lnTo>
                    <a:pt x="0" y="0"/>
                  </a:lnTo>
                  <a:close/>
                </a:path>
              </a:pathLst>
            </a:custGeom>
            <a:blipFill>
              <a:blip r:embed="rId6"/>
              <a:stretch>
                <a:fillRect l="-1173" t="0" r="-16160" b="-51433"/>
              </a:stretch>
            </a:blipFill>
          </p:spPr>
        </p:sp>
      </p:grpSp>
      <p:grpSp>
        <p:nvGrpSpPr>
          <p:cNvPr name="Group 15" id="15"/>
          <p:cNvGrpSpPr>
            <a:grpSpLocks noChangeAspect="true"/>
          </p:cNvGrpSpPr>
          <p:nvPr/>
        </p:nvGrpSpPr>
        <p:grpSpPr>
          <a:xfrm rot="0">
            <a:off x="2061220" y="3067194"/>
            <a:ext cx="6380205" cy="6194822"/>
            <a:chOff x="0" y="0"/>
            <a:chExt cx="8506940" cy="8259762"/>
          </a:xfrm>
        </p:grpSpPr>
        <p:sp>
          <p:nvSpPr>
            <p:cNvPr name="Freeform 16" id="16" descr="Image"/>
            <p:cNvSpPr/>
            <p:nvPr/>
          </p:nvSpPr>
          <p:spPr>
            <a:xfrm flipH="false" flipV="false" rot="0">
              <a:off x="0" y="0"/>
              <a:ext cx="8506968" cy="8259699"/>
            </a:xfrm>
            <a:custGeom>
              <a:avLst/>
              <a:gdLst/>
              <a:ahLst/>
              <a:cxnLst/>
              <a:rect r="r" b="b" t="t" l="l"/>
              <a:pathLst>
                <a:path h="8259699" w="8506968">
                  <a:moveTo>
                    <a:pt x="0" y="0"/>
                  </a:moveTo>
                  <a:lnTo>
                    <a:pt x="8506968" y="0"/>
                  </a:lnTo>
                  <a:lnTo>
                    <a:pt x="8506968" y="8259699"/>
                  </a:lnTo>
                  <a:lnTo>
                    <a:pt x="0" y="8259699"/>
                  </a:lnTo>
                  <a:lnTo>
                    <a:pt x="0" y="0"/>
                  </a:lnTo>
                  <a:close/>
                </a:path>
              </a:pathLst>
            </a:custGeom>
            <a:blipFill>
              <a:blip r:embed="rId7"/>
              <a:stretch>
                <a:fillRect l="0" t="-15" r="0" b="-15"/>
              </a:stretch>
            </a:blipFill>
          </p:spPr>
        </p:sp>
      </p:grpSp>
      <p:sp>
        <p:nvSpPr>
          <p:cNvPr name="TextBox 17" id="17"/>
          <p:cNvSpPr txBox="true"/>
          <p:nvPr/>
        </p:nvSpPr>
        <p:spPr>
          <a:xfrm rot="0">
            <a:off x="9812947" y="4974724"/>
            <a:ext cx="8723645" cy="920190"/>
          </a:xfrm>
          <a:prstGeom prst="rect">
            <a:avLst/>
          </a:prstGeom>
        </p:spPr>
        <p:txBody>
          <a:bodyPr anchor="t" rtlCol="false" tIns="0" lIns="0" bIns="0" rIns="0">
            <a:spAutoFit/>
          </a:bodyPr>
          <a:lstStyle/>
          <a:p>
            <a:pPr algn="ctr">
              <a:lnSpc>
                <a:spcPts val="6659"/>
              </a:lnSpc>
            </a:pPr>
            <a:r>
              <a:rPr lang="en-US" b="true" sz="5550" spc="22">
                <a:solidFill>
                  <a:srgbClr val="2B2551"/>
                </a:solidFill>
                <a:latin typeface="Merriweather Sans Bold"/>
                <a:ea typeface="Merriweather Sans Bold"/>
                <a:cs typeface="Merriweather Sans Bold"/>
                <a:sym typeface="Merriweather Sans Bold"/>
              </a:rPr>
              <a:t>Modelo</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2956" y="744174"/>
            <a:ext cx="2921214" cy="248720"/>
            <a:chOff x="0" y="0"/>
            <a:chExt cx="3894952" cy="331626"/>
          </a:xfrm>
        </p:grpSpPr>
        <p:sp>
          <p:nvSpPr>
            <p:cNvPr name="Freeform 3" id="3"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4" id="4"/>
          <p:cNvGrpSpPr>
            <a:grpSpLocks noChangeAspect="true"/>
          </p:cNvGrpSpPr>
          <p:nvPr/>
        </p:nvGrpSpPr>
        <p:grpSpPr>
          <a:xfrm rot="0">
            <a:off x="15222434" y="427439"/>
            <a:ext cx="1580448" cy="780909"/>
            <a:chOff x="0" y="0"/>
            <a:chExt cx="2107264" cy="1041212"/>
          </a:xfrm>
        </p:grpSpPr>
        <p:sp>
          <p:nvSpPr>
            <p:cNvPr name="Freeform 5" id="5"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6" id="6"/>
          <p:cNvGrpSpPr>
            <a:grpSpLocks noChangeAspect="true"/>
          </p:cNvGrpSpPr>
          <p:nvPr/>
        </p:nvGrpSpPr>
        <p:grpSpPr>
          <a:xfrm rot="0">
            <a:off x="13800587" y="338836"/>
            <a:ext cx="1234639" cy="941733"/>
            <a:chOff x="0" y="0"/>
            <a:chExt cx="1646186" cy="1255644"/>
          </a:xfrm>
        </p:grpSpPr>
        <p:sp>
          <p:nvSpPr>
            <p:cNvPr name="Freeform 7" id="7"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8" id="8"/>
          <p:cNvGrpSpPr>
            <a:grpSpLocks noChangeAspect="true"/>
          </p:cNvGrpSpPr>
          <p:nvPr/>
        </p:nvGrpSpPr>
        <p:grpSpPr>
          <a:xfrm rot="0">
            <a:off x="17000025" y="270560"/>
            <a:ext cx="534549" cy="1094670"/>
            <a:chOff x="0" y="0"/>
            <a:chExt cx="712732" cy="1459560"/>
          </a:xfrm>
        </p:grpSpPr>
        <p:sp>
          <p:nvSpPr>
            <p:cNvPr name="Freeform 9" id="9"/>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0" id="10"/>
          <p:cNvGrpSpPr>
            <a:grpSpLocks noChangeAspect="true"/>
          </p:cNvGrpSpPr>
          <p:nvPr/>
        </p:nvGrpSpPr>
        <p:grpSpPr>
          <a:xfrm rot="0">
            <a:off x="12595394" y="338836"/>
            <a:ext cx="1008050" cy="864211"/>
            <a:chOff x="0" y="0"/>
            <a:chExt cx="1344066" cy="1152282"/>
          </a:xfrm>
        </p:grpSpPr>
        <p:sp>
          <p:nvSpPr>
            <p:cNvPr name="Freeform 11" id="11"/>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2" id="12"/>
          <p:cNvGrpSpPr/>
          <p:nvPr/>
        </p:nvGrpSpPr>
        <p:grpSpPr>
          <a:xfrm rot="0">
            <a:off x="-13605" y="9985086"/>
            <a:ext cx="18342351" cy="384878"/>
            <a:chOff x="0" y="0"/>
            <a:chExt cx="24456468" cy="513170"/>
          </a:xfrm>
        </p:grpSpPr>
        <p:sp>
          <p:nvSpPr>
            <p:cNvPr name="Freeform 13" id="13"/>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TextBox 14" id="14"/>
          <p:cNvSpPr txBox="true"/>
          <p:nvPr/>
        </p:nvSpPr>
        <p:spPr>
          <a:xfrm rot="0">
            <a:off x="1137671" y="3421838"/>
            <a:ext cx="16012658" cy="6136005"/>
          </a:xfrm>
          <a:prstGeom prst="rect">
            <a:avLst/>
          </a:prstGeom>
        </p:spPr>
        <p:txBody>
          <a:bodyPr anchor="t" rtlCol="false" tIns="0" lIns="0" bIns="0" rIns="0">
            <a:spAutoFit/>
          </a:bodyPr>
          <a:lstStyle/>
          <a:p>
            <a:pPr algn="l">
              <a:lnSpc>
                <a:spcPts val="3240"/>
              </a:lnSpc>
            </a:pPr>
            <a:r>
              <a:rPr lang="en-US" sz="2400" spc="2" b="true">
                <a:solidFill>
                  <a:srgbClr val="4617DE"/>
                </a:solidFill>
                <a:latin typeface="Merriweather Sans Bold"/>
                <a:ea typeface="Merriweather Sans Bold"/>
                <a:cs typeface="Merriweather Sans Bold"/>
                <a:sym typeface="Merriweather Sans Bold"/>
              </a:rPr>
              <a:t>ESTRATÉGIA DE TREINO</a:t>
            </a:r>
          </a:p>
          <a:p>
            <a:pPr algn="l">
              <a:lnSpc>
                <a:spcPts val="3240"/>
              </a:lnSpc>
            </a:pPr>
            <a:r>
              <a:rPr lang="en-US" sz="2400" spc="3" b="true">
                <a:solidFill>
                  <a:srgbClr val="000000"/>
                </a:solidFill>
                <a:latin typeface="Merriweather Sans Bold"/>
                <a:ea typeface="Merriweather Sans Bold"/>
                <a:cs typeface="Merriweather Sans Bold"/>
                <a:sym typeface="Merriweather Sans Bold"/>
              </a:rPr>
              <a:t>TRANSFER</a:t>
            </a:r>
            <a:r>
              <a:rPr lang="en-US" sz="2400" spc="3" b="true">
                <a:solidFill>
                  <a:srgbClr val="4617DE"/>
                </a:solidFill>
                <a:latin typeface="Merriweather Sans Bold"/>
                <a:ea typeface="Merriweather Sans Bold"/>
                <a:cs typeface="Merriweather Sans Bold"/>
                <a:sym typeface="Merriweather Sans Bold"/>
              </a:rPr>
              <a:t> </a:t>
            </a:r>
            <a:r>
              <a:rPr lang="en-US" sz="2400" spc="3" b="true">
                <a:solidFill>
                  <a:srgbClr val="000000"/>
                </a:solidFill>
                <a:latin typeface="Merriweather Sans Bold"/>
                <a:ea typeface="Merriweather Sans Bold"/>
                <a:cs typeface="Merriweather Sans Bold"/>
                <a:sym typeface="Merriweather Sans Bold"/>
              </a:rPr>
              <a:t>LEARNING</a:t>
            </a:r>
            <a:r>
              <a:rPr lang="en-US" sz="2400" spc="3" b="true">
                <a:solidFill>
                  <a:srgbClr val="4617DE"/>
                </a:solidFill>
                <a:latin typeface="Merriweather Sans Bold"/>
                <a:ea typeface="Merriweather Sans Bold"/>
                <a:cs typeface="Merriweather Sans Bold"/>
                <a:sym typeface="Merriweather Sans Bold"/>
              </a:rPr>
              <a:t> </a:t>
            </a:r>
            <a:r>
              <a:rPr lang="en-US" sz="2400" spc="3" b="true">
                <a:solidFill>
                  <a:srgbClr val="000000"/>
                </a:solidFill>
                <a:latin typeface="Merriweather Sans Bold"/>
                <a:ea typeface="Merriweather Sans Bold"/>
                <a:cs typeface="Merriweather Sans Bold"/>
                <a:sym typeface="Merriweather Sans Bold"/>
              </a:rPr>
              <a:t>EM</a:t>
            </a:r>
            <a:r>
              <a:rPr lang="en-US" sz="2400" spc="3" b="true">
                <a:solidFill>
                  <a:srgbClr val="4617DE"/>
                </a:solidFill>
                <a:latin typeface="Merriweather Sans Bold"/>
                <a:ea typeface="Merriweather Sans Bold"/>
                <a:cs typeface="Merriweather Sans Bold"/>
                <a:sym typeface="Merriweather Sans Bold"/>
              </a:rPr>
              <a:t> </a:t>
            </a:r>
            <a:r>
              <a:rPr lang="en-US" b="true" sz="2400" spc="3">
                <a:solidFill>
                  <a:srgbClr val="000000"/>
                </a:solidFill>
                <a:latin typeface="Merriweather Sans Bold"/>
                <a:ea typeface="Merriweather Sans Bold"/>
                <a:cs typeface="Merriweather Sans Bold"/>
                <a:sym typeface="Merriweather Sans Bold"/>
              </a:rPr>
              <a:t>DUAS</a:t>
            </a:r>
            <a:r>
              <a:rPr lang="en-US" sz="2400" spc="3">
                <a:solidFill>
                  <a:srgbClr val="4617DE"/>
                </a:solidFill>
                <a:latin typeface="Merriweather Sans"/>
                <a:ea typeface="Merriweather Sans"/>
                <a:cs typeface="Merriweather Sans"/>
                <a:sym typeface="Merriweather Sans"/>
              </a:rPr>
              <a:t> </a:t>
            </a:r>
            <a:r>
              <a:rPr lang="en-US" b="true" sz="2400" spc="3">
                <a:solidFill>
                  <a:srgbClr val="000000"/>
                </a:solidFill>
                <a:latin typeface="Merriweather Sans Bold"/>
                <a:ea typeface="Merriweather Sans Bold"/>
                <a:cs typeface="Merriweather Sans Bold"/>
                <a:sym typeface="Merriweather Sans Bold"/>
              </a:rPr>
              <a:t>FASES</a:t>
            </a:r>
            <a:r>
              <a:rPr lang="en-US" sz="2400" spc="3">
                <a:solidFill>
                  <a:srgbClr val="4617DE"/>
                </a:solidFill>
                <a:latin typeface="Merriweather Sans"/>
                <a:ea typeface="Merriweather Sans"/>
                <a:cs typeface="Merriweather Sans"/>
                <a:sym typeface="Merriweather Sans"/>
              </a:rPr>
              <a:t> </a:t>
            </a:r>
          </a:p>
          <a:p>
            <a:pPr algn="l">
              <a:lnSpc>
                <a:spcPts val="3240"/>
              </a:lnSpc>
            </a:pPr>
            <a:r>
              <a:rPr lang="en-US" b="true" sz="2400" spc="3">
                <a:solidFill>
                  <a:srgbClr val="4617DE"/>
                </a:solidFill>
                <a:latin typeface="Merriweather Sans Bold"/>
                <a:ea typeface="Merriweather Sans Bold"/>
                <a:cs typeface="Merriweather Sans Bold"/>
                <a:sym typeface="Merriweather Sans Bold"/>
              </a:rPr>
              <a:t>Fase 1 : </a:t>
            </a:r>
            <a:r>
              <a:rPr lang="en-US" sz="2400" spc="3">
                <a:solidFill>
                  <a:srgbClr val="000000"/>
                </a:solidFill>
                <a:latin typeface="Merriweather Sans"/>
                <a:ea typeface="Merriweather Sans"/>
                <a:cs typeface="Merriweather Sans"/>
                <a:sym typeface="Merriweather Sans"/>
              </a:rPr>
              <a:t>Congelamos as camadas iniciais da ResNet-50 e treinamos as camadas finais com os nossos dados de espectrogramas de aves. Taxa de aprendizagem inicial de 0.001, otimizador Adam, função de perda Cross-Entropy Loss com pesos de classe para lidar com desequilíbrio, batch size de 32 e early stopping com paciência de 10 épocas.</a:t>
            </a:r>
          </a:p>
          <a:p>
            <a:pPr algn="l">
              <a:lnSpc>
                <a:spcPts val="3240"/>
              </a:lnSpc>
            </a:pPr>
            <a:r>
              <a:rPr lang="en-US" b="true" sz="2400" spc="3">
                <a:solidFill>
                  <a:srgbClr val="4617DE"/>
                </a:solidFill>
                <a:latin typeface="Merriweather Sans Bold"/>
                <a:ea typeface="Merriweather Sans Bold"/>
                <a:cs typeface="Merriweather Sans Bold"/>
                <a:sym typeface="Merriweather Sans Bold"/>
              </a:rPr>
              <a:t>Fase 2 : </a:t>
            </a:r>
            <a:r>
              <a:rPr lang="en-US" sz="2400" spc="3">
                <a:solidFill>
                  <a:srgbClr val="000000"/>
                </a:solidFill>
                <a:latin typeface="Merriweather Sans"/>
                <a:ea typeface="Merriweather Sans"/>
                <a:cs typeface="Merriweather Sans"/>
                <a:sym typeface="Merriweather Sans"/>
              </a:rPr>
              <a:t>Descongelamos as últimas 20 camadas e realizamos fine-tuning com uma taxa de aprendizagem reduzida (0.0001), permitindo que o modelo adapte as características de nível superior aos padrões específicos das aves angolanas. LEARNING RATE scheduling (OnPlateau) para ajustar dinamicamente a taxa deprendizagem.</a:t>
            </a:r>
          </a:p>
          <a:p>
            <a:pPr algn="l">
              <a:lnSpc>
                <a:spcPts val="3240"/>
              </a:lnSpc>
            </a:pPr>
          </a:p>
          <a:p>
            <a:pPr algn="l">
              <a:lnSpc>
                <a:spcPts val="3240"/>
              </a:lnSpc>
            </a:pPr>
            <a:r>
              <a:rPr lang="en-US" b="true" sz="2400" spc="3">
                <a:solidFill>
                  <a:srgbClr val="4617DE"/>
                </a:solidFill>
                <a:latin typeface="Merriweather Sans Bold"/>
                <a:ea typeface="Merriweather Sans Bold"/>
                <a:cs typeface="Merriweather Sans Bold"/>
                <a:sym typeface="Merriweather Sans Bold"/>
              </a:rPr>
              <a:t>MÉTRICAS</a:t>
            </a:r>
            <a:r>
              <a:rPr lang="en-US" sz="2400" spc="3">
                <a:solidFill>
                  <a:srgbClr val="4617DE"/>
                </a:solidFill>
                <a:latin typeface="Merriweather Sans"/>
                <a:ea typeface="Merriweather Sans"/>
                <a:cs typeface="Merriweather Sans"/>
                <a:sym typeface="Merriweather Sans"/>
              </a:rPr>
              <a:t> </a:t>
            </a:r>
            <a:r>
              <a:rPr lang="en-US" b="true" sz="2400" spc="3">
                <a:solidFill>
                  <a:srgbClr val="4617DE"/>
                </a:solidFill>
                <a:latin typeface="Merriweather Sans Bold"/>
                <a:ea typeface="Merriweather Sans Bold"/>
                <a:cs typeface="Merriweather Sans Bold"/>
                <a:sym typeface="Merriweather Sans Bold"/>
              </a:rPr>
              <a:t>DE</a:t>
            </a:r>
            <a:r>
              <a:rPr lang="en-US" sz="2400" spc="3">
                <a:solidFill>
                  <a:srgbClr val="4617DE"/>
                </a:solidFill>
                <a:latin typeface="Merriweather Sans"/>
                <a:ea typeface="Merriweather Sans"/>
                <a:cs typeface="Merriweather Sans"/>
                <a:sym typeface="Merriweather Sans"/>
              </a:rPr>
              <a:t> </a:t>
            </a:r>
            <a:r>
              <a:rPr lang="en-US" b="true" sz="2400" spc="3">
                <a:solidFill>
                  <a:srgbClr val="4617DE"/>
                </a:solidFill>
                <a:latin typeface="Merriweather Sans Bold"/>
                <a:ea typeface="Merriweather Sans Bold"/>
                <a:cs typeface="Merriweather Sans Bold"/>
                <a:sym typeface="Merriweather Sans Bold"/>
              </a:rPr>
              <a:t>DESEMPENHO</a:t>
            </a:r>
            <a:r>
              <a:rPr lang="en-US" sz="2400" spc="3">
                <a:solidFill>
                  <a:srgbClr val="4617DE"/>
                </a:solidFill>
                <a:latin typeface="Merriweather Sans"/>
                <a:ea typeface="Merriweather Sans"/>
                <a:cs typeface="Merriweather Sans"/>
                <a:sym typeface="Merriweather Sans"/>
              </a:rPr>
              <a:t> </a:t>
            </a:r>
            <a:r>
              <a:rPr lang="en-US" b="true" sz="2400" spc="3">
                <a:solidFill>
                  <a:srgbClr val="4617DE"/>
                </a:solidFill>
                <a:latin typeface="Merriweather Sans Bold"/>
                <a:ea typeface="Merriweather Sans Bold"/>
                <a:cs typeface="Merriweather Sans Bold"/>
                <a:sym typeface="Merriweather Sans Bold"/>
              </a:rPr>
              <a:t>ESPERADAS </a:t>
            </a:r>
          </a:p>
          <a:p>
            <a:pPr algn="l">
              <a:lnSpc>
                <a:spcPts val="3240"/>
              </a:lnSpc>
            </a:pPr>
            <a:r>
              <a:rPr lang="en-US" sz="2400" spc="3">
                <a:solidFill>
                  <a:srgbClr val="000000"/>
                </a:solidFill>
                <a:latin typeface="Merriweather Sans"/>
                <a:ea typeface="Merriweather Sans"/>
                <a:cs typeface="Merriweather Sans"/>
                <a:sym typeface="Merriweather Sans"/>
              </a:rPr>
              <a:t>Para o MVP com 50 espécies de aves angolanas, esperamos alcançar uma acurácia global superior a 85%, precisão média por classe superior a 82%, recall médio por classe superior a 80% e F1-score médio superior a 81%. O top-5 accuracy (espécie correta entre as 5 previsões mais prováveis) deve ser superior a 95%</a:t>
            </a:r>
          </a:p>
        </p:txBody>
      </p:sp>
      <p:sp>
        <p:nvSpPr>
          <p:cNvPr name="TextBox 15" id="15"/>
          <p:cNvSpPr txBox="true"/>
          <p:nvPr/>
        </p:nvSpPr>
        <p:spPr>
          <a:xfrm rot="0">
            <a:off x="1137671" y="1842593"/>
            <a:ext cx="13266664" cy="1447800"/>
          </a:xfrm>
          <a:prstGeom prst="rect">
            <a:avLst/>
          </a:prstGeom>
        </p:spPr>
        <p:txBody>
          <a:bodyPr anchor="t" rtlCol="false" tIns="0" lIns="0" bIns="0" rIns="0">
            <a:spAutoFit/>
          </a:bodyPr>
          <a:lstStyle/>
          <a:p>
            <a:pPr algn="l">
              <a:lnSpc>
                <a:spcPts val="2879"/>
              </a:lnSpc>
            </a:pPr>
            <a:r>
              <a:rPr lang="en-US" sz="2400" spc="3" b="true">
                <a:solidFill>
                  <a:srgbClr val="4617DE"/>
                </a:solidFill>
                <a:latin typeface="Merriweather Sans Bold"/>
                <a:ea typeface="Merriweather Sans Bold"/>
                <a:cs typeface="Merriweather Sans Bold"/>
                <a:sym typeface="Merriweather Sans Bold"/>
              </a:rPr>
              <a:t>MODELO 1 : CLASSIFICADOR DE ESPÉCIES </a:t>
            </a:r>
          </a:p>
          <a:p>
            <a:pPr algn="l">
              <a:lnSpc>
                <a:spcPts val="2879"/>
              </a:lnSpc>
            </a:pPr>
          </a:p>
          <a:p>
            <a:pPr algn="l">
              <a:lnSpc>
                <a:spcPts val="2879"/>
              </a:lnSpc>
            </a:pPr>
            <a:r>
              <a:rPr lang="en-US" sz="2400" spc="3" b="true">
                <a:solidFill>
                  <a:srgbClr val="000000"/>
                </a:solidFill>
                <a:latin typeface="Merriweather Sans Bold"/>
                <a:ea typeface="Merriweather Sans Bold"/>
                <a:cs typeface="Merriweather Sans Bold"/>
                <a:sym typeface="Merriweather Sans Bold"/>
              </a:rPr>
              <a:t>ARQUITETURA : </a:t>
            </a:r>
            <a:r>
              <a:rPr lang="en-US" sz="2400" spc="3">
                <a:solidFill>
                  <a:srgbClr val="000000"/>
                </a:solidFill>
                <a:latin typeface="Merriweather Sans"/>
                <a:ea typeface="Merriweather Sans"/>
                <a:cs typeface="Merriweather Sans"/>
                <a:sym typeface="Merriweather Sans"/>
              </a:rPr>
              <a:t>ResNet-50 Com Transfer Learning (Camadas Pré-Treinadas No ImageNet ) Ad</a:t>
            </a:r>
            <a:r>
              <a:rPr lang="en-US" sz="2400" spc="3">
                <a:solidFill>
                  <a:srgbClr val="000000"/>
                </a:solidFill>
                <a:latin typeface="Merriweather Sans"/>
                <a:ea typeface="Merriweather Sans"/>
                <a:cs typeface="Merriweather Sans"/>
                <a:sym typeface="Merriweather Sans"/>
              </a:rPr>
              <a:t>equada Para Espectrogramas</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2956" y="744174"/>
            <a:ext cx="2921214" cy="248720"/>
            <a:chOff x="0" y="0"/>
            <a:chExt cx="3894952" cy="331626"/>
          </a:xfrm>
        </p:grpSpPr>
        <p:sp>
          <p:nvSpPr>
            <p:cNvPr name="Freeform 3" id="3"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4" id="4"/>
          <p:cNvGrpSpPr>
            <a:grpSpLocks noChangeAspect="true"/>
          </p:cNvGrpSpPr>
          <p:nvPr/>
        </p:nvGrpSpPr>
        <p:grpSpPr>
          <a:xfrm rot="0">
            <a:off x="15222434" y="427439"/>
            <a:ext cx="1580448" cy="780909"/>
            <a:chOff x="0" y="0"/>
            <a:chExt cx="2107264" cy="1041212"/>
          </a:xfrm>
        </p:grpSpPr>
        <p:sp>
          <p:nvSpPr>
            <p:cNvPr name="Freeform 5" id="5"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6" id="6"/>
          <p:cNvGrpSpPr>
            <a:grpSpLocks noChangeAspect="true"/>
          </p:cNvGrpSpPr>
          <p:nvPr/>
        </p:nvGrpSpPr>
        <p:grpSpPr>
          <a:xfrm rot="0">
            <a:off x="13800587" y="338836"/>
            <a:ext cx="1234639" cy="941733"/>
            <a:chOff x="0" y="0"/>
            <a:chExt cx="1646186" cy="1255644"/>
          </a:xfrm>
        </p:grpSpPr>
        <p:sp>
          <p:nvSpPr>
            <p:cNvPr name="Freeform 7" id="7"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8" id="8"/>
          <p:cNvGrpSpPr>
            <a:grpSpLocks noChangeAspect="true"/>
          </p:cNvGrpSpPr>
          <p:nvPr/>
        </p:nvGrpSpPr>
        <p:grpSpPr>
          <a:xfrm rot="0">
            <a:off x="17000025" y="270560"/>
            <a:ext cx="534549" cy="1094670"/>
            <a:chOff x="0" y="0"/>
            <a:chExt cx="712732" cy="1459560"/>
          </a:xfrm>
        </p:grpSpPr>
        <p:sp>
          <p:nvSpPr>
            <p:cNvPr name="Freeform 9" id="9"/>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0" id="10"/>
          <p:cNvGrpSpPr>
            <a:grpSpLocks noChangeAspect="true"/>
          </p:cNvGrpSpPr>
          <p:nvPr/>
        </p:nvGrpSpPr>
        <p:grpSpPr>
          <a:xfrm rot="0">
            <a:off x="12595394" y="338836"/>
            <a:ext cx="1008050" cy="864211"/>
            <a:chOff x="0" y="0"/>
            <a:chExt cx="1344066" cy="1152282"/>
          </a:xfrm>
        </p:grpSpPr>
        <p:sp>
          <p:nvSpPr>
            <p:cNvPr name="Freeform 11" id="11"/>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2" id="12"/>
          <p:cNvGrpSpPr/>
          <p:nvPr/>
        </p:nvGrpSpPr>
        <p:grpSpPr>
          <a:xfrm rot="0">
            <a:off x="-13605" y="9985086"/>
            <a:ext cx="18342351" cy="384878"/>
            <a:chOff x="0" y="0"/>
            <a:chExt cx="24456468" cy="513170"/>
          </a:xfrm>
        </p:grpSpPr>
        <p:sp>
          <p:nvSpPr>
            <p:cNvPr name="Freeform 13" id="13"/>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TextBox 14" id="14"/>
          <p:cNvSpPr txBox="true"/>
          <p:nvPr/>
        </p:nvSpPr>
        <p:spPr>
          <a:xfrm rot="0">
            <a:off x="682956" y="4253107"/>
            <a:ext cx="16119926" cy="4556760"/>
          </a:xfrm>
          <a:prstGeom prst="rect">
            <a:avLst/>
          </a:prstGeom>
        </p:spPr>
        <p:txBody>
          <a:bodyPr anchor="t" rtlCol="false" tIns="0" lIns="0" bIns="0" rIns="0">
            <a:spAutoFit/>
          </a:bodyPr>
          <a:lstStyle/>
          <a:p>
            <a:pPr algn="l">
              <a:lnSpc>
                <a:spcPts val="3600"/>
              </a:lnSpc>
            </a:pPr>
            <a:r>
              <a:rPr lang="en-US" sz="2400" spc="3" b="true">
                <a:solidFill>
                  <a:srgbClr val="4617DE"/>
                </a:solidFill>
                <a:latin typeface="Merriweather Sans Bold"/>
                <a:ea typeface="Merriweather Sans Bold"/>
                <a:cs typeface="Merriweather Sans Bold"/>
                <a:sym typeface="Merriweather Sans Bold"/>
              </a:rPr>
              <a:t>ESTRATÉGIA DE TREINO</a:t>
            </a:r>
          </a:p>
          <a:p>
            <a:pPr algn="l">
              <a:lnSpc>
                <a:spcPts val="3600"/>
              </a:lnSpc>
            </a:pPr>
            <a:r>
              <a:rPr lang="en-US" sz="2400" spc="3">
                <a:solidFill>
                  <a:srgbClr val="000000"/>
                </a:solidFill>
                <a:latin typeface="Merriweather Sans"/>
                <a:ea typeface="Merriweather Sans"/>
                <a:cs typeface="Merriweather Sans"/>
                <a:sym typeface="Merriweather Sans"/>
              </a:rPr>
              <a:t>MFCCs como entrada, com sequências de comprimento fixo (200 frames,correspondendo aproximadamente 4-5 segundos de áudio).</a:t>
            </a:r>
          </a:p>
          <a:p>
            <a:pPr algn="l">
              <a:lnSpc>
                <a:spcPts val="3600"/>
              </a:lnSpc>
            </a:pPr>
            <a:r>
              <a:rPr lang="en-US" sz="2400" spc="3">
                <a:solidFill>
                  <a:srgbClr val="000000"/>
                </a:solidFill>
                <a:latin typeface="Merriweather Sans"/>
                <a:ea typeface="Merriweather Sans"/>
                <a:cs typeface="Merriweather Sans"/>
                <a:sym typeface="Merriweather Sans"/>
              </a:rPr>
              <a:t>Tax</a:t>
            </a:r>
            <a:r>
              <a:rPr lang="en-US" sz="2400" spc="3">
                <a:solidFill>
                  <a:srgbClr val="000000"/>
                </a:solidFill>
                <a:latin typeface="Merriweather Sans"/>
                <a:ea typeface="Merriweather Sans"/>
                <a:cs typeface="Merriweather Sans"/>
                <a:sym typeface="Merriweather Sans"/>
              </a:rPr>
              <a:t>a de aprendizagem inicial de 0.001, otimizador Adam, função de perda Cross-Entropy Loss, batch size de 64, gradient clipping (max_norm=1.0) para estabilizar o treino de LSTMs e early stopping com paciência de 15 épocas.</a:t>
            </a:r>
          </a:p>
          <a:p>
            <a:pPr algn="l">
              <a:lnSpc>
                <a:spcPts val="3600"/>
              </a:lnSpc>
            </a:pPr>
            <a:r>
              <a:rPr lang="en-US" b="true" sz="2400" spc="3">
                <a:solidFill>
                  <a:srgbClr val="4617DE"/>
                </a:solidFill>
                <a:latin typeface="Merriweather Sans Bold"/>
                <a:ea typeface="Merriweather Sans Bold"/>
                <a:cs typeface="Merriweather Sans Bold"/>
                <a:sym typeface="Merriweather Sans Bold"/>
              </a:rPr>
              <a:t>MÉTRICAS DE</a:t>
            </a:r>
            <a:r>
              <a:rPr lang="en-US" sz="2400" spc="3">
                <a:solidFill>
                  <a:srgbClr val="4617DE"/>
                </a:solidFill>
                <a:latin typeface="Merriweather Sans"/>
                <a:ea typeface="Merriweather Sans"/>
                <a:cs typeface="Merriweather Sans"/>
                <a:sym typeface="Merriweather Sans"/>
              </a:rPr>
              <a:t> </a:t>
            </a:r>
            <a:r>
              <a:rPr lang="en-US" b="true" sz="2400" spc="3">
                <a:solidFill>
                  <a:srgbClr val="4617DE"/>
                </a:solidFill>
                <a:latin typeface="Merriweather Sans Bold"/>
                <a:ea typeface="Merriweather Sans Bold"/>
                <a:cs typeface="Merriweather Sans Bold"/>
                <a:sym typeface="Merriweather Sans Bold"/>
              </a:rPr>
              <a:t>DESEMPENHO ESPERADAS</a:t>
            </a:r>
          </a:p>
          <a:p>
            <a:pPr algn="l">
              <a:lnSpc>
                <a:spcPts val="3600"/>
              </a:lnSpc>
            </a:pPr>
            <a:r>
              <a:rPr lang="en-US" sz="2400" spc="3">
                <a:solidFill>
                  <a:srgbClr val="000000"/>
                </a:solidFill>
                <a:latin typeface="Merriweather Sans"/>
                <a:ea typeface="Merriweather Sans"/>
                <a:cs typeface="Merriweather Sans"/>
                <a:sym typeface="Merriweather Sans"/>
              </a:rPr>
              <a:t>Para a classificação de 5 tipos de vocalização (alarme, acasalamento, territorial, social, </a:t>
            </a:r>
          </a:p>
          <a:p>
            <a:pPr algn="l">
              <a:lnSpc>
                <a:spcPts val="3600"/>
              </a:lnSpc>
            </a:pPr>
            <a:r>
              <a:rPr lang="en-US" sz="2400" spc="3">
                <a:solidFill>
                  <a:srgbClr val="000000"/>
                </a:solidFill>
                <a:latin typeface="Merriweather Sans"/>
                <a:ea typeface="Merriweather Sans"/>
                <a:cs typeface="Merriweather Sans"/>
                <a:sym typeface="Merriweather Sans"/>
              </a:rPr>
              <a:t>contacto), esperamos alcançar uma acurácia global superior a 78%, precisão média por classe </a:t>
            </a:r>
          </a:p>
          <a:p>
            <a:pPr algn="l">
              <a:lnSpc>
                <a:spcPts val="3600"/>
              </a:lnSpc>
            </a:pPr>
            <a:r>
              <a:rPr lang="en-US" sz="2400" spc="3">
                <a:solidFill>
                  <a:srgbClr val="000000"/>
                </a:solidFill>
                <a:latin typeface="Merriweather Sans"/>
                <a:ea typeface="Merriweather Sans"/>
                <a:cs typeface="Merriweather Sans"/>
                <a:sym typeface="Merriweather Sans"/>
              </a:rPr>
              <a:t>superior a 75%, recall médio por classe superior a 73% e F1-score médio superior a 74%.</a:t>
            </a:r>
          </a:p>
        </p:txBody>
      </p:sp>
      <p:sp>
        <p:nvSpPr>
          <p:cNvPr name="TextBox 15" id="15"/>
          <p:cNvSpPr txBox="true"/>
          <p:nvPr/>
        </p:nvSpPr>
        <p:spPr>
          <a:xfrm rot="0">
            <a:off x="682956" y="2087122"/>
            <a:ext cx="14084762" cy="1813560"/>
          </a:xfrm>
          <a:prstGeom prst="rect">
            <a:avLst/>
          </a:prstGeom>
        </p:spPr>
        <p:txBody>
          <a:bodyPr anchor="t" rtlCol="false" tIns="0" lIns="0" bIns="0" rIns="0">
            <a:spAutoFit/>
          </a:bodyPr>
          <a:lstStyle/>
          <a:p>
            <a:pPr algn="l">
              <a:lnSpc>
                <a:spcPts val="3600"/>
              </a:lnSpc>
            </a:pPr>
            <a:r>
              <a:rPr lang="en-US" sz="2400" spc="2" b="true">
                <a:solidFill>
                  <a:srgbClr val="4617DE"/>
                </a:solidFill>
                <a:latin typeface="Merriweather Sans Bold"/>
                <a:ea typeface="Merriweather Sans Bold"/>
                <a:cs typeface="Merriweather Sans Bold"/>
                <a:sym typeface="Merriweather Sans Bold"/>
              </a:rPr>
              <a:t>MODELO 2 : CLASSIFICADOR DE TIPO DE VOCALIZAÇÃO </a:t>
            </a:r>
          </a:p>
          <a:p>
            <a:pPr algn="l">
              <a:lnSpc>
                <a:spcPts val="3600"/>
              </a:lnSpc>
            </a:pPr>
          </a:p>
          <a:p>
            <a:pPr algn="l">
              <a:lnSpc>
                <a:spcPts val="3600"/>
              </a:lnSpc>
            </a:pPr>
            <a:r>
              <a:rPr lang="en-US" b="true" sz="2400" spc="3">
                <a:solidFill>
                  <a:srgbClr val="000000"/>
                </a:solidFill>
                <a:latin typeface="Merriweather Sans Bold"/>
                <a:ea typeface="Merriweather Sans Bold"/>
                <a:cs typeface="Merriweather Sans Bold"/>
                <a:sym typeface="Merriweather Sans Bold"/>
              </a:rPr>
              <a:t>ARQUITETURA</a:t>
            </a:r>
            <a:r>
              <a:rPr lang="en-US" sz="2400" spc="3">
                <a:solidFill>
                  <a:srgbClr val="000000"/>
                </a:solidFill>
                <a:latin typeface="Merriweather Sans"/>
                <a:ea typeface="Merriweather Sans"/>
                <a:cs typeface="Merriweather Sans"/>
                <a:sym typeface="Merriweather Sans"/>
              </a:rPr>
              <a:t>: </a:t>
            </a:r>
            <a:r>
              <a:rPr lang="en-US" b="true" sz="2400" spc="3">
                <a:solidFill>
                  <a:srgbClr val="000000"/>
                </a:solidFill>
                <a:latin typeface="Merriweather Sans Bold"/>
                <a:ea typeface="Merriweather Sans Bold"/>
                <a:cs typeface="Merriweather Sans Bold"/>
                <a:sym typeface="Merriweather Sans Bold"/>
              </a:rPr>
              <a:t>CNN + LSTM (HÍBRIDA)</a:t>
            </a:r>
          </a:p>
          <a:p>
            <a:pPr algn="l">
              <a:lnSpc>
                <a:spcPts val="3600"/>
              </a:lnSpc>
            </a:pPr>
            <a:r>
              <a:rPr lang="en-US" sz="2400" spc="3">
                <a:solidFill>
                  <a:srgbClr val="000000"/>
                </a:solidFill>
                <a:latin typeface="Merriweather Sans"/>
                <a:ea typeface="Merriweather Sans"/>
                <a:cs typeface="Merriweather Sans"/>
                <a:sym typeface="Merriweather Sans"/>
              </a:rPr>
              <a:t>C</a:t>
            </a:r>
            <a:r>
              <a:rPr lang="en-US" sz="2400" spc="3">
                <a:solidFill>
                  <a:srgbClr val="000000"/>
                </a:solidFill>
                <a:latin typeface="Merriweather Sans"/>
                <a:ea typeface="Merriweather Sans"/>
                <a:cs typeface="Merriweather Sans"/>
                <a:sym typeface="Merriweather Sans"/>
              </a:rPr>
              <a:t>NN Para Extração De Características Espaciais e LSTM Para Capturar Dependências Temporais</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2956" y="744174"/>
            <a:ext cx="2921214" cy="248720"/>
            <a:chOff x="0" y="0"/>
            <a:chExt cx="3894952" cy="331626"/>
          </a:xfrm>
        </p:grpSpPr>
        <p:sp>
          <p:nvSpPr>
            <p:cNvPr name="Freeform 3" id="3"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4" id="4"/>
          <p:cNvGrpSpPr>
            <a:grpSpLocks noChangeAspect="true"/>
          </p:cNvGrpSpPr>
          <p:nvPr/>
        </p:nvGrpSpPr>
        <p:grpSpPr>
          <a:xfrm rot="0">
            <a:off x="15222434" y="427439"/>
            <a:ext cx="1580448" cy="780909"/>
            <a:chOff x="0" y="0"/>
            <a:chExt cx="2107264" cy="1041212"/>
          </a:xfrm>
        </p:grpSpPr>
        <p:sp>
          <p:nvSpPr>
            <p:cNvPr name="Freeform 5" id="5"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6" id="6"/>
          <p:cNvGrpSpPr>
            <a:grpSpLocks noChangeAspect="true"/>
          </p:cNvGrpSpPr>
          <p:nvPr/>
        </p:nvGrpSpPr>
        <p:grpSpPr>
          <a:xfrm rot="0">
            <a:off x="13800587" y="338836"/>
            <a:ext cx="1234639" cy="941733"/>
            <a:chOff x="0" y="0"/>
            <a:chExt cx="1646186" cy="1255644"/>
          </a:xfrm>
        </p:grpSpPr>
        <p:sp>
          <p:nvSpPr>
            <p:cNvPr name="Freeform 7" id="7"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8" id="8"/>
          <p:cNvGrpSpPr>
            <a:grpSpLocks noChangeAspect="true"/>
          </p:cNvGrpSpPr>
          <p:nvPr/>
        </p:nvGrpSpPr>
        <p:grpSpPr>
          <a:xfrm rot="0">
            <a:off x="17000025" y="270560"/>
            <a:ext cx="534549" cy="1094670"/>
            <a:chOff x="0" y="0"/>
            <a:chExt cx="712732" cy="1459560"/>
          </a:xfrm>
        </p:grpSpPr>
        <p:sp>
          <p:nvSpPr>
            <p:cNvPr name="Freeform 9" id="9"/>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0" id="10"/>
          <p:cNvGrpSpPr>
            <a:grpSpLocks noChangeAspect="true"/>
          </p:cNvGrpSpPr>
          <p:nvPr/>
        </p:nvGrpSpPr>
        <p:grpSpPr>
          <a:xfrm rot="0">
            <a:off x="12595394" y="338836"/>
            <a:ext cx="1008050" cy="864211"/>
            <a:chOff x="0" y="0"/>
            <a:chExt cx="1344066" cy="1152282"/>
          </a:xfrm>
        </p:grpSpPr>
        <p:sp>
          <p:nvSpPr>
            <p:cNvPr name="Freeform 11" id="11"/>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2" id="12"/>
          <p:cNvGrpSpPr/>
          <p:nvPr/>
        </p:nvGrpSpPr>
        <p:grpSpPr>
          <a:xfrm rot="0">
            <a:off x="-13605" y="9985086"/>
            <a:ext cx="18342351" cy="384878"/>
            <a:chOff x="0" y="0"/>
            <a:chExt cx="24456468" cy="513170"/>
          </a:xfrm>
        </p:grpSpPr>
        <p:sp>
          <p:nvSpPr>
            <p:cNvPr name="Freeform 13" id="13"/>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Freeform 14" id="14"/>
          <p:cNvSpPr/>
          <p:nvPr/>
        </p:nvSpPr>
        <p:spPr>
          <a:xfrm flipH="false" flipV="false" rot="0">
            <a:off x="682956" y="2028468"/>
            <a:ext cx="5369122" cy="6963447"/>
          </a:xfrm>
          <a:custGeom>
            <a:avLst/>
            <a:gdLst/>
            <a:ahLst/>
            <a:cxnLst/>
            <a:rect r="r" b="b" t="t" l="l"/>
            <a:pathLst>
              <a:path h="6963447" w="5369122">
                <a:moveTo>
                  <a:pt x="0" y="0"/>
                </a:moveTo>
                <a:lnTo>
                  <a:pt x="5369122" y="0"/>
                </a:lnTo>
                <a:lnTo>
                  <a:pt x="5369122" y="6963447"/>
                </a:lnTo>
                <a:lnTo>
                  <a:pt x="0" y="6963447"/>
                </a:lnTo>
                <a:lnTo>
                  <a:pt x="0" y="0"/>
                </a:lnTo>
                <a:close/>
              </a:path>
            </a:pathLst>
          </a:custGeom>
          <a:blipFill>
            <a:blip r:embed="rId8"/>
            <a:stretch>
              <a:fillRect l="0" t="0" r="0" b="0"/>
            </a:stretch>
          </a:blipFill>
        </p:spPr>
      </p:sp>
      <p:sp>
        <p:nvSpPr>
          <p:cNvPr name="Freeform 15" id="15"/>
          <p:cNvSpPr/>
          <p:nvPr/>
        </p:nvSpPr>
        <p:spPr>
          <a:xfrm flipH="false" flipV="false" rot="0">
            <a:off x="6636642" y="2028468"/>
            <a:ext cx="4465310" cy="6963447"/>
          </a:xfrm>
          <a:custGeom>
            <a:avLst/>
            <a:gdLst/>
            <a:ahLst/>
            <a:cxnLst/>
            <a:rect r="r" b="b" t="t" l="l"/>
            <a:pathLst>
              <a:path h="6963447" w="4465310">
                <a:moveTo>
                  <a:pt x="0" y="0"/>
                </a:moveTo>
                <a:lnTo>
                  <a:pt x="4465310" y="0"/>
                </a:lnTo>
                <a:lnTo>
                  <a:pt x="4465310" y="6963447"/>
                </a:lnTo>
                <a:lnTo>
                  <a:pt x="0" y="6963447"/>
                </a:lnTo>
                <a:lnTo>
                  <a:pt x="0" y="0"/>
                </a:lnTo>
                <a:close/>
              </a:path>
            </a:pathLst>
          </a:custGeom>
          <a:blipFill>
            <a:blip r:embed="rId9"/>
            <a:stretch>
              <a:fillRect l="0" t="0" r="0" b="0"/>
            </a:stretch>
          </a:blipFill>
        </p:spPr>
      </p:sp>
      <p:sp>
        <p:nvSpPr>
          <p:cNvPr name="Freeform 16" id="16"/>
          <p:cNvSpPr/>
          <p:nvPr/>
        </p:nvSpPr>
        <p:spPr>
          <a:xfrm flipH="false" flipV="false" rot="0">
            <a:off x="11686515" y="2028468"/>
            <a:ext cx="5848059" cy="6963447"/>
          </a:xfrm>
          <a:custGeom>
            <a:avLst/>
            <a:gdLst/>
            <a:ahLst/>
            <a:cxnLst/>
            <a:rect r="r" b="b" t="t" l="l"/>
            <a:pathLst>
              <a:path h="6963447" w="5848059">
                <a:moveTo>
                  <a:pt x="0" y="0"/>
                </a:moveTo>
                <a:lnTo>
                  <a:pt x="5848059" y="0"/>
                </a:lnTo>
                <a:lnTo>
                  <a:pt x="5848059" y="6963447"/>
                </a:lnTo>
                <a:lnTo>
                  <a:pt x="0" y="6963447"/>
                </a:lnTo>
                <a:lnTo>
                  <a:pt x="0" y="0"/>
                </a:lnTo>
                <a:close/>
              </a:path>
            </a:pathLst>
          </a:custGeom>
          <a:blipFill>
            <a:blip r:embed="rId10"/>
            <a:stretch>
              <a:fillRect l="0" t="0" r="0" b="-6138"/>
            </a:stretch>
          </a:blipFill>
        </p:spPr>
      </p:sp>
      <p:sp>
        <p:nvSpPr>
          <p:cNvPr name="TextBox 17" id="17"/>
          <p:cNvSpPr txBox="true"/>
          <p:nvPr/>
        </p:nvSpPr>
        <p:spPr>
          <a:xfrm rot="0">
            <a:off x="332597" y="9258300"/>
            <a:ext cx="6069840" cy="361950"/>
          </a:xfrm>
          <a:prstGeom prst="rect">
            <a:avLst/>
          </a:prstGeom>
        </p:spPr>
        <p:txBody>
          <a:bodyPr anchor="t" rtlCol="false" tIns="0" lIns="0" bIns="0" rIns="0">
            <a:spAutoFit/>
          </a:bodyPr>
          <a:lstStyle/>
          <a:p>
            <a:pPr algn="ctr">
              <a:lnSpc>
                <a:spcPts val="2879"/>
              </a:lnSpc>
            </a:pPr>
            <a:r>
              <a:rPr lang="en-US" sz="2400" spc="360">
                <a:solidFill>
                  <a:srgbClr val="000000"/>
                </a:solidFill>
                <a:latin typeface="Merriweather Sans"/>
                <a:ea typeface="Merriweather Sans"/>
                <a:cs typeface="Merriweather Sans"/>
                <a:sym typeface="Merriweather Sans"/>
              </a:rPr>
              <a:t>Configuração do modelo 1 </a:t>
            </a:r>
          </a:p>
        </p:txBody>
      </p:sp>
      <p:sp>
        <p:nvSpPr>
          <p:cNvPr name="TextBox 18" id="18"/>
          <p:cNvSpPr txBox="true"/>
          <p:nvPr/>
        </p:nvSpPr>
        <p:spPr>
          <a:xfrm rot="0">
            <a:off x="6052078" y="9258300"/>
            <a:ext cx="6069840" cy="361950"/>
          </a:xfrm>
          <a:prstGeom prst="rect">
            <a:avLst/>
          </a:prstGeom>
        </p:spPr>
        <p:txBody>
          <a:bodyPr anchor="t" rtlCol="false" tIns="0" lIns="0" bIns="0" rIns="0">
            <a:spAutoFit/>
          </a:bodyPr>
          <a:lstStyle/>
          <a:p>
            <a:pPr algn="ctr">
              <a:lnSpc>
                <a:spcPts val="2879"/>
              </a:lnSpc>
            </a:pPr>
            <a:r>
              <a:rPr lang="en-US" sz="2400" spc="360">
                <a:solidFill>
                  <a:srgbClr val="000000"/>
                </a:solidFill>
                <a:latin typeface="Merriweather Sans"/>
                <a:ea typeface="Merriweather Sans"/>
                <a:cs typeface="Merriweather Sans"/>
                <a:sym typeface="Merriweather Sans"/>
              </a:rPr>
              <a:t>Configuração do modelo 2 </a:t>
            </a:r>
          </a:p>
        </p:txBody>
      </p:sp>
      <p:sp>
        <p:nvSpPr>
          <p:cNvPr name="TextBox 19" id="19"/>
          <p:cNvSpPr txBox="true"/>
          <p:nvPr/>
        </p:nvSpPr>
        <p:spPr>
          <a:xfrm rot="0">
            <a:off x="11686515" y="9258300"/>
            <a:ext cx="6069840" cy="361950"/>
          </a:xfrm>
          <a:prstGeom prst="rect">
            <a:avLst/>
          </a:prstGeom>
        </p:spPr>
        <p:txBody>
          <a:bodyPr anchor="t" rtlCol="false" tIns="0" lIns="0" bIns="0" rIns="0">
            <a:spAutoFit/>
          </a:bodyPr>
          <a:lstStyle/>
          <a:p>
            <a:pPr algn="ctr">
              <a:lnSpc>
                <a:spcPts val="2879"/>
              </a:lnSpc>
            </a:pPr>
            <a:r>
              <a:rPr lang="en-US" sz="2400" spc="360">
                <a:solidFill>
                  <a:srgbClr val="000000"/>
                </a:solidFill>
                <a:latin typeface="Merriweather Sans"/>
                <a:ea typeface="Merriweather Sans"/>
                <a:cs typeface="Merriweather Sans"/>
                <a:sym typeface="Merriweather Sans"/>
              </a:rPr>
              <a:t>Configuração do modelo 2</a:t>
            </a:r>
          </a:p>
        </p:txBody>
      </p:sp>
      <p:sp>
        <p:nvSpPr>
          <p:cNvPr name="TextBox 20" id="20"/>
          <p:cNvSpPr txBox="true"/>
          <p:nvPr/>
        </p:nvSpPr>
        <p:spPr>
          <a:xfrm rot="0">
            <a:off x="7326586" y="8134350"/>
            <a:ext cx="6069840" cy="762000"/>
          </a:xfrm>
          <a:prstGeom prst="rect">
            <a:avLst/>
          </a:prstGeom>
        </p:spPr>
        <p:txBody>
          <a:bodyPr anchor="t" rtlCol="false" tIns="0" lIns="0" bIns="0" rIns="0">
            <a:spAutoFit/>
          </a:bodyPr>
          <a:lstStyle/>
          <a:p>
            <a:pPr algn="ctr">
              <a:lnSpc>
                <a:spcPts val="6000"/>
              </a:lnSpc>
            </a:pPr>
            <a:r>
              <a:rPr lang="en-US" b="true" sz="5000" spc="750">
                <a:solidFill>
                  <a:srgbClr val="FFFFFF"/>
                </a:solidFill>
                <a:latin typeface="Merriweather Sans Bold"/>
                <a:ea typeface="Merriweather Sans Bold"/>
                <a:cs typeface="Merriweather Sans Bold"/>
                <a:sym typeface="Merriweather Sans Bold"/>
              </a:rPr>
              <a:t>A</a:t>
            </a:r>
          </a:p>
        </p:txBody>
      </p:sp>
      <p:sp>
        <p:nvSpPr>
          <p:cNvPr name="TextBox 21" id="21"/>
          <p:cNvSpPr txBox="true"/>
          <p:nvPr/>
        </p:nvSpPr>
        <p:spPr>
          <a:xfrm rot="0">
            <a:off x="13396426" y="8134350"/>
            <a:ext cx="6069840" cy="762000"/>
          </a:xfrm>
          <a:prstGeom prst="rect">
            <a:avLst/>
          </a:prstGeom>
        </p:spPr>
        <p:txBody>
          <a:bodyPr anchor="t" rtlCol="false" tIns="0" lIns="0" bIns="0" rIns="0">
            <a:spAutoFit/>
          </a:bodyPr>
          <a:lstStyle/>
          <a:p>
            <a:pPr algn="ctr">
              <a:lnSpc>
                <a:spcPts val="6000"/>
              </a:lnSpc>
            </a:pPr>
            <a:r>
              <a:rPr lang="en-US" b="true" sz="5000" spc="750">
                <a:solidFill>
                  <a:srgbClr val="FFFFFF"/>
                </a:solidFill>
                <a:latin typeface="Merriweather Sans Bold"/>
                <a:ea typeface="Merriweather Sans Bold"/>
                <a:cs typeface="Merriweather Sans Bold"/>
                <a:sym typeface="Merriweather Sans Bold"/>
              </a:rPr>
              <a:t>B</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2956" y="744174"/>
            <a:ext cx="2921214" cy="248720"/>
            <a:chOff x="0" y="0"/>
            <a:chExt cx="3894952" cy="331626"/>
          </a:xfrm>
        </p:grpSpPr>
        <p:sp>
          <p:nvSpPr>
            <p:cNvPr name="Freeform 3" id="3"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4" id="4"/>
          <p:cNvGrpSpPr>
            <a:grpSpLocks noChangeAspect="true"/>
          </p:cNvGrpSpPr>
          <p:nvPr/>
        </p:nvGrpSpPr>
        <p:grpSpPr>
          <a:xfrm rot="0">
            <a:off x="15222434" y="427439"/>
            <a:ext cx="1580448" cy="780909"/>
            <a:chOff x="0" y="0"/>
            <a:chExt cx="2107264" cy="1041212"/>
          </a:xfrm>
        </p:grpSpPr>
        <p:sp>
          <p:nvSpPr>
            <p:cNvPr name="Freeform 5" id="5"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6" id="6"/>
          <p:cNvGrpSpPr>
            <a:grpSpLocks noChangeAspect="true"/>
          </p:cNvGrpSpPr>
          <p:nvPr/>
        </p:nvGrpSpPr>
        <p:grpSpPr>
          <a:xfrm rot="0">
            <a:off x="13800587" y="338836"/>
            <a:ext cx="1234639" cy="941733"/>
            <a:chOff x="0" y="0"/>
            <a:chExt cx="1646186" cy="1255644"/>
          </a:xfrm>
        </p:grpSpPr>
        <p:sp>
          <p:nvSpPr>
            <p:cNvPr name="Freeform 7" id="7"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8" id="8"/>
          <p:cNvGrpSpPr>
            <a:grpSpLocks noChangeAspect="true"/>
          </p:cNvGrpSpPr>
          <p:nvPr/>
        </p:nvGrpSpPr>
        <p:grpSpPr>
          <a:xfrm rot="0">
            <a:off x="17000025" y="270560"/>
            <a:ext cx="534549" cy="1094670"/>
            <a:chOff x="0" y="0"/>
            <a:chExt cx="712732" cy="1459560"/>
          </a:xfrm>
        </p:grpSpPr>
        <p:sp>
          <p:nvSpPr>
            <p:cNvPr name="Freeform 9" id="9"/>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0" id="10"/>
          <p:cNvGrpSpPr>
            <a:grpSpLocks noChangeAspect="true"/>
          </p:cNvGrpSpPr>
          <p:nvPr/>
        </p:nvGrpSpPr>
        <p:grpSpPr>
          <a:xfrm rot="0">
            <a:off x="12595394" y="338836"/>
            <a:ext cx="1008050" cy="864211"/>
            <a:chOff x="0" y="0"/>
            <a:chExt cx="1344066" cy="1152282"/>
          </a:xfrm>
        </p:grpSpPr>
        <p:sp>
          <p:nvSpPr>
            <p:cNvPr name="Freeform 11" id="11"/>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2" id="12"/>
          <p:cNvGrpSpPr/>
          <p:nvPr/>
        </p:nvGrpSpPr>
        <p:grpSpPr>
          <a:xfrm rot="0">
            <a:off x="-13605" y="9985086"/>
            <a:ext cx="18342351" cy="384878"/>
            <a:chOff x="0" y="0"/>
            <a:chExt cx="24456468" cy="513170"/>
          </a:xfrm>
        </p:grpSpPr>
        <p:sp>
          <p:nvSpPr>
            <p:cNvPr name="Freeform 13" id="13"/>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Freeform 14" id="14"/>
          <p:cNvSpPr/>
          <p:nvPr/>
        </p:nvSpPr>
        <p:spPr>
          <a:xfrm flipH="false" flipV="false" rot="0">
            <a:off x="10056588" y="2015429"/>
            <a:ext cx="5077611" cy="7635505"/>
          </a:xfrm>
          <a:custGeom>
            <a:avLst/>
            <a:gdLst/>
            <a:ahLst/>
            <a:cxnLst/>
            <a:rect r="r" b="b" t="t" l="l"/>
            <a:pathLst>
              <a:path h="7635505" w="5077611">
                <a:moveTo>
                  <a:pt x="0" y="0"/>
                </a:moveTo>
                <a:lnTo>
                  <a:pt x="5077611" y="0"/>
                </a:lnTo>
                <a:lnTo>
                  <a:pt x="5077611" y="7635504"/>
                </a:lnTo>
                <a:lnTo>
                  <a:pt x="0" y="7635504"/>
                </a:lnTo>
                <a:lnTo>
                  <a:pt x="0" y="0"/>
                </a:lnTo>
                <a:close/>
              </a:path>
            </a:pathLst>
          </a:custGeom>
          <a:blipFill>
            <a:blip r:embed="rId8"/>
            <a:stretch>
              <a:fillRect l="0" t="0" r="0" b="0"/>
            </a:stretch>
          </a:blipFill>
        </p:spPr>
      </p:sp>
      <p:sp>
        <p:nvSpPr>
          <p:cNvPr name="TextBox 15" id="15"/>
          <p:cNvSpPr txBox="true"/>
          <p:nvPr/>
        </p:nvSpPr>
        <p:spPr>
          <a:xfrm rot="0">
            <a:off x="2143563" y="1939229"/>
            <a:ext cx="6920169" cy="4556760"/>
          </a:xfrm>
          <a:prstGeom prst="rect">
            <a:avLst/>
          </a:prstGeom>
        </p:spPr>
        <p:txBody>
          <a:bodyPr anchor="t" rtlCol="false" tIns="0" lIns="0" bIns="0" rIns="0">
            <a:spAutoFit/>
          </a:bodyPr>
          <a:lstStyle/>
          <a:p>
            <a:pPr algn="just">
              <a:lnSpc>
                <a:spcPts val="3600"/>
              </a:lnSpc>
            </a:pPr>
            <a:r>
              <a:rPr lang="en-US" b="true" sz="2400" spc="2">
                <a:solidFill>
                  <a:srgbClr val="4617DE"/>
                </a:solidFill>
                <a:latin typeface="Merriweather Sans Bold"/>
                <a:ea typeface="Merriweather Sans Bold"/>
                <a:cs typeface="Merriweather Sans Bold"/>
                <a:sym typeface="Merriweather Sans Bold"/>
              </a:rPr>
              <a:t>ENSEMBLE E FUSÃO DE MODELOS </a:t>
            </a:r>
          </a:p>
          <a:p>
            <a:pPr algn="just">
              <a:lnSpc>
                <a:spcPts val="3600"/>
              </a:lnSpc>
            </a:pPr>
          </a:p>
          <a:p>
            <a:pPr algn="just">
              <a:lnSpc>
                <a:spcPts val="3600"/>
              </a:lnSpc>
            </a:pPr>
            <a:r>
              <a:rPr lang="en-US" sz="2400" spc="2">
                <a:solidFill>
                  <a:srgbClr val="000000"/>
                </a:solidFill>
                <a:latin typeface="Merriweather Sans"/>
                <a:ea typeface="Merriweather Sans"/>
                <a:cs typeface="Merriweather Sans"/>
                <a:sym typeface="Merriweather Sans"/>
              </a:rPr>
              <a:t>Para aumentar a robustez e precisão das previsões, implementamos uma estratégia de ensemble que combina as saídas de múltiplos modelos.</a:t>
            </a:r>
          </a:p>
          <a:p>
            <a:pPr algn="just">
              <a:lnSpc>
                <a:spcPts val="3600"/>
              </a:lnSpc>
            </a:pPr>
            <a:r>
              <a:rPr lang="en-US" sz="2400" spc="3">
                <a:solidFill>
                  <a:srgbClr val="000000"/>
                </a:solidFill>
                <a:latin typeface="Merriweather Sans"/>
                <a:ea typeface="Merriweather Sans"/>
                <a:cs typeface="Merriweather Sans"/>
                <a:sym typeface="Merriweather Sans"/>
              </a:rPr>
              <a:t>A fusão é realizada através de votação ponderada, onde cada modelo contribui com um peso proporcional à sua confiança e desempenho histórico.</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2956" y="744174"/>
            <a:ext cx="2921214" cy="248720"/>
            <a:chOff x="0" y="0"/>
            <a:chExt cx="3894952" cy="331626"/>
          </a:xfrm>
        </p:grpSpPr>
        <p:sp>
          <p:nvSpPr>
            <p:cNvPr name="Freeform 3" id="3"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4" id="4"/>
          <p:cNvGrpSpPr>
            <a:grpSpLocks noChangeAspect="true"/>
          </p:cNvGrpSpPr>
          <p:nvPr/>
        </p:nvGrpSpPr>
        <p:grpSpPr>
          <a:xfrm rot="0">
            <a:off x="15222434" y="427439"/>
            <a:ext cx="1580448" cy="780909"/>
            <a:chOff x="0" y="0"/>
            <a:chExt cx="2107264" cy="1041212"/>
          </a:xfrm>
        </p:grpSpPr>
        <p:sp>
          <p:nvSpPr>
            <p:cNvPr name="Freeform 5" id="5"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6" id="6"/>
          <p:cNvGrpSpPr>
            <a:grpSpLocks noChangeAspect="true"/>
          </p:cNvGrpSpPr>
          <p:nvPr/>
        </p:nvGrpSpPr>
        <p:grpSpPr>
          <a:xfrm rot="0">
            <a:off x="13800587" y="338836"/>
            <a:ext cx="1234639" cy="941733"/>
            <a:chOff x="0" y="0"/>
            <a:chExt cx="1646186" cy="1255644"/>
          </a:xfrm>
        </p:grpSpPr>
        <p:sp>
          <p:nvSpPr>
            <p:cNvPr name="Freeform 7" id="7"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8" id="8"/>
          <p:cNvGrpSpPr>
            <a:grpSpLocks noChangeAspect="true"/>
          </p:cNvGrpSpPr>
          <p:nvPr/>
        </p:nvGrpSpPr>
        <p:grpSpPr>
          <a:xfrm rot="0">
            <a:off x="17000025" y="270560"/>
            <a:ext cx="534549" cy="1094670"/>
            <a:chOff x="0" y="0"/>
            <a:chExt cx="712732" cy="1459560"/>
          </a:xfrm>
        </p:grpSpPr>
        <p:sp>
          <p:nvSpPr>
            <p:cNvPr name="Freeform 9" id="9"/>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0" id="10"/>
          <p:cNvGrpSpPr>
            <a:grpSpLocks noChangeAspect="true"/>
          </p:cNvGrpSpPr>
          <p:nvPr/>
        </p:nvGrpSpPr>
        <p:grpSpPr>
          <a:xfrm rot="0">
            <a:off x="12595394" y="338836"/>
            <a:ext cx="1008050" cy="864211"/>
            <a:chOff x="0" y="0"/>
            <a:chExt cx="1344066" cy="1152282"/>
          </a:xfrm>
        </p:grpSpPr>
        <p:sp>
          <p:nvSpPr>
            <p:cNvPr name="Freeform 11" id="11"/>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2" id="12"/>
          <p:cNvGrpSpPr/>
          <p:nvPr/>
        </p:nvGrpSpPr>
        <p:grpSpPr>
          <a:xfrm rot="0">
            <a:off x="-13605" y="9985086"/>
            <a:ext cx="18342351" cy="384878"/>
            <a:chOff x="0" y="0"/>
            <a:chExt cx="24456468" cy="513170"/>
          </a:xfrm>
        </p:grpSpPr>
        <p:sp>
          <p:nvSpPr>
            <p:cNvPr name="Freeform 13" id="13"/>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TextBox 14" id="14"/>
          <p:cNvSpPr txBox="true"/>
          <p:nvPr/>
        </p:nvSpPr>
        <p:spPr>
          <a:xfrm rot="0">
            <a:off x="1028700" y="1912620"/>
            <a:ext cx="16230600" cy="6842760"/>
          </a:xfrm>
          <a:prstGeom prst="rect">
            <a:avLst/>
          </a:prstGeom>
        </p:spPr>
        <p:txBody>
          <a:bodyPr anchor="t" rtlCol="false" tIns="0" lIns="0" bIns="0" rIns="0">
            <a:spAutoFit/>
          </a:bodyPr>
          <a:lstStyle/>
          <a:p>
            <a:pPr algn="just">
              <a:lnSpc>
                <a:spcPts val="3600"/>
              </a:lnSpc>
            </a:pPr>
            <a:r>
              <a:rPr lang="en-US" b="true" sz="2400" spc="2">
                <a:solidFill>
                  <a:srgbClr val="4617DE"/>
                </a:solidFill>
                <a:latin typeface="Merriweather Sans Bold"/>
                <a:ea typeface="Merriweather Sans Bold"/>
                <a:cs typeface="Merriweather Sans Bold"/>
                <a:sym typeface="Merriweather Sans Bold"/>
              </a:rPr>
              <a:t>PIPELINE DE </a:t>
            </a:r>
            <a:r>
              <a:rPr lang="en-US" b="true" sz="2400" spc="2">
                <a:solidFill>
                  <a:srgbClr val="4617DE"/>
                </a:solidFill>
                <a:latin typeface="Merriweather Sans Bold"/>
                <a:ea typeface="Merriweather Sans Bold"/>
                <a:cs typeface="Merriweather Sans Bold"/>
                <a:sym typeface="Merriweather Sans Bold"/>
              </a:rPr>
              <a:t>TREINO</a:t>
            </a:r>
            <a:r>
              <a:rPr lang="en-US" sz="2400" spc="2">
                <a:solidFill>
                  <a:srgbClr val="000000"/>
                </a:solidFill>
                <a:latin typeface="Merriweather Sans"/>
                <a:ea typeface="Merriweather Sans"/>
                <a:cs typeface="Merriweather Sans"/>
                <a:sym typeface="Merriweather Sans"/>
              </a:rPr>
              <a:t> </a:t>
            </a:r>
          </a:p>
          <a:p>
            <a:pPr algn="just">
              <a:lnSpc>
                <a:spcPts val="3600"/>
              </a:lnSpc>
            </a:pPr>
          </a:p>
          <a:p>
            <a:pPr algn="just">
              <a:lnSpc>
                <a:spcPts val="3600"/>
              </a:lnSpc>
            </a:pPr>
            <a:r>
              <a:rPr lang="en-US" b="true" sz="2400" spc="3">
                <a:solidFill>
                  <a:srgbClr val="000000"/>
                </a:solidFill>
                <a:latin typeface="Merriweather Sans Bold"/>
                <a:ea typeface="Merriweather Sans Bold"/>
                <a:cs typeface="Merriweather Sans Bold"/>
                <a:sym typeface="Merriweather Sans Bold"/>
              </a:rPr>
              <a:t>CARREGAMENTO E </a:t>
            </a:r>
            <a:r>
              <a:rPr lang="en-US" b="true" sz="2400" spc="3">
                <a:solidFill>
                  <a:srgbClr val="000000"/>
                </a:solidFill>
                <a:latin typeface="Merriweather Sans Bold"/>
                <a:ea typeface="Merriweather Sans Bold"/>
                <a:cs typeface="Merriweather Sans Bold"/>
                <a:sym typeface="Merriweather Sans Bold"/>
              </a:rPr>
              <a:t>PRÉ-PROCESSAMENTO DE DADOS</a:t>
            </a:r>
            <a:r>
              <a:rPr lang="en-US" sz="2400" spc="3">
                <a:solidFill>
                  <a:srgbClr val="000000"/>
                </a:solidFill>
                <a:latin typeface="Merriweather Sans"/>
                <a:ea typeface="Merriweather Sans"/>
                <a:cs typeface="Merriweather Sans"/>
                <a:sym typeface="Merriweather Sans"/>
              </a:rPr>
              <a:t>: Engenharia de recursos (espectrogramas e MFCCs), aumento de dados (data augmentation), treino com validação contínua, avaliação em conjunto de teste, ajuste de hiperparâmetros e registo de métricas e artefatos.</a:t>
            </a:r>
          </a:p>
          <a:p>
            <a:pPr algn="just">
              <a:lnSpc>
                <a:spcPts val="3600"/>
              </a:lnSpc>
            </a:pPr>
          </a:p>
          <a:p>
            <a:pPr algn="just">
              <a:lnSpc>
                <a:spcPts val="3600"/>
              </a:lnSpc>
            </a:pPr>
            <a:r>
              <a:rPr lang="en-US" b="true" sz="2400" spc="3">
                <a:solidFill>
                  <a:srgbClr val="000000"/>
                </a:solidFill>
                <a:latin typeface="Merriweather Sans Bold"/>
                <a:ea typeface="Merriweather Sans Bold"/>
                <a:cs typeface="Merriweather Sans Bold"/>
                <a:sym typeface="Merriweather Sans Bold"/>
              </a:rPr>
              <a:t>HIPERPARÂMETROS</a:t>
            </a:r>
            <a:r>
              <a:rPr lang="en-US" sz="2400" spc="3">
                <a:solidFill>
                  <a:srgbClr val="000000"/>
                </a:solidFill>
                <a:latin typeface="Merriweather Sans"/>
                <a:ea typeface="Merriweather Sans"/>
                <a:cs typeface="Merriweather Sans"/>
                <a:sym typeface="Merriweather Sans"/>
              </a:rPr>
              <a:t> </a:t>
            </a:r>
            <a:r>
              <a:rPr lang="en-US" b="true" sz="2400" spc="3">
                <a:solidFill>
                  <a:srgbClr val="000000"/>
                </a:solidFill>
                <a:latin typeface="Merriweather Sans Bold"/>
                <a:ea typeface="Merriweather Sans Bold"/>
                <a:cs typeface="Merriweather Sans Bold"/>
                <a:sym typeface="Merriweather Sans Bold"/>
              </a:rPr>
              <a:t>PRINCIPAIS</a:t>
            </a:r>
          </a:p>
          <a:p>
            <a:pPr algn="just">
              <a:lnSpc>
                <a:spcPts val="3600"/>
              </a:lnSpc>
            </a:pPr>
            <a:r>
              <a:rPr lang="en-US" sz="2400" spc="3">
                <a:solidFill>
                  <a:srgbClr val="000000"/>
                </a:solidFill>
                <a:latin typeface="Merriweather Sans"/>
                <a:ea typeface="Merriweather Sans"/>
                <a:cs typeface="Merriweather Sans"/>
                <a:sym typeface="Merriweather Sans"/>
              </a:rPr>
              <a:t>Se</a:t>
            </a:r>
            <a:r>
              <a:rPr lang="en-US" sz="2400" spc="3">
                <a:solidFill>
                  <a:srgbClr val="000000"/>
                </a:solidFill>
                <a:latin typeface="Merriweather Sans"/>
                <a:ea typeface="Merriweather Sans"/>
                <a:cs typeface="Merriweather Sans"/>
                <a:sym typeface="Merriweather Sans"/>
              </a:rPr>
              <a:t>lecionados através de uma combinação de valores padrão da literatura e ajuste manual baseado em validação cruzada. Para o classificador de espécies (ResNet-50), utilizamos taxa de aprendizagem inicial de 0.001 (fase 1) e 0.0001 (fase 2), batch size de 32, épocas máximas de 100 com early stopping, dropout de 0.5 e 0.3 nas camadas finais e weight decay de 0.0001.</a:t>
            </a:r>
          </a:p>
          <a:p>
            <a:pPr algn="just">
              <a:lnSpc>
                <a:spcPts val="3600"/>
              </a:lnSpc>
            </a:pPr>
          </a:p>
          <a:p>
            <a:pPr algn="just">
              <a:lnSpc>
                <a:spcPts val="3600"/>
              </a:lnSpc>
            </a:pPr>
            <a:r>
              <a:rPr lang="en-US" sz="2400" spc="3">
                <a:solidFill>
                  <a:srgbClr val="000000"/>
                </a:solidFill>
                <a:latin typeface="Merriweather Sans"/>
                <a:ea typeface="Merriweather Sans"/>
                <a:cs typeface="Merriweather Sans"/>
                <a:sym typeface="Merriweather Sans"/>
              </a:rPr>
              <a:t>Para o classificador de vocalização (CNN+LSTM), utilizamos taxa de aprendizagem inicial de </a:t>
            </a:r>
          </a:p>
          <a:p>
            <a:pPr algn="just">
              <a:lnSpc>
                <a:spcPts val="3600"/>
              </a:lnSpc>
            </a:pPr>
            <a:r>
              <a:rPr lang="en-US" sz="2400" spc="3">
                <a:solidFill>
                  <a:srgbClr val="000000"/>
                </a:solidFill>
                <a:latin typeface="Merriweather Sans"/>
                <a:ea typeface="Merriweather Sans"/>
                <a:cs typeface="Merriweather Sans"/>
                <a:sym typeface="Merriweather Sans"/>
              </a:rPr>
              <a:t>0.001, batch size de 64, épocas máximas de 80 com early stopping, dropout de 0.5 e 0.3 e gradient clipping com max_norm de 1.0.</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2956" y="744174"/>
            <a:ext cx="2921214" cy="248720"/>
            <a:chOff x="0" y="0"/>
            <a:chExt cx="3894952" cy="331626"/>
          </a:xfrm>
        </p:grpSpPr>
        <p:sp>
          <p:nvSpPr>
            <p:cNvPr name="Freeform 3" id="3"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4" id="4"/>
          <p:cNvGrpSpPr>
            <a:grpSpLocks noChangeAspect="true"/>
          </p:cNvGrpSpPr>
          <p:nvPr/>
        </p:nvGrpSpPr>
        <p:grpSpPr>
          <a:xfrm rot="0">
            <a:off x="15222434" y="427439"/>
            <a:ext cx="1580448" cy="780909"/>
            <a:chOff x="0" y="0"/>
            <a:chExt cx="2107264" cy="1041212"/>
          </a:xfrm>
        </p:grpSpPr>
        <p:sp>
          <p:nvSpPr>
            <p:cNvPr name="Freeform 5" id="5"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6" id="6"/>
          <p:cNvGrpSpPr>
            <a:grpSpLocks noChangeAspect="true"/>
          </p:cNvGrpSpPr>
          <p:nvPr/>
        </p:nvGrpSpPr>
        <p:grpSpPr>
          <a:xfrm rot="0">
            <a:off x="13800587" y="338836"/>
            <a:ext cx="1234639" cy="941733"/>
            <a:chOff x="0" y="0"/>
            <a:chExt cx="1646186" cy="1255644"/>
          </a:xfrm>
        </p:grpSpPr>
        <p:sp>
          <p:nvSpPr>
            <p:cNvPr name="Freeform 7" id="7"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8" id="8"/>
          <p:cNvGrpSpPr>
            <a:grpSpLocks noChangeAspect="true"/>
          </p:cNvGrpSpPr>
          <p:nvPr/>
        </p:nvGrpSpPr>
        <p:grpSpPr>
          <a:xfrm rot="0">
            <a:off x="17000025" y="270560"/>
            <a:ext cx="534549" cy="1094670"/>
            <a:chOff x="0" y="0"/>
            <a:chExt cx="712732" cy="1459560"/>
          </a:xfrm>
        </p:grpSpPr>
        <p:sp>
          <p:nvSpPr>
            <p:cNvPr name="Freeform 9" id="9"/>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0" id="10"/>
          <p:cNvGrpSpPr>
            <a:grpSpLocks noChangeAspect="true"/>
          </p:cNvGrpSpPr>
          <p:nvPr/>
        </p:nvGrpSpPr>
        <p:grpSpPr>
          <a:xfrm rot="0">
            <a:off x="12595394" y="338836"/>
            <a:ext cx="1008050" cy="864211"/>
            <a:chOff x="0" y="0"/>
            <a:chExt cx="1344066" cy="1152282"/>
          </a:xfrm>
        </p:grpSpPr>
        <p:sp>
          <p:nvSpPr>
            <p:cNvPr name="Freeform 11" id="11"/>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2" id="12"/>
          <p:cNvGrpSpPr/>
          <p:nvPr/>
        </p:nvGrpSpPr>
        <p:grpSpPr>
          <a:xfrm rot="0">
            <a:off x="-13605" y="9985086"/>
            <a:ext cx="18342351" cy="384878"/>
            <a:chOff x="0" y="0"/>
            <a:chExt cx="24456468" cy="513170"/>
          </a:xfrm>
        </p:grpSpPr>
        <p:sp>
          <p:nvSpPr>
            <p:cNvPr name="Freeform 13" id="13"/>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TextBox 14" id="14"/>
          <p:cNvSpPr txBox="true"/>
          <p:nvPr/>
        </p:nvSpPr>
        <p:spPr>
          <a:xfrm rot="0">
            <a:off x="1042270" y="2141220"/>
            <a:ext cx="16230600" cy="6842760"/>
          </a:xfrm>
          <a:prstGeom prst="rect">
            <a:avLst/>
          </a:prstGeom>
        </p:spPr>
        <p:txBody>
          <a:bodyPr anchor="t" rtlCol="false" tIns="0" lIns="0" bIns="0" rIns="0">
            <a:spAutoFit/>
          </a:bodyPr>
          <a:lstStyle/>
          <a:p>
            <a:pPr algn="just">
              <a:lnSpc>
                <a:spcPts val="3600"/>
              </a:lnSpc>
            </a:pPr>
            <a:r>
              <a:rPr lang="en-US" b="true" sz="2400" spc="3">
                <a:solidFill>
                  <a:srgbClr val="4617DE"/>
                </a:solidFill>
                <a:latin typeface="Merriweather Sans Bold"/>
                <a:ea typeface="Merriweather Sans Bold"/>
                <a:cs typeface="Merriweather Sans Bold"/>
                <a:sym typeface="Merriweather Sans Bold"/>
              </a:rPr>
              <a:t>ESTRATÉGIAS DE OTIMIZAÇÃO</a:t>
            </a:r>
          </a:p>
          <a:p>
            <a:pPr algn="just">
              <a:lnSpc>
                <a:spcPts val="3600"/>
              </a:lnSpc>
            </a:pPr>
          </a:p>
          <a:p>
            <a:pPr algn="just">
              <a:lnSpc>
                <a:spcPts val="3600"/>
              </a:lnSpc>
            </a:pPr>
            <a:r>
              <a:rPr lang="en-US" b="true" sz="2400" spc="3">
                <a:solidFill>
                  <a:srgbClr val="000000"/>
                </a:solidFill>
                <a:latin typeface="Merriweather Sans Bold"/>
                <a:ea typeface="Merriweather Sans Bold"/>
                <a:cs typeface="Merriweather Sans Bold"/>
                <a:sym typeface="Merriweather Sans Bold"/>
              </a:rPr>
              <a:t>REGULARIZAÇÃO: </a:t>
            </a:r>
            <a:r>
              <a:rPr lang="en-US" sz="2400" spc="3">
                <a:solidFill>
                  <a:srgbClr val="000000"/>
                </a:solidFill>
                <a:latin typeface="Merriweather Sans"/>
                <a:ea typeface="Merriweather Sans"/>
                <a:cs typeface="Merriweather Sans"/>
                <a:sym typeface="Merriweather Sans"/>
              </a:rPr>
              <a:t>P</a:t>
            </a:r>
            <a:r>
              <a:rPr lang="en-US" sz="2400" spc="3">
                <a:solidFill>
                  <a:srgbClr val="000000"/>
                </a:solidFill>
                <a:latin typeface="Merriweather Sans"/>
                <a:ea typeface="Merriweather Sans"/>
                <a:cs typeface="Merriweather Sans"/>
                <a:sym typeface="Merriweather Sans"/>
              </a:rPr>
              <a:t>ara prevenir overfitting, aplicamos múltiplas técnicas de regularização, incluindo dropout nas camadas totalmente conectadas, weight decay (L2 regularization) no otimizador, early stopping baseado na perda de validação, aumento de dados durante o treinoe batch normalization nas camadas convolucionais.</a:t>
            </a:r>
          </a:p>
          <a:p>
            <a:pPr algn="just">
              <a:lnSpc>
                <a:spcPts val="3600"/>
              </a:lnSpc>
            </a:pPr>
          </a:p>
          <a:p>
            <a:pPr algn="just">
              <a:lnSpc>
                <a:spcPts val="3600"/>
              </a:lnSpc>
            </a:pPr>
            <a:r>
              <a:rPr lang="en-US" b="true" sz="2400" spc="3">
                <a:solidFill>
                  <a:srgbClr val="000000"/>
                </a:solidFill>
                <a:latin typeface="Merriweather Sans Bold"/>
                <a:ea typeface="Merriweather Sans Bold"/>
                <a:cs typeface="Merriweather Sans Bold"/>
                <a:sym typeface="Merriweather Sans Bold"/>
              </a:rPr>
              <a:t>BALANCEAMENTO DE CLASSES: </a:t>
            </a:r>
            <a:r>
              <a:rPr lang="en-US" sz="2400" spc="3">
                <a:solidFill>
                  <a:srgbClr val="000000"/>
                </a:solidFill>
                <a:latin typeface="Merriweather Sans"/>
                <a:ea typeface="Merriweather Sans"/>
                <a:cs typeface="Merriweather Sans"/>
                <a:sym typeface="Merriweather Sans"/>
              </a:rPr>
              <a:t>O desequilíbrio de classes é uma realidade nos dados bioacústicos, com algumas espécies tendo muito mais gravações do que outras. Implementamos pesos de classe na função de perda (inversamente proporcionais à frequência), oversampling de classes minoritárias durante o treino e focal loss para focar o treino em exemplos difíceis.</a:t>
            </a:r>
          </a:p>
          <a:p>
            <a:pPr algn="just">
              <a:lnSpc>
                <a:spcPts val="3600"/>
              </a:lnSpc>
            </a:pPr>
          </a:p>
          <a:p>
            <a:pPr algn="just">
              <a:lnSpc>
                <a:spcPts val="3600"/>
              </a:lnSpc>
            </a:pPr>
            <a:r>
              <a:rPr lang="en-US" b="true" sz="2400" spc="3">
                <a:solidFill>
                  <a:srgbClr val="000000"/>
                </a:solidFill>
                <a:latin typeface="Merriweather Sans Bold"/>
                <a:ea typeface="Merriweather Sans Bold"/>
                <a:cs typeface="Merriweather Sans Bold"/>
                <a:sym typeface="Merriweather Sans Bold"/>
              </a:rPr>
              <a:t>AJUSTE DE HIPERPARÂMETROS</a:t>
            </a:r>
            <a:r>
              <a:rPr lang="en-US" sz="2400" spc="3">
                <a:solidFill>
                  <a:srgbClr val="000000"/>
                </a:solidFill>
                <a:latin typeface="Merriweather Sans"/>
                <a:ea typeface="Merriweather Sans"/>
                <a:cs typeface="Merriweather Sans"/>
                <a:sym typeface="Merriweather Sans"/>
              </a:rPr>
              <a:t>: Utilizamos Optuna, uma biblioteca de otimização de hiperparâmetros, para realizar busca bayesiana dos melhores valores. Os hiperparâmetros otimizados incluem taxa de aprendizagem, tamanho de batch, número de camadas e neurónios, taxas de dropout e weight decay.</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2956" y="744174"/>
            <a:ext cx="2921214" cy="248720"/>
            <a:chOff x="0" y="0"/>
            <a:chExt cx="3894952" cy="331626"/>
          </a:xfrm>
        </p:grpSpPr>
        <p:sp>
          <p:nvSpPr>
            <p:cNvPr name="Freeform 3" id="3"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4" id="4"/>
          <p:cNvGrpSpPr>
            <a:grpSpLocks noChangeAspect="true"/>
          </p:cNvGrpSpPr>
          <p:nvPr/>
        </p:nvGrpSpPr>
        <p:grpSpPr>
          <a:xfrm rot="0">
            <a:off x="15222434" y="427439"/>
            <a:ext cx="1580448" cy="780909"/>
            <a:chOff x="0" y="0"/>
            <a:chExt cx="2107264" cy="1041212"/>
          </a:xfrm>
        </p:grpSpPr>
        <p:sp>
          <p:nvSpPr>
            <p:cNvPr name="Freeform 5" id="5"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6" id="6"/>
          <p:cNvGrpSpPr>
            <a:grpSpLocks noChangeAspect="true"/>
          </p:cNvGrpSpPr>
          <p:nvPr/>
        </p:nvGrpSpPr>
        <p:grpSpPr>
          <a:xfrm rot="0">
            <a:off x="13800587" y="338836"/>
            <a:ext cx="1234639" cy="941733"/>
            <a:chOff x="0" y="0"/>
            <a:chExt cx="1646186" cy="1255644"/>
          </a:xfrm>
        </p:grpSpPr>
        <p:sp>
          <p:nvSpPr>
            <p:cNvPr name="Freeform 7" id="7"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8" id="8"/>
          <p:cNvGrpSpPr>
            <a:grpSpLocks noChangeAspect="true"/>
          </p:cNvGrpSpPr>
          <p:nvPr/>
        </p:nvGrpSpPr>
        <p:grpSpPr>
          <a:xfrm rot="0">
            <a:off x="17000025" y="270560"/>
            <a:ext cx="534549" cy="1094670"/>
            <a:chOff x="0" y="0"/>
            <a:chExt cx="712732" cy="1459560"/>
          </a:xfrm>
        </p:grpSpPr>
        <p:sp>
          <p:nvSpPr>
            <p:cNvPr name="Freeform 9" id="9"/>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0" id="10"/>
          <p:cNvGrpSpPr>
            <a:grpSpLocks noChangeAspect="true"/>
          </p:cNvGrpSpPr>
          <p:nvPr/>
        </p:nvGrpSpPr>
        <p:grpSpPr>
          <a:xfrm rot="0">
            <a:off x="12595394" y="338836"/>
            <a:ext cx="1008050" cy="864211"/>
            <a:chOff x="0" y="0"/>
            <a:chExt cx="1344066" cy="1152282"/>
          </a:xfrm>
        </p:grpSpPr>
        <p:sp>
          <p:nvSpPr>
            <p:cNvPr name="Freeform 11" id="11"/>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2" id="12"/>
          <p:cNvGrpSpPr/>
          <p:nvPr/>
        </p:nvGrpSpPr>
        <p:grpSpPr>
          <a:xfrm rot="0">
            <a:off x="-13605" y="9985086"/>
            <a:ext cx="18342351" cy="384878"/>
            <a:chOff x="0" y="0"/>
            <a:chExt cx="24456468" cy="513170"/>
          </a:xfrm>
        </p:grpSpPr>
        <p:sp>
          <p:nvSpPr>
            <p:cNvPr name="Freeform 13" id="13"/>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TextBox 14" id="14"/>
          <p:cNvSpPr txBox="true"/>
          <p:nvPr/>
        </p:nvSpPr>
        <p:spPr>
          <a:xfrm rot="0">
            <a:off x="1028700" y="2141220"/>
            <a:ext cx="16230600" cy="6842760"/>
          </a:xfrm>
          <a:prstGeom prst="rect">
            <a:avLst/>
          </a:prstGeom>
        </p:spPr>
        <p:txBody>
          <a:bodyPr anchor="t" rtlCol="false" tIns="0" lIns="0" bIns="0" rIns="0">
            <a:spAutoFit/>
          </a:bodyPr>
          <a:lstStyle/>
          <a:p>
            <a:pPr algn="just">
              <a:lnSpc>
                <a:spcPts val="3600"/>
              </a:lnSpc>
            </a:pPr>
            <a:r>
              <a:rPr lang="en-US" b="true" sz="2400" spc="3">
                <a:solidFill>
                  <a:srgbClr val="4617DE"/>
                </a:solidFill>
                <a:latin typeface="Merriweather Sans Bold"/>
                <a:ea typeface="Merriweather Sans Bold"/>
                <a:cs typeface="Merriweather Sans Bold"/>
                <a:sym typeface="Merriweather Sans Bold"/>
              </a:rPr>
              <a:t>AVALIAÇÃO DE DESEMPENHO</a:t>
            </a:r>
          </a:p>
          <a:p>
            <a:pPr algn="just">
              <a:lnSpc>
                <a:spcPts val="3600"/>
              </a:lnSpc>
            </a:pPr>
          </a:p>
          <a:p>
            <a:pPr algn="just">
              <a:lnSpc>
                <a:spcPts val="3600"/>
              </a:lnSpc>
            </a:pPr>
            <a:r>
              <a:rPr lang="en-US" b="true" sz="2400" spc="3">
                <a:solidFill>
                  <a:srgbClr val="000000"/>
                </a:solidFill>
                <a:latin typeface="Merriweather Sans Bold"/>
                <a:ea typeface="Merriweather Sans Bold"/>
                <a:cs typeface="Merriweather Sans Bold"/>
                <a:sym typeface="Merriweather Sans Bold"/>
              </a:rPr>
              <a:t>MÉTRICAS PRIMÁRIAS</a:t>
            </a:r>
            <a:r>
              <a:rPr lang="en-US" sz="2400" spc="3">
                <a:solidFill>
                  <a:srgbClr val="000000"/>
                </a:solidFill>
                <a:latin typeface="Merriweather Sans"/>
                <a:ea typeface="Merriweather Sans"/>
                <a:cs typeface="Merriweather Sans"/>
                <a:sym typeface="Merriweather Sans"/>
              </a:rPr>
              <a:t>: Para avaliar o desempenho dos modelos, utilizamos um conjunto abrangente de métricas que capturam diferentes aspetos da qualidade das previsões.</a:t>
            </a:r>
          </a:p>
          <a:p>
            <a:pPr algn="just">
              <a:lnSpc>
                <a:spcPts val="3600"/>
              </a:lnSpc>
            </a:pPr>
          </a:p>
          <a:p>
            <a:pPr algn="just">
              <a:lnSpc>
                <a:spcPts val="3600"/>
              </a:lnSpc>
            </a:pPr>
            <a:r>
              <a:rPr lang="en-US" b="true" sz="2400" spc="3">
                <a:solidFill>
                  <a:srgbClr val="000000"/>
                </a:solidFill>
                <a:latin typeface="Merriweather Sans Bold"/>
                <a:ea typeface="Merriweather Sans Bold"/>
                <a:cs typeface="Merriweather Sans Bold"/>
                <a:sym typeface="Merriweather Sans Bold"/>
              </a:rPr>
              <a:t>ACURÁCIA GLOBAL: </a:t>
            </a:r>
            <a:r>
              <a:rPr lang="en-US" sz="2400" spc="3">
                <a:solidFill>
                  <a:srgbClr val="000000"/>
                </a:solidFill>
                <a:latin typeface="Merriweather Sans"/>
                <a:ea typeface="Merriweather Sans"/>
                <a:cs typeface="Merriweather Sans"/>
                <a:sym typeface="Merriweather Sans"/>
              </a:rPr>
              <a:t>Percentagem de previsões corretas sobre o total de previsões. Métrica principal para avaliação geral do modelo.</a:t>
            </a:r>
          </a:p>
          <a:p>
            <a:pPr algn="just">
              <a:lnSpc>
                <a:spcPts val="3600"/>
              </a:lnSpc>
            </a:pPr>
            <a:r>
              <a:rPr lang="en-US" b="true" sz="2400" spc="3">
                <a:solidFill>
                  <a:srgbClr val="000000"/>
                </a:solidFill>
                <a:latin typeface="Merriweather Sans Bold"/>
                <a:ea typeface="Merriweather Sans Bold"/>
                <a:cs typeface="Merriweather Sans Bold"/>
                <a:sym typeface="Merriweather Sans Bold"/>
              </a:rPr>
              <a:t>PRECISÃO POR CLASSE</a:t>
            </a:r>
            <a:r>
              <a:rPr lang="en-US" sz="2400" spc="3">
                <a:solidFill>
                  <a:srgbClr val="000000"/>
                </a:solidFill>
                <a:latin typeface="Merriweather Sans"/>
                <a:ea typeface="Merriweather Sans"/>
                <a:cs typeface="Merriweather Sans"/>
                <a:sym typeface="Merriweather Sans"/>
              </a:rPr>
              <a:t>: Para cada espécie ou tipo de vocalização, calculamos a precisão (proporção de previsões positivas que são verdadeiramente positivas). Importante para avaliar a confiabilidade das identificações.</a:t>
            </a:r>
          </a:p>
          <a:p>
            <a:pPr algn="just">
              <a:lnSpc>
                <a:spcPts val="3600"/>
              </a:lnSpc>
            </a:pPr>
            <a:r>
              <a:rPr lang="en-US" b="true" sz="2400" spc="3">
                <a:solidFill>
                  <a:srgbClr val="000000"/>
                </a:solidFill>
                <a:latin typeface="Merriweather Sans Bold"/>
                <a:ea typeface="Merriweather Sans Bold"/>
                <a:cs typeface="Merriweather Sans Bold"/>
                <a:sym typeface="Merriweather Sans Bold"/>
              </a:rPr>
              <a:t>RECALL POR CLASSE: </a:t>
            </a:r>
            <a:r>
              <a:rPr lang="en-US" sz="2400" spc="3">
                <a:solidFill>
                  <a:srgbClr val="000000"/>
                </a:solidFill>
                <a:latin typeface="Merriweather Sans"/>
                <a:ea typeface="Merriweather Sans"/>
                <a:cs typeface="Merriweather Sans"/>
                <a:sym typeface="Merriweather Sans"/>
              </a:rPr>
              <a:t>Para cada classe, calculamos o recall (proporção de exemplos positivos que foram corretamente identificados). Crucial para garantir que não estamos a perder espécies raras ou ameaçadas.</a:t>
            </a:r>
          </a:p>
          <a:p>
            <a:pPr algn="just">
              <a:lnSpc>
                <a:spcPts val="3600"/>
              </a:lnSpc>
            </a:pPr>
            <a:r>
              <a:rPr lang="en-US" b="true" sz="2400" spc="3">
                <a:solidFill>
                  <a:srgbClr val="000000"/>
                </a:solidFill>
                <a:latin typeface="Merriweather Sans Bold"/>
                <a:ea typeface="Merriweather Sans Bold"/>
                <a:cs typeface="Merriweather Sans Bold"/>
                <a:sym typeface="Merriweather Sans Bold"/>
              </a:rPr>
              <a:t>MATRIZ DE CONFUSÃO</a:t>
            </a:r>
            <a:r>
              <a:rPr lang="en-US" sz="2400" spc="3">
                <a:solidFill>
                  <a:srgbClr val="000000"/>
                </a:solidFill>
                <a:latin typeface="Merriweather Sans"/>
                <a:ea typeface="Merriweather Sans"/>
                <a:cs typeface="Merriweather Sans"/>
                <a:sym typeface="Merriweather Sans"/>
              </a:rPr>
              <a:t>: Visualização das previsões corretas e incorretas para cada par de classes,  permitindo identificar confusões sistemáticas entre espécies similares. </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2956" y="744174"/>
            <a:ext cx="2921214" cy="248720"/>
            <a:chOff x="0" y="0"/>
            <a:chExt cx="3894952" cy="331626"/>
          </a:xfrm>
        </p:grpSpPr>
        <p:sp>
          <p:nvSpPr>
            <p:cNvPr name="Freeform 3" id="3"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4" id="4"/>
          <p:cNvGrpSpPr>
            <a:grpSpLocks noChangeAspect="true"/>
          </p:cNvGrpSpPr>
          <p:nvPr/>
        </p:nvGrpSpPr>
        <p:grpSpPr>
          <a:xfrm rot="0">
            <a:off x="15222434" y="427439"/>
            <a:ext cx="1580448" cy="780909"/>
            <a:chOff x="0" y="0"/>
            <a:chExt cx="2107264" cy="1041212"/>
          </a:xfrm>
        </p:grpSpPr>
        <p:sp>
          <p:nvSpPr>
            <p:cNvPr name="Freeform 5" id="5"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6" id="6"/>
          <p:cNvGrpSpPr>
            <a:grpSpLocks noChangeAspect="true"/>
          </p:cNvGrpSpPr>
          <p:nvPr/>
        </p:nvGrpSpPr>
        <p:grpSpPr>
          <a:xfrm rot="0">
            <a:off x="13800587" y="338836"/>
            <a:ext cx="1234639" cy="941733"/>
            <a:chOff x="0" y="0"/>
            <a:chExt cx="1646186" cy="1255644"/>
          </a:xfrm>
        </p:grpSpPr>
        <p:sp>
          <p:nvSpPr>
            <p:cNvPr name="Freeform 7" id="7"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8" id="8"/>
          <p:cNvGrpSpPr>
            <a:grpSpLocks noChangeAspect="true"/>
          </p:cNvGrpSpPr>
          <p:nvPr/>
        </p:nvGrpSpPr>
        <p:grpSpPr>
          <a:xfrm rot="0">
            <a:off x="17000025" y="270560"/>
            <a:ext cx="534549" cy="1094670"/>
            <a:chOff x="0" y="0"/>
            <a:chExt cx="712732" cy="1459560"/>
          </a:xfrm>
        </p:grpSpPr>
        <p:sp>
          <p:nvSpPr>
            <p:cNvPr name="Freeform 9" id="9"/>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0" id="10"/>
          <p:cNvGrpSpPr>
            <a:grpSpLocks noChangeAspect="true"/>
          </p:cNvGrpSpPr>
          <p:nvPr/>
        </p:nvGrpSpPr>
        <p:grpSpPr>
          <a:xfrm rot="0">
            <a:off x="12595394" y="338836"/>
            <a:ext cx="1008050" cy="864211"/>
            <a:chOff x="0" y="0"/>
            <a:chExt cx="1344066" cy="1152282"/>
          </a:xfrm>
        </p:grpSpPr>
        <p:sp>
          <p:nvSpPr>
            <p:cNvPr name="Freeform 11" id="11"/>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2" id="12"/>
          <p:cNvGrpSpPr/>
          <p:nvPr/>
        </p:nvGrpSpPr>
        <p:grpSpPr>
          <a:xfrm rot="0">
            <a:off x="-13605" y="9985086"/>
            <a:ext cx="18342351" cy="384878"/>
            <a:chOff x="0" y="0"/>
            <a:chExt cx="24456468" cy="513170"/>
          </a:xfrm>
        </p:grpSpPr>
        <p:sp>
          <p:nvSpPr>
            <p:cNvPr name="Freeform 13" id="13"/>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TextBox 14" id="14"/>
          <p:cNvSpPr txBox="true"/>
          <p:nvPr/>
        </p:nvSpPr>
        <p:spPr>
          <a:xfrm rot="0">
            <a:off x="1460810" y="2173348"/>
            <a:ext cx="15366380" cy="6842760"/>
          </a:xfrm>
          <a:prstGeom prst="rect">
            <a:avLst/>
          </a:prstGeom>
        </p:spPr>
        <p:txBody>
          <a:bodyPr anchor="t" rtlCol="false" tIns="0" lIns="0" bIns="0" rIns="0">
            <a:spAutoFit/>
          </a:bodyPr>
          <a:lstStyle/>
          <a:p>
            <a:pPr algn="just">
              <a:lnSpc>
                <a:spcPts val="3600"/>
              </a:lnSpc>
            </a:pPr>
            <a:r>
              <a:rPr lang="en-US" b="true" sz="2400" spc="2">
                <a:solidFill>
                  <a:srgbClr val="000000"/>
                </a:solidFill>
                <a:latin typeface="Merriweather Sans Bold"/>
                <a:ea typeface="Merriweather Sans Bold"/>
                <a:cs typeface="Merriweather Sans Bold"/>
                <a:sym typeface="Merriweather Sans Bold"/>
              </a:rPr>
              <a:t>F1-Score</a:t>
            </a:r>
            <a:r>
              <a:rPr lang="en-US" sz="2400" spc="2">
                <a:solidFill>
                  <a:srgbClr val="000000"/>
                </a:solidFill>
                <a:latin typeface="Merriweather Sans"/>
                <a:ea typeface="Merriweather Sans"/>
                <a:cs typeface="Merriweather Sans"/>
                <a:sym typeface="Merriweather Sans"/>
              </a:rPr>
              <a:t>: Média harmónica entre precisão e recall, fornecendo uma métrica equilibrada. </a:t>
            </a:r>
            <a:r>
              <a:rPr lang="en-US" sz="2400" spc="2">
                <a:solidFill>
                  <a:srgbClr val="000000"/>
                </a:solidFill>
                <a:latin typeface="Merriweather Sans"/>
                <a:ea typeface="Merriweather Sans"/>
                <a:cs typeface="Merriweather Sans"/>
                <a:sym typeface="Merriweather Sans"/>
              </a:rPr>
              <a:t>Utilizamos tanto o F1-score macro (média não ponderada) quanto o F1-score ponderado (ponderado pela frequência de cada classe).</a:t>
            </a:r>
          </a:p>
          <a:p>
            <a:pPr algn="just">
              <a:lnSpc>
                <a:spcPts val="3600"/>
              </a:lnSpc>
            </a:pPr>
            <a:r>
              <a:rPr lang="en-US" b="true" sz="2400" spc="2">
                <a:solidFill>
                  <a:srgbClr val="000000"/>
                </a:solidFill>
                <a:latin typeface="Merriweather Sans Bold"/>
                <a:ea typeface="Merriweather Sans Bold"/>
                <a:cs typeface="Merriweather Sans Bold"/>
                <a:sym typeface="Merriweather Sans Bold"/>
              </a:rPr>
              <a:t>Top</a:t>
            </a:r>
            <a:r>
              <a:rPr lang="en-US" sz="2400" spc="2">
                <a:solidFill>
                  <a:srgbClr val="000000"/>
                </a:solidFill>
                <a:latin typeface="Merriweather Sans"/>
                <a:ea typeface="Merriweather Sans"/>
                <a:cs typeface="Merriweather Sans"/>
                <a:sym typeface="Merriweather Sans"/>
              </a:rPr>
              <a:t>-</a:t>
            </a:r>
            <a:r>
              <a:rPr lang="en-US" b="true" sz="2400" spc="2">
                <a:solidFill>
                  <a:srgbClr val="000000"/>
                </a:solidFill>
                <a:latin typeface="Merriweather Sans Bold"/>
                <a:ea typeface="Merriweather Sans Bold"/>
                <a:cs typeface="Merriweather Sans Bold"/>
                <a:sym typeface="Merriweather Sans Bold"/>
              </a:rPr>
              <a:t>K Accuracy</a:t>
            </a:r>
            <a:r>
              <a:rPr lang="en-US" sz="2400" spc="2">
                <a:solidFill>
                  <a:srgbClr val="000000"/>
                </a:solidFill>
                <a:latin typeface="Merriweather Sans"/>
                <a:ea typeface="Merriweather Sans"/>
                <a:cs typeface="Merriweather Sans"/>
                <a:sym typeface="Merriweather Sans"/>
              </a:rPr>
              <a:t>: Percentagem de casos em que a classe correta está entre as K previsões mais prováveis. Utilizamos K=3 e K=5 para avaliar a utilidade do modelo em cenários onde o utilizador pode escolher entre múltiplas opções.</a:t>
            </a:r>
          </a:p>
          <a:p>
            <a:pPr algn="just">
              <a:lnSpc>
                <a:spcPts val="3600"/>
              </a:lnSpc>
            </a:pPr>
          </a:p>
          <a:p>
            <a:pPr algn="just">
              <a:lnSpc>
                <a:spcPts val="3600"/>
              </a:lnSpc>
            </a:pPr>
            <a:r>
              <a:rPr lang="en-US" b="true" sz="2400" spc="2">
                <a:solidFill>
                  <a:srgbClr val="4617DE"/>
                </a:solidFill>
                <a:latin typeface="Merriweather Sans Bold"/>
                <a:ea typeface="Merriweather Sans Bold"/>
                <a:cs typeface="Merriweather Sans Bold"/>
                <a:sym typeface="Merriweather Sans Bold"/>
              </a:rPr>
              <a:t>Métricas</a:t>
            </a:r>
            <a:r>
              <a:rPr lang="en-US" sz="2400" spc="2">
                <a:solidFill>
                  <a:srgbClr val="4617DE"/>
                </a:solidFill>
                <a:latin typeface="Merriweather Sans"/>
                <a:ea typeface="Merriweather Sans"/>
                <a:cs typeface="Merriweather Sans"/>
                <a:sym typeface="Merriweather Sans"/>
              </a:rPr>
              <a:t> </a:t>
            </a:r>
            <a:r>
              <a:rPr lang="en-US" b="true" sz="2400" spc="2">
                <a:solidFill>
                  <a:srgbClr val="4617DE"/>
                </a:solidFill>
                <a:latin typeface="Merriweather Sans Bold"/>
                <a:ea typeface="Merriweather Sans Bold"/>
                <a:cs typeface="Merriweather Sans Bold"/>
                <a:sym typeface="Merriweather Sans Bold"/>
              </a:rPr>
              <a:t>Secundárias</a:t>
            </a:r>
            <a:r>
              <a:rPr lang="en-US" b="true" sz="2400" spc="2">
                <a:solidFill>
                  <a:srgbClr val="000000"/>
                </a:solidFill>
                <a:latin typeface="Merriweather Sans Bold"/>
                <a:ea typeface="Merriweather Sans Bold"/>
                <a:cs typeface="Merriweather Sans Bold"/>
                <a:sym typeface="Merriweather Sans Bold"/>
              </a:rPr>
              <a:t>: </a:t>
            </a:r>
            <a:r>
              <a:rPr lang="en-US" sz="2400" spc="2">
                <a:solidFill>
                  <a:srgbClr val="000000"/>
                </a:solidFill>
                <a:latin typeface="Merriweather Sans"/>
                <a:ea typeface="Merriweather Sans"/>
                <a:cs typeface="Merriweather Sans"/>
                <a:sym typeface="Merriweather Sans"/>
              </a:rPr>
              <a:t>Além das métricas primárias, monitorizamos métricas secundárias que fornecem insights adicionais sobre o desempenho do modelo. Curvas ROC e AUC: Para cada classe, calculamos a curva ROC (Receiver Operating Characteristic) e a área sob a curva (AUC), avaliando a capacidade do modelo de discriminar entre classes.</a:t>
            </a:r>
          </a:p>
          <a:p>
            <a:pPr algn="just">
              <a:lnSpc>
                <a:spcPts val="3600"/>
              </a:lnSpc>
            </a:pPr>
            <a:r>
              <a:rPr lang="en-US" b="true" sz="2400" spc="3">
                <a:solidFill>
                  <a:srgbClr val="000000"/>
                </a:solidFill>
                <a:latin typeface="Merriweather Sans Bold"/>
                <a:ea typeface="Merriweather Sans Bold"/>
                <a:cs typeface="Merriweather Sans Bold"/>
                <a:sym typeface="Merriweather Sans Bold"/>
              </a:rPr>
              <a:t>Calibração de Confiança: </a:t>
            </a:r>
            <a:r>
              <a:rPr lang="en-US" sz="2400" spc="3">
                <a:solidFill>
                  <a:srgbClr val="000000"/>
                </a:solidFill>
                <a:latin typeface="Merriweather Sans"/>
                <a:ea typeface="Merriweather Sans"/>
                <a:cs typeface="Merriweather Sans"/>
                <a:sym typeface="Merriweather Sans"/>
              </a:rPr>
              <a:t>Avaliamos se as probabilidades previstas pelo modelo refletem a verdadeira probabilidade de acerto, utilizando diagramas de calibração e Expected Calibration Error (ECE).</a:t>
            </a:r>
          </a:p>
        </p:txBody>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2956" y="744174"/>
            <a:ext cx="2921214" cy="248720"/>
            <a:chOff x="0" y="0"/>
            <a:chExt cx="3894952" cy="331626"/>
          </a:xfrm>
        </p:grpSpPr>
        <p:sp>
          <p:nvSpPr>
            <p:cNvPr name="Freeform 3" id="3"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4" id="4"/>
          <p:cNvGrpSpPr>
            <a:grpSpLocks noChangeAspect="true"/>
          </p:cNvGrpSpPr>
          <p:nvPr/>
        </p:nvGrpSpPr>
        <p:grpSpPr>
          <a:xfrm rot="0">
            <a:off x="15222434" y="427439"/>
            <a:ext cx="1580448" cy="780909"/>
            <a:chOff x="0" y="0"/>
            <a:chExt cx="2107264" cy="1041212"/>
          </a:xfrm>
        </p:grpSpPr>
        <p:sp>
          <p:nvSpPr>
            <p:cNvPr name="Freeform 5" id="5"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6" id="6"/>
          <p:cNvGrpSpPr>
            <a:grpSpLocks noChangeAspect="true"/>
          </p:cNvGrpSpPr>
          <p:nvPr/>
        </p:nvGrpSpPr>
        <p:grpSpPr>
          <a:xfrm rot="0">
            <a:off x="13800587" y="338836"/>
            <a:ext cx="1234639" cy="941733"/>
            <a:chOff x="0" y="0"/>
            <a:chExt cx="1646186" cy="1255644"/>
          </a:xfrm>
        </p:grpSpPr>
        <p:sp>
          <p:nvSpPr>
            <p:cNvPr name="Freeform 7" id="7"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8" id="8"/>
          <p:cNvGrpSpPr>
            <a:grpSpLocks noChangeAspect="true"/>
          </p:cNvGrpSpPr>
          <p:nvPr/>
        </p:nvGrpSpPr>
        <p:grpSpPr>
          <a:xfrm rot="0">
            <a:off x="17000025" y="270560"/>
            <a:ext cx="534549" cy="1094670"/>
            <a:chOff x="0" y="0"/>
            <a:chExt cx="712732" cy="1459560"/>
          </a:xfrm>
        </p:grpSpPr>
        <p:sp>
          <p:nvSpPr>
            <p:cNvPr name="Freeform 9" id="9"/>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0" id="10"/>
          <p:cNvGrpSpPr>
            <a:grpSpLocks noChangeAspect="true"/>
          </p:cNvGrpSpPr>
          <p:nvPr/>
        </p:nvGrpSpPr>
        <p:grpSpPr>
          <a:xfrm rot="0">
            <a:off x="12595394" y="338836"/>
            <a:ext cx="1008050" cy="864211"/>
            <a:chOff x="0" y="0"/>
            <a:chExt cx="1344066" cy="1152282"/>
          </a:xfrm>
        </p:grpSpPr>
        <p:sp>
          <p:nvSpPr>
            <p:cNvPr name="Freeform 11" id="11"/>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2" id="12"/>
          <p:cNvGrpSpPr/>
          <p:nvPr/>
        </p:nvGrpSpPr>
        <p:grpSpPr>
          <a:xfrm rot="0">
            <a:off x="-13605" y="9985086"/>
            <a:ext cx="18342351" cy="384878"/>
            <a:chOff x="0" y="0"/>
            <a:chExt cx="24456468" cy="513170"/>
          </a:xfrm>
        </p:grpSpPr>
        <p:sp>
          <p:nvSpPr>
            <p:cNvPr name="Freeform 13" id="13"/>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
        <p:nvSpPr>
          <p:cNvPr name="TextBox 14" id="14"/>
          <p:cNvSpPr txBox="true"/>
          <p:nvPr/>
        </p:nvSpPr>
        <p:spPr>
          <a:xfrm rot="0">
            <a:off x="1028700" y="4350530"/>
            <a:ext cx="16230600" cy="3642360"/>
          </a:xfrm>
          <a:prstGeom prst="rect">
            <a:avLst/>
          </a:prstGeom>
        </p:spPr>
        <p:txBody>
          <a:bodyPr anchor="t" rtlCol="false" tIns="0" lIns="0" bIns="0" rIns="0">
            <a:spAutoFit/>
          </a:bodyPr>
          <a:lstStyle/>
          <a:p>
            <a:pPr algn="just">
              <a:lnSpc>
                <a:spcPts val="3600"/>
              </a:lnSpc>
            </a:pPr>
            <a:r>
              <a:rPr lang="en-US" b="true" sz="2400" spc="2">
                <a:solidFill>
                  <a:srgbClr val="4617DE"/>
                </a:solidFill>
                <a:latin typeface="Merriweather Sans Bold"/>
                <a:ea typeface="Merriweather Sans Bold"/>
                <a:cs typeface="Merriweather Sans Bold"/>
                <a:sym typeface="Merriweather Sans Bold"/>
              </a:rPr>
              <a:t>INFRAESTRUTURA DE TREINO </a:t>
            </a:r>
          </a:p>
          <a:p>
            <a:pPr algn="just">
              <a:lnSpc>
                <a:spcPts val="3600"/>
              </a:lnSpc>
            </a:pPr>
          </a:p>
          <a:p>
            <a:pPr algn="just">
              <a:lnSpc>
                <a:spcPts val="3600"/>
              </a:lnSpc>
            </a:pPr>
            <a:r>
              <a:rPr lang="en-US" b="true" sz="2400" spc="2">
                <a:solidFill>
                  <a:srgbClr val="000000"/>
                </a:solidFill>
                <a:latin typeface="Merriweather Sans Bold"/>
                <a:ea typeface="Merriweather Sans Bold"/>
                <a:cs typeface="Merriweather Sans Bold"/>
                <a:sym typeface="Merriweather Sans Bold"/>
              </a:rPr>
              <a:t>HARDWARE</a:t>
            </a:r>
            <a:r>
              <a:rPr lang="en-US" sz="2400" spc="2">
                <a:solidFill>
                  <a:srgbClr val="000000"/>
                </a:solidFill>
                <a:latin typeface="Merriweather Sans"/>
                <a:ea typeface="Merriweather Sans"/>
                <a:cs typeface="Merriweather Sans"/>
                <a:sym typeface="Merriweather Sans"/>
              </a:rPr>
              <a:t> : O treino dos modelos é realizado em GPUs NVIDIA (Tesla T4 ou superior) disponíveis em plataformas de nuvem como Google Colab Pro, AWS EC2 (instâncias p3) ou Azure ML. Para o MVP, estimamos 40-60 horas de treino total para ambos os modelos. </a:t>
            </a:r>
          </a:p>
          <a:p>
            <a:pPr algn="just">
              <a:lnSpc>
                <a:spcPts val="3600"/>
              </a:lnSpc>
            </a:pPr>
            <a:r>
              <a:rPr lang="en-US" b="true" sz="2400" spc="3">
                <a:solidFill>
                  <a:srgbClr val="000000"/>
                </a:solidFill>
                <a:latin typeface="Merriweather Sans Bold"/>
                <a:ea typeface="Merriweather Sans Bold"/>
                <a:cs typeface="Merriweather Sans Bold"/>
                <a:sym typeface="Merriweather Sans Bold"/>
              </a:rPr>
              <a:t>SOFTWARE</a:t>
            </a:r>
            <a:r>
              <a:rPr lang="en-US" sz="2400" spc="3">
                <a:solidFill>
                  <a:srgbClr val="000000"/>
                </a:solidFill>
                <a:latin typeface="Merriweather Sans"/>
                <a:ea typeface="Merriweather Sans"/>
                <a:cs typeface="Merriweather Sans"/>
                <a:sym typeface="Merriweather Sans"/>
              </a:rPr>
              <a:t> : Utilizamos PyTorch 2.0+ como framework principal de deep learning, Librosa para  processamento de áudio, Torchvision para transformações de imagens, Scikit-learn para métricas e validação, Weights &amp; Biases (wandb) para rastreamento de experimentos e MLflow para gestão de modelos. </a:t>
            </a:r>
          </a:p>
        </p:txBody>
      </p:sp>
      <p:sp>
        <p:nvSpPr>
          <p:cNvPr name="TextBox 15" id="15"/>
          <p:cNvSpPr txBox="true"/>
          <p:nvPr/>
        </p:nvSpPr>
        <p:spPr>
          <a:xfrm rot="0">
            <a:off x="1028700" y="2137370"/>
            <a:ext cx="15971325" cy="1356360"/>
          </a:xfrm>
          <a:prstGeom prst="rect">
            <a:avLst/>
          </a:prstGeom>
        </p:spPr>
        <p:txBody>
          <a:bodyPr anchor="t" rtlCol="false" tIns="0" lIns="0" bIns="0" rIns="0">
            <a:spAutoFit/>
          </a:bodyPr>
          <a:lstStyle/>
          <a:p>
            <a:pPr algn="just">
              <a:lnSpc>
                <a:spcPts val="3600"/>
              </a:lnSpc>
            </a:pPr>
            <a:r>
              <a:rPr lang="en-US" b="true" sz="2400" spc="3">
                <a:solidFill>
                  <a:srgbClr val="000000"/>
                </a:solidFill>
                <a:latin typeface="Merriweather Sans Bold"/>
                <a:ea typeface="Merriweather Sans Bold"/>
                <a:cs typeface="Merriweather Sans Bold"/>
                <a:sym typeface="Merriweather Sans Bold"/>
              </a:rPr>
              <a:t>Tempo de Inferência</a:t>
            </a:r>
            <a:r>
              <a:rPr lang="en-US" sz="2400" spc="3">
                <a:solidFill>
                  <a:srgbClr val="000000"/>
                </a:solidFill>
                <a:latin typeface="Merriweather Sans"/>
                <a:ea typeface="Merriweather Sans"/>
                <a:cs typeface="Merriweather Sans"/>
                <a:sym typeface="Merriweather Sans"/>
              </a:rPr>
              <a:t>: Medimos o tempo necessário para processar uma gravação de áudio,  desde o pré-processamento até a previsão final. Objetivo: &lt; 2 segundos em hardware de  servidor, &lt; 5 segundos em dispositivos móveis. </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38963" y="1974824"/>
            <a:ext cx="18324701" cy="8321702"/>
            <a:chOff x="0" y="0"/>
            <a:chExt cx="24432934" cy="11095602"/>
          </a:xfrm>
        </p:grpSpPr>
        <p:sp>
          <p:nvSpPr>
            <p:cNvPr name="Freeform 3" id="3"/>
            <p:cNvSpPr/>
            <p:nvPr/>
          </p:nvSpPr>
          <p:spPr>
            <a:xfrm flipH="false" flipV="false" rot="0">
              <a:off x="12700" y="12700"/>
              <a:ext cx="24407495" cy="11070209"/>
            </a:xfrm>
            <a:custGeom>
              <a:avLst/>
              <a:gdLst/>
              <a:ahLst/>
              <a:cxnLst/>
              <a:rect r="r" b="b" t="t" l="l"/>
              <a:pathLst>
                <a:path h="11070209" w="24407495">
                  <a:moveTo>
                    <a:pt x="0" y="0"/>
                  </a:moveTo>
                  <a:lnTo>
                    <a:pt x="24407495" y="0"/>
                  </a:lnTo>
                  <a:lnTo>
                    <a:pt x="24407495" y="11070209"/>
                  </a:lnTo>
                  <a:lnTo>
                    <a:pt x="0" y="11070209"/>
                  </a:lnTo>
                  <a:close/>
                </a:path>
              </a:pathLst>
            </a:custGeom>
            <a:solidFill>
              <a:srgbClr val="4617DE"/>
            </a:solidFill>
          </p:spPr>
        </p:sp>
        <p:sp>
          <p:nvSpPr>
            <p:cNvPr name="Freeform 4" id="4"/>
            <p:cNvSpPr/>
            <p:nvPr/>
          </p:nvSpPr>
          <p:spPr>
            <a:xfrm flipH="false" flipV="false" rot="0">
              <a:off x="0" y="0"/>
              <a:ext cx="24432895" cy="11095609"/>
            </a:xfrm>
            <a:custGeom>
              <a:avLst/>
              <a:gdLst/>
              <a:ahLst/>
              <a:cxnLst/>
              <a:rect r="r" b="b" t="t" l="l"/>
              <a:pathLst>
                <a:path h="11095609" w="24432895">
                  <a:moveTo>
                    <a:pt x="12700" y="0"/>
                  </a:moveTo>
                  <a:lnTo>
                    <a:pt x="24420195" y="0"/>
                  </a:lnTo>
                  <a:cubicBezTo>
                    <a:pt x="24427180" y="0"/>
                    <a:pt x="24432895" y="5715"/>
                    <a:pt x="24432895" y="12700"/>
                  </a:cubicBezTo>
                  <a:lnTo>
                    <a:pt x="24432895" y="11082909"/>
                  </a:lnTo>
                  <a:cubicBezTo>
                    <a:pt x="24432895" y="11089894"/>
                    <a:pt x="24427180" y="11095609"/>
                    <a:pt x="24420195" y="11095609"/>
                  </a:cubicBezTo>
                  <a:lnTo>
                    <a:pt x="12700" y="11095609"/>
                  </a:lnTo>
                  <a:cubicBezTo>
                    <a:pt x="5715" y="11095609"/>
                    <a:pt x="0" y="11089894"/>
                    <a:pt x="0" y="11082909"/>
                  </a:cubicBezTo>
                  <a:lnTo>
                    <a:pt x="0" y="12700"/>
                  </a:lnTo>
                  <a:cubicBezTo>
                    <a:pt x="0" y="5715"/>
                    <a:pt x="5715" y="0"/>
                    <a:pt x="12700" y="0"/>
                  </a:cubicBezTo>
                  <a:moveTo>
                    <a:pt x="12700" y="25400"/>
                  </a:moveTo>
                  <a:lnTo>
                    <a:pt x="12700" y="12700"/>
                  </a:lnTo>
                  <a:lnTo>
                    <a:pt x="25400" y="12700"/>
                  </a:lnTo>
                  <a:lnTo>
                    <a:pt x="25400" y="11082909"/>
                  </a:lnTo>
                  <a:lnTo>
                    <a:pt x="12700" y="11082909"/>
                  </a:lnTo>
                  <a:lnTo>
                    <a:pt x="12700" y="11070209"/>
                  </a:lnTo>
                  <a:lnTo>
                    <a:pt x="24420195" y="11070209"/>
                  </a:lnTo>
                  <a:lnTo>
                    <a:pt x="24420195" y="11082909"/>
                  </a:lnTo>
                  <a:lnTo>
                    <a:pt x="24407495" y="11082909"/>
                  </a:lnTo>
                  <a:lnTo>
                    <a:pt x="24407495" y="12700"/>
                  </a:lnTo>
                  <a:lnTo>
                    <a:pt x="24420195" y="12700"/>
                  </a:lnTo>
                  <a:lnTo>
                    <a:pt x="24420195" y="25400"/>
                  </a:lnTo>
                  <a:lnTo>
                    <a:pt x="12700" y="25400"/>
                  </a:lnTo>
                  <a:close/>
                </a:path>
              </a:pathLst>
            </a:custGeom>
            <a:solidFill>
              <a:srgbClr val="4617DE"/>
            </a:solidFill>
          </p:spPr>
        </p:sp>
      </p:grpSp>
      <p:grpSp>
        <p:nvGrpSpPr>
          <p:cNvPr name="Group 5" id="5"/>
          <p:cNvGrpSpPr>
            <a:grpSpLocks noChangeAspect="true"/>
          </p:cNvGrpSpPr>
          <p:nvPr/>
        </p:nvGrpSpPr>
        <p:grpSpPr>
          <a:xfrm rot="0">
            <a:off x="15127473" y="572394"/>
            <a:ext cx="1777568" cy="877906"/>
            <a:chOff x="0" y="0"/>
            <a:chExt cx="2370090" cy="1170542"/>
          </a:xfrm>
        </p:grpSpPr>
        <p:sp>
          <p:nvSpPr>
            <p:cNvPr name="Freeform 6" id="6" descr="Picture 7"/>
            <p:cNvSpPr/>
            <p:nvPr/>
          </p:nvSpPr>
          <p:spPr>
            <a:xfrm flipH="false" flipV="false" rot="0">
              <a:off x="0" y="0"/>
              <a:ext cx="2370074" cy="1170559"/>
            </a:xfrm>
            <a:custGeom>
              <a:avLst/>
              <a:gdLst/>
              <a:ahLst/>
              <a:cxnLst/>
              <a:rect r="r" b="b" t="t" l="l"/>
              <a:pathLst>
                <a:path h="1170559" w="2370074">
                  <a:moveTo>
                    <a:pt x="0" y="0"/>
                  </a:moveTo>
                  <a:lnTo>
                    <a:pt x="2370074" y="0"/>
                  </a:lnTo>
                  <a:lnTo>
                    <a:pt x="2370074" y="1170559"/>
                  </a:lnTo>
                  <a:lnTo>
                    <a:pt x="0" y="1170559"/>
                  </a:lnTo>
                  <a:lnTo>
                    <a:pt x="0" y="0"/>
                  </a:lnTo>
                  <a:close/>
                </a:path>
              </a:pathLst>
            </a:custGeom>
            <a:blipFill>
              <a:blip r:embed="rId2"/>
              <a:stretch>
                <a:fillRect l="-561" t="0" r="-562" b="1"/>
              </a:stretch>
            </a:blipFill>
          </p:spPr>
        </p:sp>
      </p:grpSp>
      <p:grpSp>
        <p:nvGrpSpPr>
          <p:cNvPr name="Group 7" id="7"/>
          <p:cNvGrpSpPr>
            <a:grpSpLocks noChangeAspect="true"/>
          </p:cNvGrpSpPr>
          <p:nvPr/>
        </p:nvGrpSpPr>
        <p:grpSpPr>
          <a:xfrm rot="0">
            <a:off x="13445664" y="434190"/>
            <a:ext cx="1458211" cy="1119732"/>
            <a:chOff x="0" y="0"/>
            <a:chExt cx="1944282" cy="1492976"/>
          </a:xfrm>
        </p:grpSpPr>
        <p:sp>
          <p:nvSpPr>
            <p:cNvPr name="Freeform 8" id="8" descr="Picture 9"/>
            <p:cNvSpPr/>
            <p:nvPr/>
          </p:nvSpPr>
          <p:spPr>
            <a:xfrm flipH="false" flipV="false" rot="0">
              <a:off x="0" y="0"/>
              <a:ext cx="1944243" cy="1493012"/>
            </a:xfrm>
            <a:custGeom>
              <a:avLst/>
              <a:gdLst/>
              <a:ahLst/>
              <a:cxnLst/>
              <a:rect r="r" b="b" t="t" l="l"/>
              <a:pathLst>
                <a:path h="1493012" w="1944243">
                  <a:moveTo>
                    <a:pt x="0" y="0"/>
                  </a:moveTo>
                  <a:lnTo>
                    <a:pt x="1944243" y="0"/>
                  </a:lnTo>
                  <a:lnTo>
                    <a:pt x="1944243" y="1493012"/>
                  </a:lnTo>
                  <a:lnTo>
                    <a:pt x="0" y="1493012"/>
                  </a:lnTo>
                  <a:lnTo>
                    <a:pt x="0" y="0"/>
                  </a:lnTo>
                  <a:close/>
                </a:path>
              </a:pathLst>
            </a:custGeom>
            <a:blipFill>
              <a:blip r:embed="rId3"/>
              <a:stretch>
                <a:fillRect l="-107" t="0" r="-109" b="2"/>
              </a:stretch>
            </a:blipFill>
          </p:spPr>
        </p:sp>
      </p:grpSp>
      <p:grpSp>
        <p:nvGrpSpPr>
          <p:cNvPr name="Group 9" id="9"/>
          <p:cNvGrpSpPr>
            <a:grpSpLocks noChangeAspect="true"/>
          </p:cNvGrpSpPr>
          <p:nvPr/>
        </p:nvGrpSpPr>
        <p:grpSpPr>
          <a:xfrm rot="0">
            <a:off x="17201592" y="146404"/>
            <a:ext cx="808054" cy="1617030"/>
            <a:chOff x="0" y="0"/>
            <a:chExt cx="1077406" cy="2156040"/>
          </a:xfrm>
        </p:grpSpPr>
        <p:sp>
          <p:nvSpPr>
            <p:cNvPr name="Freeform 10" id="10" descr="pasted-movie.png"/>
            <p:cNvSpPr/>
            <p:nvPr/>
          </p:nvSpPr>
          <p:spPr>
            <a:xfrm flipH="false" flipV="false" rot="0">
              <a:off x="0" y="0"/>
              <a:ext cx="1077468" cy="2156079"/>
            </a:xfrm>
            <a:custGeom>
              <a:avLst/>
              <a:gdLst/>
              <a:ahLst/>
              <a:cxnLst/>
              <a:rect r="r" b="b" t="t" l="l"/>
              <a:pathLst>
                <a:path h="2156079" w="1077468">
                  <a:moveTo>
                    <a:pt x="0" y="0"/>
                  </a:moveTo>
                  <a:lnTo>
                    <a:pt x="1077468" y="0"/>
                  </a:lnTo>
                  <a:lnTo>
                    <a:pt x="1077468" y="2156079"/>
                  </a:lnTo>
                  <a:lnTo>
                    <a:pt x="0" y="2156079"/>
                  </a:lnTo>
                  <a:lnTo>
                    <a:pt x="0" y="0"/>
                  </a:lnTo>
                  <a:close/>
                </a:path>
              </a:pathLst>
            </a:custGeom>
            <a:blipFill>
              <a:blip r:embed="rId4"/>
              <a:stretch>
                <a:fillRect l="0" t="-604" r="5" b="-602"/>
              </a:stretch>
            </a:blipFill>
          </p:spPr>
        </p:sp>
      </p:grpSp>
      <p:grpSp>
        <p:nvGrpSpPr>
          <p:cNvPr name="Group 11" id="11"/>
          <p:cNvGrpSpPr>
            <a:grpSpLocks noChangeAspect="true"/>
          </p:cNvGrpSpPr>
          <p:nvPr/>
        </p:nvGrpSpPr>
        <p:grpSpPr>
          <a:xfrm rot="0">
            <a:off x="11943321" y="366993"/>
            <a:ext cx="1380389" cy="1175602"/>
            <a:chOff x="0" y="0"/>
            <a:chExt cx="1840518" cy="1567470"/>
          </a:xfrm>
        </p:grpSpPr>
        <p:sp>
          <p:nvSpPr>
            <p:cNvPr name="Freeform 12" id="12" descr="pasted-movie.png"/>
            <p:cNvSpPr/>
            <p:nvPr/>
          </p:nvSpPr>
          <p:spPr>
            <a:xfrm flipH="false" flipV="false" rot="0">
              <a:off x="0" y="0"/>
              <a:ext cx="1840484" cy="1567434"/>
            </a:xfrm>
            <a:custGeom>
              <a:avLst/>
              <a:gdLst/>
              <a:ahLst/>
              <a:cxnLst/>
              <a:rect r="r" b="b" t="t" l="l"/>
              <a:pathLst>
                <a:path h="1567434" w="1840484">
                  <a:moveTo>
                    <a:pt x="0" y="0"/>
                  </a:moveTo>
                  <a:lnTo>
                    <a:pt x="1840484" y="0"/>
                  </a:lnTo>
                  <a:lnTo>
                    <a:pt x="1840484" y="1567434"/>
                  </a:lnTo>
                  <a:lnTo>
                    <a:pt x="0" y="1567434"/>
                  </a:lnTo>
                  <a:lnTo>
                    <a:pt x="0" y="0"/>
                  </a:lnTo>
                  <a:close/>
                </a:path>
              </a:pathLst>
            </a:custGeom>
            <a:blipFill>
              <a:blip r:embed="rId5"/>
              <a:stretch>
                <a:fillRect l="-19378" t="-31606" r="-19623" b="-31609"/>
              </a:stretch>
            </a:blipFill>
          </p:spPr>
        </p:sp>
      </p:grpSp>
      <p:grpSp>
        <p:nvGrpSpPr>
          <p:cNvPr name="Group 13" id="13"/>
          <p:cNvGrpSpPr>
            <a:grpSpLocks noChangeAspect="true"/>
          </p:cNvGrpSpPr>
          <p:nvPr/>
        </p:nvGrpSpPr>
        <p:grpSpPr>
          <a:xfrm rot="0">
            <a:off x="15003453" y="7913580"/>
            <a:ext cx="3394872" cy="2414976"/>
            <a:chOff x="0" y="0"/>
            <a:chExt cx="4526496" cy="3219968"/>
          </a:xfrm>
        </p:grpSpPr>
        <p:sp>
          <p:nvSpPr>
            <p:cNvPr name="Freeform 14" id="14" descr="Image"/>
            <p:cNvSpPr/>
            <p:nvPr/>
          </p:nvSpPr>
          <p:spPr>
            <a:xfrm flipH="false" flipV="false" rot="0">
              <a:off x="0" y="0"/>
              <a:ext cx="4526534" cy="3219958"/>
            </a:xfrm>
            <a:custGeom>
              <a:avLst/>
              <a:gdLst/>
              <a:ahLst/>
              <a:cxnLst/>
              <a:rect r="r" b="b" t="t" l="l"/>
              <a:pathLst>
                <a:path h="3219958" w="4526534">
                  <a:moveTo>
                    <a:pt x="0" y="0"/>
                  </a:moveTo>
                  <a:lnTo>
                    <a:pt x="4526534" y="0"/>
                  </a:lnTo>
                  <a:lnTo>
                    <a:pt x="4526534" y="3219958"/>
                  </a:lnTo>
                  <a:lnTo>
                    <a:pt x="0" y="3219958"/>
                  </a:lnTo>
                  <a:lnTo>
                    <a:pt x="0" y="0"/>
                  </a:lnTo>
                  <a:close/>
                </a:path>
              </a:pathLst>
            </a:custGeom>
            <a:blipFill>
              <a:blip r:embed="rId6"/>
              <a:stretch>
                <a:fillRect l="-1173" t="0" r="-16160" b="-51433"/>
              </a:stretch>
            </a:blipFill>
          </p:spPr>
        </p:sp>
      </p:grpSp>
      <p:grpSp>
        <p:nvGrpSpPr>
          <p:cNvPr name="Group 15" id="15"/>
          <p:cNvGrpSpPr>
            <a:grpSpLocks noChangeAspect="true"/>
          </p:cNvGrpSpPr>
          <p:nvPr/>
        </p:nvGrpSpPr>
        <p:grpSpPr>
          <a:xfrm rot="0">
            <a:off x="2061220" y="3067194"/>
            <a:ext cx="6380205" cy="6194822"/>
            <a:chOff x="0" y="0"/>
            <a:chExt cx="8506940" cy="8259762"/>
          </a:xfrm>
        </p:grpSpPr>
        <p:sp>
          <p:nvSpPr>
            <p:cNvPr name="Freeform 16" id="16" descr="Image"/>
            <p:cNvSpPr/>
            <p:nvPr/>
          </p:nvSpPr>
          <p:spPr>
            <a:xfrm flipH="false" flipV="false" rot="0">
              <a:off x="0" y="0"/>
              <a:ext cx="8506968" cy="8259699"/>
            </a:xfrm>
            <a:custGeom>
              <a:avLst/>
              <a:gdLst/>
              <a:ahLst/>
              <a:cxnLst/>
              <a:rect r="r" b="b" t="t" l="l"/>
              <a:pathLst>
                <a:path h="8259699" w="8506968">
                  <a:moveTo>
                    <a:pt x="0" y="0"/>
                  </a:moveTo>
                  <a:lnTo>
                    <a:pt x="8506968" y="0"/>
                  </a:lnTo>
                  <a:lnTo>
                    <a:pt x="8506968" y="8259699"/>
                  </a:lnTo>
                  <a:lnTo>
                    <a:pt x="0" y="8259699"/>
                  </a:lnTo>
                  <a:lnTo>
                    <a:pt x="0" y="0"/>
                  </a:lnTo>
                  <a:close/>
                </a:path>
              </a:pathLst>
            </a:custGeom>
            <a:blipFill>
              <a:blip r:embed="rId7"/>
              <a:stretch>
                <a:fillRect l="0" t="-15" r="0" b="-15"/>
              </a:stretch>
            </a:blipFill>
          </p:spPr>
        </p:sp>
      </p:grpSp>
      <p:sp>
        <p:nvSpPr>
          <p:cNvPr name="TextBox 17" id="17"/>
          <p:cNvSpPr txBox="true"/>
          <p:nvPr/>
        </p:nvSpPr>
        <p:spPr>
          <a:xfrm rot="0">
            <a:off x="9812947" y="4974724"/>
            <a:ext cx="8723645" cy="920190"/>
          </a:xfrm>
          <a:prstGeom prst="rect">
            <a:avLst/>
          </a:prstGeom>
        </p:spPr>
        <p:txBody>
          <a:bodyPr anchor="t" rtlCol="false" tIns="0" lIns="0" bIns="0" rIns="0">
            <a:spAutoFit/>
          </a:bodyPr>
          <a:lstStyle/>
          <a:p>
            <a:pPr algn="ctr">
              <a:lnSpc>
                <a:spcPts val="6659"/>
              </a:lnSpc>
            </a:pPr>
            <a:r>
              <a:rPr lang="en-US" b="true" sz="5550" spc="22">
                <a:solidFill>
                  <a:srgbClr val="2B2551"/>
                </a:solidFill>
                <a:latin typeface="Merriweather Sans Bold"/>
                <a:ea typeface="Merriweather Sans Bold"/>
                <a:cs typeface="Merriweather Sans Bold"/>
                <a:sym typeface="Merriweather Sans Bold"/>
              </a:rPr>
              <a:t>Resultado</a:t>
            </a:r>
          </a:p>
        </p:txBody>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1756" y="4417002"/>
            <a:ext cx="12030496" cy="4778928"/>
            <a:chOff x="0" y="0"/>
            <a:chExt cx="16040662" cy="6371904"/>
          </a:xfrm>
        </p:grpSpPr>
        <p:sp>
          <p:nvSpPr>
            <p:cNvPr name="Freeform 3" id="3"/>
            <p:cNvSpPr/>
            <p:nvPr/>
          </p:nvSpPr>
          <p:spPr>
            <a:xfrm flipH="false" flipV="false" rot="0">
              <a:off x="0" y="0"/>
              <a:ext cx="16040663" cy="6371904"/>
            </a:xfrm>
            <a:custGeom>
              <a:avLst/>
              <a:gdLst/>
              <a:ahLst/>
              <a:cxnLst/>
              <a:rect r="r" b="b" t="t" l="l"/>
              <a:pathLst>
                <a:path h="6371904" w="16040663">
                  <a:moveTo>
                    <a:pt x="0" y="0"/>
                  </a:moveTo>
                  <a:lnTo>
                    <a:pt x="16040663" y="0"/>
                  </a:lnTo>
                  <a:lnTo>
                    <a:pt x="16040663" y="6371904"/>
                  </a:lnTo>
                  <a:lnTo>
                    <a:pt x="0" y="6371904"/>
                  </a:lnTo>
                  <a:close/>
                </a:path>
              </a:pathLst>
            </a:custGeom>
            <a:solidFill>
              <a:srgbClr val="000000">
                <a:alpha val="0"/>
              </a:srgbClr>
            </a:solidFill>
          </p:spPr>
        </p:sp>
        <p:sp>
          <p:nvSpPr>
            <p:cNvPr name="TextBox 4" id="4"/>
            <p:cNvSpPr txBox="true"/>
            <p:nvPr/>
          </p:nvSpPr>
          <p:spPr>
            <a:xfrm>
              <a:off x="0" y="0"/>
              <a:ext cx="16040662" cy="6371904"/>
            </a:xfrm>
            <a:prstGeom prst="rect">
              <a:avLst/>
            </a:prstGeom>
          </p:spPr>
          <p:txBody>
            <a:bodyPr anchor="ctr" rtlCol="false" tIns="0" lIns="0" bIns="0" rIns="0"/>
            <a:lstStyle/>
            <a:p>
              <a:pPr algn="l" marL="434340" indent="-217170" lvl="1">
                <a:lnSpc>
                  <a:spcPts val="2879"/>
                </a:lnSpc>
                <a:buFont typeface="Arial"/>
                <a:buChar char="•"/>
              </a:pPr>
              <a:r>
                <a:rPr lang="en-US" sz="2400" spc="9">
                  <a:solidFill>
                    <a:srgbClr val="000000"/>
                  </a:solidFill>
                  <a:latin typeface="Merriweather Sans Light"/>
                  <a:ea typeface="Merriweather Sans Light"/>
                  <a:cs typeface="Merriweather Sans Light"/>
                  <a:sym typeface="Merriweather Sans Light"/>
                </a:rPr>
                <a:t>Apresente os resultados do seu projeto aqui.</a:t>
              </a:r>
            </a:p>
          </p:txBody>
        </p:sp>
      </p:grpSp>
      <p:grpSp>
        <p:nvGrpSpPr>
          <p:cNvPr name="Group 5" id="5"/>
          <p:cNvGrpSpPr/>
          <p:nvPr/>
        </p:nvGrpSpPr>
        <p:grpSpPr>
          <a:xfrm rot="0">
            <a:off x="1037932" y="3370328"/>
            <a:ext cx="6453046" cy="948447"/>
            <a:chOff x="0" y="0"/>
            <a:chExt cx="8604062" cy="1264596"/>
          </a:xfrm>
        </p:grpSpPr>
        <p:sp>
          <p:nvSpPr>
            <p:cNvPr name="Freeform 6" id="6"/>
            <p:cNvSpPr/>
            <p:nvPr/>
          </p:nvSpPr>
          <p:spPr>
            <a:xfrm flipH="false" flipV="false" rot="0">
              <a:off x="12700" y="12700"/>
              <a:ext cx="8578723" cy="1239139"/>
            </a:xfrm>
            <a:custGeom>
              <a:avLst/>
              <a:gdLst/>
              <a:ahLst/>
              <a:cxnLst/>
              <a:rect r="r" b="b" t="t" l="l"/>
              <a:pathLst>
                <a:path h="1239139" w="8578723">
                  <a:moveTo>
                    <a:pt x="0" y="0"/>
                  </a:moveTo>
                  <a:lnTo>
                    <a:pt x="8578723" y="0"/>
                  </a:lnTo>
                  <a:lnTo>
                    <a:pt x="8578723" y="1239139"/>
                  </a:lnTo>
                  <a:lnTo>
                    <a:pt x="0" y="1239139"/>
                  </a:lnTo>
                  <a:close/>
                </a:path>
              </a:pathLst>
            </a:custGeom>
            <a:solidFill>
              <a:srgbClr val="FE2E45"/>
            </a:solidFill>
          </p:spPr>
        </p:sp>
      </p:grpSp>
      <p:grpSp>
        <p:nvGrpSpPr>
          <p:cNvPr name="Group 7" id="7"/>
          <p:cNvGrpSpPr/>
          <p:nvPr/>
        </p:nvGrpSpPr>
        <p:grpSpPr>
          <a:xfrm rot="0">
            <a:off x="1037932" y="3182866"/>
            <a:ext cx="11653162" cy="1323369"/>
            <a:chOff x="0" y="0"/>
            <a:chExt cx="15537550" cy="1764492"/>
          </a:xfrm>
        </p:grpSpPr>
        <p:sp>
          <p:nvSpPr>
            <p:cNvPr name="Freeform 8" id="8"/>
            <p:cNvSpPr/>
            <p:nvPr/>
          </p:nvSpPr>
          <p:spPr>
            <a:xfrm flipH="false" flipV="false" rot="0">
              <a:off x="0" y="0"/>
              <a:ext cx="15537551" cy="1764492"/>
            </a:xfrm>
            <a:custGeom>
              <a:avLst/>
              <a:gdLst/>
              <a:ahLst/>
              <a:cxnLst/>
              <a:rect r="r" b="b" t="t" l="l"/>
              <a:pathLst>
                <a:path h="1764492" w="15537551">
                  <a:moveTo>
                    <a:pt x="0" y="0"/>
                  </a:moveTo>
                  <a:lnTo>
                    <a:pt x="15537551" y="0"/>
                  </a:lnTo>
                  <a:lnTo>
                    <a:pt x="15537551" y="1764492"/>
                  </a:lnTo>
                  <a:lnTo>
                    <a:pt x="0" y="1764492"/>
                  </a:lnTo>
                  <a:close/>
                </a:path>
              </a:pathLst>
            </a:custGeom>
            <a:solidFill>
              <a:srgbClr val="000000">
                <a:alpha val="0"/>
              </a:srgbClr>
            </a:solidFill>
          </p:spPr>
        </p:sp>
        <p:sp>
          <p:nvSpPr>
            <p:cNvPr name="TextBox 9" id="9"/>
            <p:cNvSpPr txBox="true"/>
            <p:nvPr/>
          </p:nvSpPr>
          <p:spPr>
            <a:xfrm>
              <a:off x="0" y="57150"/>
              <a:ext cx="15537550" cy="1707342"/>
            </a:xfrm>
            <a:prstGeom prst="rect">
              <a:avLst/>
            </a:prstGeom>
          </p:spPr>
          <p:txBody>
            <a:bodyPr anchor="ctr" rtlCol="false" tIns="0" lIns="0" bIns="0" rIns="0"/>
            <a:lstStyle/>
            <a:p>
              <a:pPr algn="l">
                <a:lnSpc>
                  <a:spcPts val="5427"/>
                </a:lnSpc>
              </a:pPr>
              <a:r>
                <a:rPr lang="en-US" b="true" sz="5025" spc="20">
                  <a:solidFill>
                    <a:srgbClr val="2B2551"/>
                  </a:solidFill>
                  <a:latin typeface="Merriweather Sans Bold"/>
                  <a:ea typeface="Merriweather Sans Bold"/>
                  <a:cs typeface="Merriweather Sans Bold"/>
                  <a:sym typeface="Merriweather Sans Bold"/>
                </a:rPr>
                <a:t>Resultados </a:t>
              </a:r>
            </a:p>
          </p:txBody>
        </p:sp>
      </p:grpSp>
      <p:grpSp>
        <p:nvGrpSpPr>
          <p:cNvPr name="Group 10" id="10"/>
          <p:cNvGrpSpPr>
            <a:grpSpLocks noChangeAspect="true"/>
          </p:cNvGrpSpPr>
          <p:nvPr/>
        </p:nvGrpSpPr>
        <p:grpSpPr>
          <a:xfrm rot="0">
            <a:off x="682956" y="744174"/>
            <a:ext cx="2921214" cy="248720"/>
            <a:chOff x="0" y="0"/>
            <a:chExt cx="3894952" cy="331626"/>
          </a:xfrm>
        </p:grpSpPr>
        <p:sp>
          <p:nvSpPr>
            <p:cNvPr name="Freeform 11" id="11"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12" id="12"/>
          <p:cNvGrpSpPr>
            <a:grpSpLocks noChangeAspect="true"/>
          </p:cNvGrpSpPr>
          <p:nvPr/>
        </p:nvGrpSpPr>
        <p:grpSpPr>
          <a:xfrm rot="0">
            <a:off x="15222434" y="427439"/>
            <a:ext cx="1580448" cy="780909"/>
            <a:chOff x="0" y="0"/>
            <a:chExt cx="2107264" cy="1041212"/>
          </a:xfrm>
        </p:grpSpPr>
        <p:sp>
          <p:nvSpPr>
            <p:cNvPr name="Freeform 13" id="13"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14" id="14"/>
          <p:cNvGrpSpPr>
            <a:grpSpLocks noChangeAspect="true"/>
          </p:cNvGrpSpPr>
          <p:nvPr/>
        </p:nvGrpSpPr>
        <p:grpSpPr>
          <a:xfrm rot="0">
            <a:off x="13800587" y="338836"/>
            <a:ext cx="1234639" cy="941733"/>
            <a:chOff x="0" y="0"/>
            <a:chExt cx="1646186" cy="1255644"/>
          </a:xfrm>
        </p:grpSpPr>
        <p:sp>
          <p:nvSpPr>
            <p:cNvPr name="Freeform 15" id="15"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16" id="16"/>
          <p:cNvGrpSpPr>
            <a:grpSpLocks noChangeAspect="true"/>
          </p:cNvGrpSpPr>
          <p:nvPr/>
        </p:nvGrpSpPr>
        <p:grpSpPr>
          <a:xfrm rot="0">
            <a:off x="17000025" y="270560"/>
            <a:ext cx="534549" cy="1094670"/>
            <a:chOff x="0" y="0"/>
            <a:chExt cx="712732" cy="1459560"/>
          </a:xfrm>
        </p:grpSpPr>
        <p:sp>
          <p:nvSpPr>
            <p:cNvPr name="Freeform 17" id="17"/>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8" id="18"/>
          <p:cNvGrpSpPr>
            <a:grpSpLocks noChangeAspect="true"/>
          </p:cNvGrpSpPr>
          <p:nvPr/>
        </p:nvGrpSpPr>
        <p:grpSpPr>
          <a:xfrm rot="0">
            <a:off x="12595394" y="338836"/>
            <a:ext cx="1008050" cy="864211"/>
            <a:chOff x="0" y="0"/>
            <a:chExt cx="1344066" cy="1152282"/>
          </a:xfrm>
        </p:grpSpPr>
        <p:sp>
          <p:nvSpPr>
            <p:cNvPr name="Freeform 19" id="19"/>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20" id="20"/>
          <p:cNvGrpSpPr/>
          <p:nvPr/>
        </p:nvGrpSpPr>
        <p:grpSpPr>
          <a:xfrm rot="0">
            <a:off x="-13605" y="9985086"/>
            <a:ext cx="18342351" cy="384878"/>
            <a:chOff x="0" y="0"/>
            <a:chExt cx="24456468" cy="513170"/>
          </a:xfrm>
        </p:grpSpPr>
        <p:sp>
          <p:nvSpPr>
            <p:cNvPr name="Freeform 21" id="21"/>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38963" y="1974824"/>
            <a:ext cx="18324701" cy="8321702"/>
            <a:chOff x="0" y="0"/>
            <a:chExt cx="24432934" cy="11095602"/>
          </a:xfrm>
        </p:grpSpPr>
        <p:sp>
          <p:nvSpPr>
            <p:cNvPr name="Freeform 3" id="3"/>
            <p:cNvSpPr/>
            <p:nvPr/>
          </p:nvSpPr>
          <p:spPr>
            <a:xfrm flipH="false" flipV="false" rot="0">
              <a:off x="12700" y="12700"/>
              <a:ext cx="24407495" cy="11070209"/>
            </a:xfrm>
            <a:custGeom>
              <a:avLst/>
              <a:gdLst/>
              <a:ahLst/>
              <a:cxnLst/>
              <a:rect r="r" b="b" t="t" l="l"/>
              <a:pathLst>
                <a:path h="11070209" w="24407495">
                  <a:moveTo>
                    <a:pt x="0" y="0"/>
                  </a:moveTo>
                  <a:lnTo>
                    <a:pt x="24407495" y="0"/>
                  </a:lnTo>
                  <a:lnTo>
                    <a:pt x="24407495" y="11070209"/>
                  </a:lnTo>
                  <a:lnTo>
                    <a:pt x="0" y="11070209"/>
                  </a:lnTo>
                  <a:close/>
                </a:path>
              </a:pathLst>
            </a:custGeom>
            <a:solidFill>
              <a:srgbClr val="4617DE"/>
            </a:solidFill>
          </p:spPr>
        </p:sp>
        <p:sp>
          <p:nvSpPr>
            <p:cNvPr name="Freeform 4" id="4"/>
            <p:cNvSpPr/>
            <p:nvPr/>
          </p:nvSpPr>
          <p:spPr>
            <a:xfrm flipH="false" flipV="false" rot="0">
              <a:off x="0" y="0"/>
              <a:ext cx="24432895" cy="11095609"/>
            </a:xfrm>
            <a:custGeom>
              <a:avLst/>
              <a:gdLst/>
              <a:ahLst/>
              <a:cxnLst/>
              <a:rect r="r" b="b" t="t" l="l"/>
              <a:pathLst>
                <a:path h="11095609" w="24432895">
                  <a:moveTo>
                    <a:pt x="12700" y="0"/>
                  </a:moveTo>
                  <a:lnTo>
                    <a:pt x="24420195" y="0"/>
                  </a:lnTo>
                  <a:cubicBezTo>
                    <a:pt x="24427180" y="0"/>
                    <a:pt x="24432895" y="5715"/>
                    <a:pt x="24432895" y="12700"/>
                  </a:cubicBezTo>
                  <a:lnTo>
                    <a:pt x="24432895" y="11082909"/>
                  </a:lnTo>
                  <a:cubicBezTo>
                    <a:pt x="24432895" y="11089894"/>
                    <a:pt x="24427180" y="11095609"/>
                    <a:pt x="24420195" y="11095609"/>
                  </a:cubicBezTo>
                  <a:lnTo>
                    <a:pt x="12700" y="11095609"/>
                  </a:lnTo>
                  <a:cubicBezTo>
                    <a:pt x="5715" y="11095609"/>
                    <a:pt x="0" y="11089894"/>
                    <a:pt x="0" y="11082909"/>
                  </a:cubicBezTo>
                  <a:lnTo>
                    <a:pt x="0" y="12700"/>
                  </a:lnTo>
                  <a:cubicBezTo>
                    <a:pt x="0" y="5715"/>
                    <a:pt x="5715" y="0"/>
                    <a:pt x="12700" y="0"/>
                  </a:cubicBezTo>
                  <a:moveTo>
                    <a:pt x="12700" y="25400"/>
                  </a:moveTo>
                  <a:lnTo>
                    <a:pt x="12700" y="12700"/>
                  </a:lnTo>
                  <a:lnTo>
                    <a:pt x="25400" y="12700"/>
                  </a:lnTo>
                  <a:lnTo>
                    <a:pt x="25400" y="11082909"/>
                  </a:lnTo>
                  <a:lnTo>
                    <a:pt x="12700" y="11082909"/>
                  </a:lnTo>
                  <a:lnTo>
                    <a:pt x="12700" y="11070209"/>
                  </a:lnTo>
                  <a:lnTo>
                    <a:pt x="24420195" y="11070209"/>
                  </a:lnTo>
                  <a:lnTo>
                    <a:pt x="24420195" y="11082909"/>
                  </a:lnTo>
                  <a:lnTo>
                    <a:pt x="24407495" y="11082909"/>
                  </a:lnTo>
                  <a:lnTo>
                    <a:pt x="24407495" y="12700"/>
                  </a:lnTo>
                  <a:lnTo>
                    <a:pt x="24420195" y="12700"/>
                  </a:lnTo>
                  <a:lnTo>
                    <a:pt x="24420195" y="25400"/>
                  </a:lnTo>
                  <a:lnTo>
                    <a:pt x="12700" y="25400"/>
                  </a:lnTo>
                  <a:close/>
                </a:path>
              </a:pathLst>
            </a:custGeom>
            <a:solidFill>
              <a:srgbClr val="4617DE"/>
            </a:solidFill>
          </p:spPr>
        </p:sp>
      </p:grpSp>
      <p:grpSp>
        <p:nvGrpSpPr>
          <p:cNvPr name="Group 5" id="5"/>
          <p:cNvGrpSpPr>
            <a:grpSpLocks noChangeAspect="true"/>
          </p:cNvGrpSpPr>
          <p:nvPr/>
        </p:nvGrpSpPr>
        <p:grpSpPr>
          <a:xfrm rot="0">
            <a:off x="15127473" y="572394"/>
            <a:ext cx="1777568" cy="877906"/>
            <a:chOff x="0" y="0"/>
            <a:chExt cx="2370090" cy="1170542"/>
          </a:xfrm>
        </p:grpSpPr>
        <p:sp>
          <p:nvSpPr>
            <p:cNvPr name="Freeform 6" id="6" descr="Picture 7"/>
            <p:cNvSpPr/>
            <p:nvPr/>
          </p:nvSpPr>
          <p:spPr>
            <a:xfrm flipH="false" flipV="false" rot="0">
              <a:off x="0" y="0"/>
              <a:ext cx="2370074" cy="1170559"/>
            </a:xfrm>
            <a:custGeom>
              <a:avLst/>
              <a:gdLst/>
              <a:ahLst/>
              <a:cxnLst/>
              <a:rect r="r" b="b" t="t" l="l"/>
              <a:pathLst>
                <a:path h="1170559" w="2370074">
                  <a:moveTo>
                    <a:pt x="0" y="0"/>
                  </a:moveTo>
                  <a:lnTo>
                    <a:pt x="2370074" y="0"/>
                  </a:lnTo>
                  <a:lnTo>
                    <a:pt x="2370074" y="1170559"/>
                  </a:lnTo>
                  <a:lnTo>
                    <a:pt x="0" y="1170559"/>
                  </a:lnTo>
                  <a:lnTo>
                    <a:pt x="0" y="0"/>
                  </a:lnTo>
                  <a:close/>
                </a:path>
              </a:pathLst>
            </a:custGeom>
            <a:blipFill>
              <a:blip r:embed="rId2"/>
              <a:stretch>
                <a:fillRect l="-561" t="0" r="-562" b="1"/>
              </a:stretch>
            </a:blipFill>
          </p:spPr>
        </p:sp>
      </p:grpSp>
      <p:grpSp>
        <p:nvGrpSpPr>
          <p:cNvPr name="Group 7" id="7"/>
          <p:cNvGrpSpPr>
            <a:grpSpLocks noChangeAspect="true"/>
          </p:cNvGrpSpPr>
          <p:nvPr/>
        </p:nvGrpSpPr>
        <p:grpSpPr>
          <a:xfrm rot="0">
            <a:off x="13445664" y="434190"/>
            <a:ext cx="1458211" cy="1119732"/>
            <a:chOff x="0" y="0"/>
            <a:chExt cx="1944282" cy="1492976"/>
          </a:xfrm>
        </p:grpSpPr>
        <p:sp>
          <p:nvSpPr>
            <p:cNvPr name="Freeform 8" id="8" descr="Picture 9"/>
            <p:cNvSpPr/>
            <p:nvPr/>
          </p:nvSpPr>
          <p:spPr>
            <a:xfrm flipH="false" flipV="false" rot="0">
              <a:off x="0" y="0"/>
              <a:ext cx="1944243" cy="1493012"/>
            </a:xfrm>
            <a:custGeom>
              <a:avLst/>
              <a:gdLst/>
              <a:ahLst/>
              <a:cxnLst/>
              <a:rect r="r" b="b" t="t" l="l"/>
              <a:pathLst>
                <a:path h="1493012" w="1944243">
                  <a:moveTo>
                    <a:pt x="0" y="0"/>
                  </a:moveTo>
                  <a:lnTo>
                    <a:pt x="1944243" y="0"/>
                  </a:lnTo>
                  <a:lnTo>
                    <a:pt x="1944243" y="1493012"/>
                  </a:lnTo>
                  <a:lnTo>
                    <a:pt x="0" y="1493012"/>
                  </a:lnTo>
                  <a:lnTo>
                    <a:pt x="0" y="0"/>
                  </a:lnTo>
                  <a:close/>
                </a:path>
              </a:pathLst>
            </a:custGeom>
            <a:blipFill>
              <a:blip r:embed="rId3"/>
              <a:stretch>
                <a:fillRect l="-107" t="0" r="-109" b="2"/>
              </a:stretch>
            </a:blipFill>
          </p:spPr>
        </p:sp>
      </p:grpSp>
      <p:grpSp>
        <p:nvGrpSpPr>
          <p:cNvPr name="Group 9" id="9"/>
          <p:cNvGrpSpPr>
            <a:grpSpLocks noChangeAspect="true"/>
          </p:cNvGrpSpPr>
          <p:nvPr/>
        </p:nvGrpSpPr>
        <p:grpSpPr>
          <a:xfrm rot="0">
            <a:off x="17201592" y="146404"/>
            <a:ext cx="808054" cy="1617030"/>
            <a:chOff x="0" y="0"/>
            <a:chExt cx="1077406" cy="2156040"/>
          </a:xfrm>
        </p:grpSpPr>
        <p:sp>
          <p:nvSpPr>
            <p:cNvPr name="Freeform 10" id="10" descr="pasted-movie.png"/>
            <p:cNvSpPr/>
            <p:nvPr/>
          </p:nvSpPr>
          <p:spPr>
            <a:xfrm flipH="false" flipV="false" rot="0">
              <a:off x="0" y="0"/>
              <a:ext cx="1077468" cy="2156079"/>
            </a:xfrm>
            <a:custGeom>
              <a:avLst/>
              <a:gdLst/>
              <a:ahLst/>
              <a:cxnLst/>
              <a:rect r="r" b="b" t="t" l="l"/>
              <a:pathLst>
                <a:path h="2156079" w="1077468">
                  <a:moveTo>
                    <a:pt x="0" y="0"/>
                  </a:moveTo>
                  <a:lnTo>
                    <a:pt x="1077468" y="0"/>
                  </a:lnTo>
                  <a:lnTo>
                    <a:pt x="1077468" y="2156079"/>
                  </a:lnTo>
                  <a:lnTo>
                    <a:pt x="0" y="2156079"/>
                  </a:lnTo>
                  <a:lnTo>
                    <a:pt x="0" y="0"/>
                  </a:lnTo>
                  <a:close/>
                </a:path>
              </a:pathLst>
            </a:custGeom>
            <a:blipFill>
              <a:blip r:embed="rId4"/>
              <a:stretch>
                <a:fillRect l="0" t="-604" r="5" b="-602"/>
              </a:stretch>
            </a:blipFill>
          </p:spPr>
        </p:sp>
      </p:grpSp>
      <p:grpSp>
        <p:nvGrpSpPr>
          <p:cNvPr name="Group 11" id="11"/>
          <p:cNvGrpSpPr>
            <a:grpSpLocks noChangeAspect="true"/>
          </p:cNvGrpSpPr>
          <p:nvPr/>
        </p:nvGrpSpPr>
        <p:grpSpPr>
          <a:xfrm rot="0">
            <a:off x="11943321" y="366993"/>
            <a:ext cx="1380389" cy="1175602"/>
            <a:chOff x="0" y="0"/>
            <a:chExt cx="1840518" cy="1567470"/>
          </a:xfrm>
        </p:grpSpPr>
        <p:sp>
          <p:nvSpPr>
            <p:cNvPr name="Freeform 12" id="12" descr="pasted-movie.png"/>
            <p:cNvSpPr/>
            <p:nvPr/>
          </p:nvSpPr>
          <p:spPr>
            <a:xfrm flipH="false" flipV="false" rot="0">
              <a:off x="0" y="0"/>
              <a:ext cx="1840484" cy="1567434"/>
            </a:xfrm>
            <a:custGeom>
              <a:avLst/>
              <a:gdLst/>
              <a:ahLst/>
              <a:cxnLst/>
              <a:rect r="r" b="b" t="t" l="l"/>
              <a:pathLst>
                <a:path h="1567434" w="1840484">
                  <a:moveTo>
                    <a:pt x="0" y="0"/>
                  </a:moveTo>
                  <a:lnTo>
                    <a:pt x="1840484" y="0"/>
                  </a:lnTo>
                  <a:lnTo>
                    <a:pt x="1840484" y="1567434"/>
                  </a:lnTo>
                  <a:lnTo>
                    <a:pt x="0" y="1567434"/>
                  </a:lnTo>
                  <a:lnTo>
                    <a:pt x="0" y="0"/>
                  </a:lnTo>
                  <a:close/>
                </a:path>
              </a:pathLst>
            </a:custGeom>
            <a:blipFill>
              <a:blip r:embed="rId5"/>
              <a:stretch>
                <a:fillRect l="-19378" t="-31606" r="-19623" b="-31609"/>
              </a:stretch>
            </a:blipFill>
          </p:spPr>
        </p:sp>
      </p:grpSp>
      <p:grpSp>
        <p:nvGrpSpPr>
          <p:cNvPr name="Group 13" id="13"/>
          <p:cNvGrpSpPr>
            <a:grpSpLocks noChangeAspect="true"/>
          </p:cNvGrpSpPr>
          <p:nvPr/>
        </p:nvGrpSpPr>
        <p:grpSpPr>
          <a:xfrm rot="0">
            <a:off x="15003453" y="7913580"/>
            <a:ext cx="3394872" cy="2414976"/>
            <a:chOff x="0" y="0"/>
            <a:chExt cx="4526496" cy="3219968"/>
          </a:xfrm>
        </p:grpSpPr>
        <p:sp>
          <p:nvSpPr>
            <p:cNvPr name="Freeform 14" id="14" descr="Image"/>
            <p:cNvSpPr/>
            <p:nvPr/>
          </p:nvSpPr>
          <p:spPr>
            <a:xfrm flipH="false" flipV="false" rot="0">
              <a:off x="0" y="0"/>
              <a:ext cx="4526534" cy="3219958"/>
            </a:xfrm>
            <a:custGeom>
              <a:avLst/>
              <a:gdLst/>
              <a:ahLst/>
              <a:cxnLst/>
              <a:rect r="r" b="b" t="t" l="l"/>
              <a:pathLst>
                <a:path h="3219958" w="4526534">
                  <a:moveTo>
                    <a:pt x="0" y="0"/>
                  </a:moveTo>
                  <a:lnTo>
                    <a:pt x="4526534" y="0"/>
                  </a:lnTo>
                  <a:lnTo>
                    <a:pt x="4526534" y="3219958"/>
                  </a:lnTo>
                  <a:lnTo>
                    <a:pt x="0" y="3219958"/>
                  </a:lnTo>
                  <a:lnTo>
                    <a:pt x="0" y="0"/>
                  </a:lnTo>
                  <a:close/>
                </a:path>
              </a:pathLst>
            </a:custGeom>
            <a:blipFill>
              <a:blip r:embed="rId6"/>
              <a:stretch>
                <a:fillRect l="-1173" t="0" r="-16160" b="-51433"/>
              </a:stretch>
            </a:blipFill>
          </p:spPr>
        </p:sp>
      </p:grpSp>
      <p:grpSp>
        <p:nvGrpSpPr>
          <p:cNvPr name="Group 15" id="15"/>
          <p:cNvGrpSpPr>
            <a:grpSpLocks noChangeAspect="true"/>
          </p:cNvGrpSpPr>
          <p:nvPr/>
        </p:nvGrpSpPr>
        <p:grpSpPr>
          <a:xfrm rot="0">
            <a:off x="2061220" y="3067194"/>
            <a:ext cx="6380205" cy="6194822"/>
            <a:chOff x="0" y="0"/>
            <a:chExt cx="8506940" cy="8259762"/>
          </a:xfrm>
        </p:grpSpPr>
        <p:sp>
          <p:nvSpPr>
            <p:cNvPr name="Freeform 16" id="16" descr="Image"/>
            <p:cNvSpPr/>
            <p:nvPr/>
          </p:nvSpPr>
          <p:spPr>
            <a:xfrm flipH="false" flipV="false" rot="0">
              <a:off x="0" y="0"/>
              <a:ext cx="8506968" cy="8259699"/>
            </a:xfrm>
            <a:custGeom>
              <a:avLst/>
              <a:gdLst/>
              <a:ahLst/>
              <a:cxnLst/>
              <a:rect r="r" b="b" t="t" l="l"/>
              <a:pathLst>
                <a:path h="8259699" w="8506968">
                  <a:moveTo>
                    <a:pt x="0" y="0"/>
                  </a:moveTo>
                  <a:lnTo>
                    <a:pt x="8506968" y="0"/>
                  </a:lnTo>
                  <a:lnTo>
                    <a:pt x="8506968" y="8259699"/>
                  </a:lnTo>
                  <a:lnTo>
                    <a:pt x="0" y="8259699"/>
                  </a:lnTo>
                  <a:lnTo>
                    <a:pt x="0" y="0"/>
                  </a:lnTo>
                  <a:close/>
                </a:path>
              </a:pathLst>
            </a:custGeom>
            <a:blipFill>
              <a:blip r:embed="rId7"/>
              <a:stretch>
                <a:fillRect l="0" t="-15" r="0" b="-15"/>
              </a:stretch>
            </a:blipFill>
          </p:spPr>
        </p:sp>
      </p:grpSp>
      <p:sp>
        <p:nvSpPr>
          <p:cNvPr name="TextBox 17" id="17"/>
          <p:cNvSpPr txBox="true"/>
          <p:nvPr/>
        </p:nvSpPr>
        <p:spPr>
          <a:xfrm rot="0">
            <a:off x="9812947" y="4974724"/>
            <a:ext cx="8723645" cy="920190"/>
          </a:xfrm>
          <a:prstGeom prst="rect">
            <a:avLst/>
          </a:prstGeom>
        </p:spPr>
        <p:txBody>
          <a:bodyPr anchor="t" rtlCol="false" tIns="0" lIns="0" bIns="0" rIns="0">
            <a:spAutoFit/>
          </a:bodyPr>
          <a:lstStyle/>
          <a:p>
            <a:pPr algn="ctr">
              <a:lnSpc>
                <a:spcPts val="6659"/>
              </a:lnSpc>
            </a:pPr>
            <a:r>
              <a:rPr lang="en-US" b="true" sz="5550" spc="22">
                <a:solidFill>
                  <a:srgbClr val="2B2551"/>
                </a:solidFill>
                <a:latin typeface="Merriweather Sans Bold"/>
                <a:ea typeface="Merriweather Sans Bold"/>
                <a:cs typeface="Merriweather Sans Bold"/>
                <a:sym typeface="Merriweather Sans Bold"/>
              </a:rPr>
              <a:t>Implantação</a:t>
            </a:r>
          </a:p>
        </p:txBody>
      </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1756" y="4417002"/>
            <a:ext cx="12030496" cy="4778928"/>
            <a:chOff x="0" y="0"/>
            <a:chExt cx="16040662" cy="6371904"/>
          </a:xfrm>
        </p:grpSpPr>
        <p:sp>
          <p:nvSpPr>
            <p:cNvPr name="Freeform 3" id="3"/>
            <p:cNvSpPr/>
            <p:nvPr/>
          </p:nvSpPr>
          <p:spPr>
            <a:xfrm flipH="false" flipV="false" rot="0">
              <a:off x="0" y="0"/>
              <a:ext cx="16040663" cy="6371904"/>
            </a:xfrm>
            <a:custGeom>
              <a:avLst/>
              <a:gdLst/>
              <a:ahLst/>
              <a:cxnLst/>
              <a:rect r="r" b="b" t="t" l="l"/>
              <a:pathLst>
                <a:path h="6371904" w="16040663">
                  <a:moveTo>
                    <a:pt x="0" y="0"/>
                  </a:moveTo>
                  <a:lnTo>
                    <a:pt x="16040663" y="0"/>
                  </a:lnTo>
                  <a:lnTo>
                    <a:pt x="16040663" y="6371904"/>
                  </a:lnTo>
                  <a:lnTo>
                    <a:pt x="0" y="6371904"/>
                  </a:lnTo>
                  <a:close/>
                </a:path>
              </a:pathLst>
            </a:custGeom>
            <a:solidFill>
              <a:srgbClr val="000000">
                <a:alpha val="0"/>
              </a:srgbClr>
            </a:solidFill>
          </p:spPr>
        </p:sp>
        <p:sp>
          <p:nvSpPr>
            <p:cNvPr name="TextBox 4" id="4"/>
            <p:cNvSpPr txBox="true"/>
            <p:nvPr/>
          </p:nvSpPr>
          <p:spPr>
            <a:xfrm>
              <a:off x="0" y="0"/>
              <a:ext cx="16040662" cy="6371904"/>
            </a:xfrm>
            <a:prstGeom prst="rect">
              <a:avLst/>
            </a:prstGeom>
          </p:spPr>
          <p:txBody>
            <a:bodyPr anchor="ctr" rtlCol="false" tIns="0" lIns="0" bIns="0" rIns="0"/>
            <a:lstStyle/>
            <a:p>
              <a:pPr algn="l" marL="434340" indent="-217170" lvl="1">
                <a:lnSpc>
                  <a:spcPts val="2879"/>
                </a:lnSpc>
                <a:buFont typeface="Arial"/>
                <a:buChar char="•"/>
              </a:pPr>
              <a:r>
                <a:rPr lang="en-US" sz="2400" spc="9">
                  <a:solidFill>
                    <a:srgbClr val="000000"/>
                  </a:solidFill>
                  <a:latin typeface="Merriweather Sans Light"/>
                  <a:ea typeface="Merriweather Sans Light"/>
                  <a:cs typeface="Merriweather Sans Light"/>
                  <a:sym typeface="Merriweather Sans Light"/>
                </a:rPr>
                <a:t>Visão geral da fase de implantação</a:t>
              </a:r>
            </a:p>
            <a:p>
              <a:pPr algn="l" marL="434340" indent="-217170" lvl="1">
                <a:lnSpc>
                  <a:spcPts val="2879"/>
                </a:lnSpc>
              </a:pPr>
            </a:p>
            <a:p>
              <a:pPr algn="l" marL="434340" indent="-217170" lvl="1">
                <a:lnSpc>
                  <a:spcPts val="2879"/>
                </a:lnSpc>
                <a:buFont typeface="Arial"/>
                <a:buChar char="•"/>
              </a:pPr>
              <a:r>
                <a:rPr lang="en-US" sz="2400" spc="9">
                  <a:solidFill>
                    <a:srgbClr val="000000"/>
                  </a:solidFill>
                  <a:latin typeface="Merriweather Sans Light"/>
                  <a:ea typeface="Merriweather Sans Light"/>
                  <a:cs typeface="Merriweather Sans Light"/>
                  <a:sym typeface="Merriweather Sans Light"/>
                </a:rPr>
                <a:t>Serialização de modelos, veiculação e integração de API</a:t>
              </a:r>
            </a:p>
          </p:txBody>
        </p:sp>
      </p:grpSp>
      <p:grpSp>
        <p:nvGrpSpPr>
          <p:cNvPr name="Group 5" id="5"/>
          <p:cNvGrpSpPr/>
          <p:nvPr/>
        </p:nvGrpSpPr>
        <p:grpSpPr>
          <a:xfrm rot="0">
            <a:off x="1037932" y="3370328"/>
            <a:ext cx="6453046" cy="948447"/>
            <a:chOff x="0" y="0"/>
            <a:chExt cx="8604062" cy="1264596"/>
          </a:xfrm>
        </p:grpSpPr>
        <p:sp>
          <p:nvSpPr>
            <p:cNvPr name="Freeform 6" id="6"/>
            <p:cNvSpPr/>
            <p:nvPr/>
          </p:nvSpPr>
          <p:spPr>
            <a:xfrm flipH="false" flipV="false" rot="0">
              <a:off x="12700" y="12700"/>
              <a:ext cx="8578723" cy="1239139"/>
            </a:xfrm>
            <a:custGeom>
              <a:avLst/>
              <a:gdLst/>
              <a:ahLst/>
              <a:cxnLst/>
              <a:rect r="r" b="b" t="t" l="l"/>
              <a:pathLst>
                <a:path h="1239139" w="8578723">
                  <a:moveTo>
                    <a:pt x="0" y="0"/>
                  </a:moveTo>
                  <a:lnTo>
                    <a:pt x="8578723" y="0"/>
                  </a:lnTo>
                  <a:lnTo>
                    <a:pt x="8578723" y="1239139"/>
                  </a:lnTo>
                  <a:lnTo>
                    <a:pt x="0" y="1239139"/>
                  </a:lnTo>
                  <a:close/>
                </a:path>
              </a:pathLst>
            </a:custGeom>
            <a:solidFill>
              <a:srgbClr val="FE2E45"/>
            </a:solidFill>
          </p:spPr>
        </p:sp>
      </p:grpSp>
      <p:grpSp>
        <p:nvGrpSpPr>
          <p:cNvPr name="Group 7" id="7"/>
          <p:cNvGrpSpPr/>
          <p:nvPr/>
        </p:nvGrpSpPr>
        <p:grpSpPr>
          <a:xfrm rot="0">
            <a:off x="951756" y="3182866"/>
            <a:ext cx="11653162" cy="1323369"/>
            <a:chOff x="0" y="0"/>
            <a:chExt cx="15537550" cy="1764492"/>
          </a:xfrm>
        </p:grpSpPr>
        <p:sp>
          <p:nvSpPr>
            <p:cNvPr name="Freeform 8" id="8"/>
            <p:cNvSpPr/>
            <p:nvPr/>
          </p:nvSpPr>
          <p:spPr>
            <a:xfrm flipH="false" flipV="false" rot="0">
              <a:off x="0" y="0"/>
              <a:ext cx="15537551" cy="1764492"/>
            </a:xfrm>
            <a:custGeom>
              <a:avLst/>
              <a:gdLst/>
              <a:ahLst/>
              <a:cxnLst/>
              <a:rect r="r" b="b" t="t" l="l"/>
              <a:pathLst>
                <a:path h="1764492" w="15537551">
                  <a:moveTo>
                    <a:pt x="0" y="0"/>
                  </a:moveTo>
                  <a:lnTo>
                    <a:pt x="15537551" y="0"/>
                  </a:lnTo>
                  <a:lnTo>
                    <a:pt x="15537551" y="1764492"/>
                  </a:lnTo>
                  <a:lnTo>
                    <a:pt x="0" y="1764492"/>
                  </a:lnTo>
                  <a:close/>
                </a:path>
              </a:pathLst>
            </a:custGeom>
            <a:solidFill>
              <a:srgbClr val="000000">
                <a:alpha val="0"/>
              </a:srgbClr>
            </a:solidFill>
          </p:spPr>
        </p:sp>
        <p:sp>
          <p:nvSpPr>
            <p:cNvPr name="TextBox 9" id="9"/>
            <p:cNvSpPr txBox="true"/>
            <p:nvPr/>
          </p:nvSpPr>
          <p:spPr>
            <a:xfrm>
              <a:off x="0" y="57150"/>
              <a:ext cx="15537550" cy="1707342"/>
            </a:xfrm>
            <a:prstGeom prst="rect">
              <a:avLst/>
            </a:prstGeom>
          </p:spPr>
          <p:txBody>
            <a:bodyPr anchor="ctr" rtlCol="false" tIns="0" lIns="0" bIns="0" rIns="0"/>
            <a:lstStyle/>
            <a:p>
              <a:pPr algn="l">
                <a:lnSpc>
                  <a:spcPts val="5427"/>
                </a:lnSpc>
              </a:pPr>
              <a:r>
                <a:rPr lang="en-US" b="true" sz="5025" spc="20">
                  <a:solidFill>
                    <a:srgbClr val="2B2551"/>
                  </a:solidFill>
                  <a:latin typeface="Merriweather Sans Bold"/>
                  <a:ea typeface="Merriweather Sans Bold"/>
                  <a:cs typeface="Merriweather Sans Bold"/>
                  <a:sym typeface="Merriweather Sans Bold"/>
                </a:rPr>
                <a:t>Implantação</a:t>
              </a:r>
            </a:p>
          </p:txBody>
        </p:sp>
      </p:grpSp>
      <p:grpSp>
        <p:nvGrpSpPr>
          <p:cNvPr name="Group 10" id="10"/>
          <p:cNvGrpSpPr>
            <a:grpSpLocks noChangeAspect="true"/>
          </p:cNvGrpSpPr>
          <p:nvPr/>
        </p:nvGrpSpPr>
        <p:grpSpPr>
          <a:xfrm rot="0">
            <a:off x="682956" y="744174"/>
            <a:ext cx="2921214" cy="248720"/>
            <a:chOff x="0" y="0"/>
            <a:chExt cx="3894952" cy="331626"/>
          </a:xfrm>
        </p:grpSpPr>
        <p:sp>
          <p:nvSpPr>
            <p:cNvPr name="Freeform 11" id="11"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12" id="12"/>
          <p:cNvGrpSpPr>
            <a:grpSpLocks noChangeAspect="true"/>
          </p:cNvGrpSpPr>
          <p:nvPr/>
        </p:nvGrpSpPr>
        <p:grpSpPr>
          <a:xfrm rot="0">
            <a:off x="15222434" y="427439"/>
            <a:ext cx="1580448" cy="780909"/>
            <a:chOff x="0" y="0"/>
            <a:chExt cx="2107264" cy="1041212"/>
          </a:xfrm>
        </p:grpSpPr>
        <p:sp>
          <p:nvSpPr>
            <p:cNvPr name="Freeform 13" id="13"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14" id="14"/>
          <p:cNvGrpSpPr>
            <a:grpSpLocks noChangeAspect="true"/>
          </p:cNvGrpSpPr>
          <p:nvPr/>
        </p:nvGrpSpPr>
        <p:grpSpPr>
          <a:xfrm rot="0">
            <a:off x="13800587" y="338836"/>
            <a:ext cx="1234639" cy="941733"/>
            <a:chOff x="0" y="0"/>
            <a:chExt cx="1646186" cy="1255644"/>
          </a:xfrm>
        </p:grpSpPr>
        <p:sp>
          <p:nvSpPr>
            <p:cNvPr name="Freeform 15" id="15"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16" id="16"/>
          <p:cNvGrpSpPr>
            <a:grpSpLocks noChangeAspect="true"/>
          </p:cNvGrpSpPr>
          <p:nvPr/>
        </p:nvGrpSpPr>
        <p:grpSpPr>
          <a:xfrm rot="0">
            <a:off x="17000025" y="270560"/>
            <a:ext cx="534549" cy="1094670"/>
            <a:chOff x="0" y="0"/>
            <a:chExt cx="712732" cy="1459560"/>
          </a:xfrm>
        </p:grpSpPr>
        <p:sp>
          <p:nvSpPr>
            <p:cNvPr name="Freeform 17" id="17"/>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8" id="18"/>
          <p:cNvGrpSpPr>
            <a:grpSpLocks noChangeAspect="true"/>
          </p:cNvGrpSpPr>
          <p:nvPr/>
        </p:nvGrpSpPr>
        <p:grpSpPr>
          <a:xfrm rot="0">
            <a:off x="12595394" y="338836"/>
            <a:ext cx="1008050" cy="864211"/>
            <a:chOff x="0" y="0"/>
            <a:chExt cx="1344066" cy="1152282"/>
          </a:xfrm>
        </p:grpSpPr>
        <p:sp>
          <p:nvSpPr>
            <p:cNvPr name="Freeform 19" id="19"/>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20" id="20"/>
          <p:cNvGrpSpPr/>
          <p:nvPr/>
        </p:nvGrpSpPr>
        <p:grpSpPr>
          <a:xfrm rot="0">
            <a:off x="-13605" y="9985086"/>
            <a:ext cx="18342351" cy="384878"/>
            <a:chOff x="0" y="0"/>
            <a:chExt cx="24456468" cy="513170"/>
          </a:xfrm>
        </p:grpSpPr>
        <p:sp>
          <p:nvSpPr>
            <p:cNvPr name="Freeform 21" id="21"/>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37932" y="3370328"/>
            <a:ext cx="9593518" cy="948447"/>
            <a:chOff x="0" y="0"/>
            <a:chExt cx="12791358" cy="1264596"/>
          </a:xfrm>
        </p:grpSpPr>
        <p:sp>
          <p:nvSpPr>
            <p:cNvPr name="Freeform 3" id="3"/>
            <p:cNvSpPr/>
            <p:nvPr/>
          </p:nvSpPr>
          <p:spPr>
            <a:xfrm flipH="false" flipV="false" rot="0">
              <a:off x="12700" y="12700"/>
              <a:ext cx="12765913" cy="1239139"/>
            </a:xfrm>
            <a:custGeom>
              <a:avLst/>
              <a:gdLst/>
              <a:ahLst/>
              <a:cxnLst/>
              <a:rect r="r" b="b" t="t" l="l"/>
              <a:pathLst>
                <a:path h="1239139" w="12765913">
                  <a:moveTo>
                    <a:pt x="0" y="0"/>
                  </a:moveTo>
                  <a:lnTo>
                    <a:pt x="12765913" y="0"/>
                  </a:lnTo>
                  <a:lnTo>
                    <a:pt x="12765913" y="1239139"/>
                  </a:lnTo>
                  <a:lnTo>
                    <a:pt x="0" y="1239139"/>
                  </a:lnTo>
                  <a:close/>
                </a:path>
              </a:pathLst>
            </a:custGeom>
            <a:solidFill>
              <a:srgbClr val="FE2E45"/>
            </a:solidFill>
          </p:spPr>
        </p:sp>
      </p:grpSp>
      <p:grpSp>
        <p:nvGrpSpPr>
          <p:cNvPr name="Group 4" id="4"/>
          <p:cNvGrpSpPr/>
          <p:nvPr/>
        </p:nvGrpSpPr>
        <p:grpSpPr>
          <a:xfrm rot="0">
            <a:off x="951756" y="3182866"/>
            <a:ext cx="11653162" cy="1323369"/>
            <a:chOff x="0" y="0"/>
            <a:chExt cx="15537550" cy="1764492"/>
          </a:xfrm>
        </p:grpSpPr>
        <p:sp>
          <p:nvSpPr>
            <p:cNvPr name="Freeform 5" id="5"/>
            <p:cNvSpPr/>
            <p:nvPr/>
          </p:nvSpPr>
          <p:spPr>
            <a:xfrm flipH="false" flipV="false" rot="0">
              <a:off x="0" y="0"/>
              <a:ext cx="15537551" cy="1764492"/>
            </a:xfrm>
            <a:custGeom>
              <a:avLst/>
              <a:gdLst/>
              <a:ahLst/>
              <a:cxnLst/>
              <a:rect r="r" b="b" t="t" l="l"/>
              <a:pathLst>
                <a:path h="1764492" w="15537551">
                  <a:moveTo>
                    <a:pt x="0" y="0"/>
                  </a:moveTo>
                  <a:lnTo>
                    <a:pt x="15537551" y="0"/>
                  </a:lnTo>
                  <a:lnTo>
                    <a:pt x="15537551" y="1764492"/>
                  </a:lnTo>
                  <a:lnTo>
                    <a:pt x="0" y="1764492"/>
                  </a:lnTo>
                  <a:close/>
                </a:path>
              </a:pathLst>
            </a:custGeom>
            <a:solidFill>
              <a:srgbClr val="000000">
                <a:alpha val="0"/>
              </a:srgbClr>
            </a:solidFill>
          </p:spPr>
        </p:sp>
        <p:sp>
          <p:nvSpPr>
            <p:cNvPr name="TextBox 6" id="6"/>
            <p:cNvSpPr txBox="true"/>
            <p:nvPr/>
          </p:nvSpPr>
          <p:spPr>
            <a:xfrm>
              <a:off x="0" y="57150"/>
              <a:ext cx="15537550" cy="1707342"/>
            </a:xfrm>
            <a:prstGeom prst="rect">
              <a:avLst/>
            </a:prstGeom>
          </p:spPr>
          <p:txBody>
            <a:bodyPr anchor="ctr" rtlCol="false" tIns="0" lIns="0" bIns="0" rIns="0"/>
            <a:lstStyle/>
            <a:p>
              <a:pPr algn="l">
                <a:lnSpc>
                  <a:spcPts val="5427"/>
                </a:lnSpc>
              </a:pPr>
              <a:r>
                <a:rPr lang="en-US" b="true" sz="5025" spc="20">
                  <a:solidFill>
                    <a:srgbClr val="2B2551"/>
                  </a:solidFill>
                  <a:latin typeface="Merriweather Sans Bold"/>
                  <a:ea typeface="Merriweather Sans Bold"/>
                  <a:cs typeface="Merriweather Sans Bold"/>
                  <a:sym typeface="Merriweather Sans Bold"/>
                </a:rPr>
                <a:t>Conclusão e Trabalho futuro</a:t>
              </a:r>
            </a:p>
          </p:txBody>
        </p:sp>
      </p:grpSp>
      <p:grpSp>
        <p:nvGrpSpPr>
          <p:cNvPr name="Group 7" id="7"/>
          <p:cNvGrpSpPr>
            <a:grpSpLocks noChangeAspect="true"/>
          </p:cNvGrpSpPr>
          <p:nvPr/>
        </p:nvGrpSpPr>
        <p:grpSpPr>
          <a:xfrm rot="0">
            <a:off x="682956" y="744174"/>
            <a:ext cx="2921214" cy="248720"/>
            <a:chOff x="0" y="0"/>
            <a:chExt cx="3894952" cy="331626"/>
          </a:xfrm>
        </p:grpSpPr>
        <p:sp>
          <p:nvSpPr>
            <p:cNvPr name="Freeform 8" id="8" descr="Image"/>
            <p:cNvSpPr/>
            <p:nvPr/>
          </p:nvSpPr>
          <p:spPr>
            <a:xfrm flipH="false" flipV="false" rot="0">
              <a:off x="0" y="0"/>
              <a:ext cx="3894963" cy="331597"/>
            </a:xfrm>
            <a:custGeom>
              <a:avLst/>
              <a:gdLst/>
              <a:ahLst/>
              <a:cxnLst/>
              <a:rect r="r" b="b" t="t" l="l"/>
              <a:pathLst>
                <a:path h="331597" w="3894963">
                  <a:moveTo>
                    <a:pt x="0" y="0"/>
                  </a:moveTo>
                  <a:lnTo>
                    <a:pt x="3894963" y="0"/>
                  </a:lnTo>
                  <a:lnTo>
                    <a:pt x="3894963" y="331597"/>
                  </a:lnTo>
                  <a:lnTo>
                    <a:pt x="0" y="331597"/>
                  </a:lnTo>
                  <a:lnTo>
                    <a:pt x="0" y="0"/>
                  </a:lnTo>
                  <a:close/>
                </a:path>
              </a:pathLst>
            </a:custGeom>
            <a:blipFill>
              <a:blip r:embed="rId3"/>
              <a:stretch>
                <a:fillRect l="-2067" t="0" r="-2067" b="-8"/>
              </a:stretch>
            </a:blipFill>
          </p:spPr>
        </p:sp>
      </p:grpSp>
      <p:grpSp>
        <p:nvGrpSpPr>
          <p:cNvPr name="Group 9" id="9"/>
          <p:cNvGrpSpPr>
            <a:grpSpLocks noChangeAspect="true"/>
          </p:cNvGrpSpPr>
          <p:nvPr/>
        </p:nvGrpSpPr>
        <p:grpSpPr>
          <a:xfrm rot="0">
            <a:off x="15222434" y="427439"/>
            <a:ext cx="1580448" cy="780909"/>
            <a:chOff x="0" y="0"/>
            <a:chExt cx="2107264" cy="1041212"/>
          </a:xfrm>
        </p:grpSpPr>
        <p:sp>
          <p:nvSpPr>
            <p:cNvPr name="Freeform 10" id="10" descr="Picture 7"/>
            <p:cNvSpPr/>
            <p:nvPr/>
          </p:nvSpPr>
          <p:spPr>
            <a:xfrm flipH="false" flipV="false" rot="0">
              <a:off x="0" y="0"/>
              <a:ext cx="2107311" cy="1041273"/>
            </a:xfrm>
            <a:custGeom>
              <a:avLst/>
              <a:gdLst/>
              <a:ahLst/>
              <a:cxnLst/>
              <a:rect r="r" b="b" t="t" l="l"/>
              <a:pathLst>
                <a:path h="1041273" w="2107311">
                  <a:moveTo>
                    <a:pt x="0" y="0"/>
                  </a:moveTo>
                  <a:lnTo>
                    <a:pt x="2107311" y="0"/>
                  </a:lnTo>
                  <a:lnTo>
                    <a:pt x="2107311" y="1041273"/>
                  </a:lnTo>
                  <a:lnTo>
                    <a:pt x="0" y="1041273"/>
                  </a:lnTo>
                  <a:lnTo>
                    <a:pt x="0" y="0"/>
                  </a:lnTo>
                  <a:close/>
                </a:path>
              </a:pathLst>
            </a:custGeom>
            <a:blipFill>
              <a:blip r:embed="rId4"/>
              <a:stretch>
                <a:fillRect l="-584" t="0" r="-582" b="5"/>
              </a:stretch>
            </a:blipFill>
          </p:spPr>
        </p:sp>
      </p:grpSp>
      <p:grpSp>
        <p:nvGrpSpPr>
          <p:cNvPr name="Group 11" id="11"/>
          <p:cNvGrpSpPr>
            <a:grpSpLocks noChangeAspect="true"/>
          </p:cNvGrpSpPr>
          <p:nvPr/>
        </p:nvGrpSpPr>
        <p:grpSpPr>
          <a:xfrm rot="0">
            <a:off x="13800587" y="338836"/>
            <a:ext cx="1234639" cy="941733"/>
            <a:chOff x="0" y="0"/>
            <a:chExt cx="1646186" cy="1255644"/>
          </a:xfrm>
        </p:grpSpPr>
        <p:sp>
          <p:nvSpPr>
            <p:cNvPr name="Freeform 12" id="12" descr="Picture 9"/>
            <p:cNvSpPr/>
            <p:nvPr/>
          </p:nvSpPr>
          <p:spPr>
            <a:xfrm flipH="false" flipV="false" rot="0">
              <a:off x="0" y="0"/>
              <a:ext cx="1646174" cy="1255649"/>
            </a:xfrm>
            <a:custGeom>
              <a:avLst/>
              <a:gdLst/>
              <a:ahLst/>
              <a:cxnLst/>
              <a:rect r="r" b="b" t="t" l="l"/>
              <a:pathLst>
                <a:path h="1255649" w="1646174">
                  <a:moveTo>
                    <a:pt x="0" y="0"/>
                  </a:moveTo>
                  <a:lnTo>
                    <a:pt x="1646174" y="0"/>
                  </a:lnTo>
                  <a:lnTo>
                    <a:pt x="1646174" y="1255649"/>
                  </a:lnTo>
                  <a:lnTo>
                    <a:pt x="0" y="1255649"/>
                  </a:lnTo>
                  <a:lnTo>
                    <a:pt x="0" y="0"/>
                  </a:lnTo>
                  <a:close/>
                </a:path>
              </a:pathLst>
            </a:custGeom>
            <a:blipFill>
              <a:blip r:embed="rId5"/>
              <a:stretch>
                <a:fillRect l="0" t="-227" r="0" b="-227"/>
              </a:stretch>
            </a:blipFill>
          </p:spPr>
        </p:sp>
      </p:grpSp>
      <p:grpSp>
        <p:nvGrpSpPr>
          <p:cNvPr name="Group 13" id="13"/>
          <p:cNvGrpSpPr>
            <a:grpSpLocks noChangeAspect="true"/>
          </p:cNvGrpSpPr>
          <p:nvPr/>
        </p:nvGrpSpPr>
        <p:grpSpPr>
          <a:xfrm rot="0">
            <a:off x="17000025" y="270560"/>
            <a:ext cx="534549" cy="1094670"/>
            <a:chOff x="0" y="0"/>
            <a:chExt cx="712732" cy="1459560"/>
          </a:xfrm>
        </p:grpSpPr>
        <p:sp>
          <p:nvSpPr>
            <p:cNvPr name="Freeform 14" id="14"/>
            <p:cNvSpPr/>
            <p:nvPr/>
          </p:nvSpPr>
          <p:spPr>
            <a:xfrm flipH="false" flipV="false" rot="0">
              <a:off x="0" y="0"/>
              <a:ext cx="712724" cy="1459611"/>
            </a:xfrm>
            <a:custGeom>
              <a:avLst/>
              <a:gdLst/>
              <a:ahLst/>
              <a:cxnLst/>
              <a:rect r="r" b="b" t="t" l="l"/>
              <a:pathLst>
                <a:path h="1459611" w="712724">
                  <a:moveTo>
                    <a:pt x="0" y="0"/>
                  </a:moveTo>
                  <a:lnTo>
                    <a:pt x="712724" y="0"/>
                  </a:lnTo>
                  <a:lnTo>
                    <a:pt x="712724" y="1459611"/>
                  </a:lnTo>
                  <a:lnTo>
                    <a:pt x="0" y="1459611"/>
                  </a:lnTo>
                  <a:lnTo>
                    <a:pt x="0" y="0"/>
                  </a:lnTo>
                  <a:close/>
                </a:path>
              </a:pathLst>
            </a:custGeom>
            <a:blipFill>
              <a:blip r:embed="rId6"/>
              <a:stretch>
                <a:fillRect l="0" t="0" r="-1113" b="3"/>
              </a:stretch>
            </a:blipFill>
          </p:spPr>
        </p:sp>
      </p:grpSp>
      <p:grpSp>
        <p:nvGrpSpPr>
          <p:cNvPr name="Group 15" id="15"/>
          <p:cNvGrpSpPr>
            <a:grpSpLocks noChangeAspect="true"/>
          </p:cNvGrpSpPr>
          <p:nvPr/>
        </p:nvGrpSpPr>
        <p:grpSpPr>
          <a:xfrm rot="0">
            <a:off x="12595394" y="338836"/>
            <a:ext cx="1008050" cy="864211"/>
            <a:chOff x="0" y="0"/>
            <a:chExt cx="1344066" cy="1152282"/>
          </a:xfrm>
        </p:grpSpPr>
        <p:sp>
          <p:nvSpPr>
            <p:cNvPr name="Freeform 16" id="16"/>
            <p:cNvSpPr/>
            <p:nvPr/>
          </p:nvSpPr>
          <p:spPr>
            <a:xfrm flipH="false" flipV="false" rot="0">
              <a:off x="0" y="0"/>
              <a:ext cx="1344041" cy="1152271"/>
            </a:xfrm>
            <a:custGeom>
              <a:avLst/>
              <a:gdLst/>
              <a:ahLst/>
              <a:cxnLst/>
              <a:rect r="r" b="b" t="t" l="l"/>
              <a:pathLst>
                <a:path h="1152271" w="1344041">
                  <a:moveTo>
                    <a:pt x="0" y="0"/>
                  </a:moveTo>
                  <a:lnTo>
                    <a:pt x="1344041" y="0"/>
                  </a:lnTo>
                  <a:lnTo>
                    <a:pt x="1344041" y="1152271"/>
                  </a:lnTo>
                  <a:lnTo>
                    <a:pt x="0" y="1152271"/>
                  </a:lnTo>
                  <a:lnTo>
                    <a:pt x="0" y="0"/>
                  </a:lnTo>
                  <a:close/>
                </a:path>
              </a:pathLst>
            </a:custGeom>
            <a:blipFill>
              <a:blip r:embed="rId7"/>
              <a:stretch>
                <a:fillRect l="-19507" t="-31606" r="-20418" b="-31607"/>
              </a:stretch>
            </a:blipFill>
          </p:spPr>
        </p:sp>
      </p:grpSp>
      <p:grpSp>
        <p:nvGrpSpPr>
          <p:cNvPr name="Group 17" id="17"/>
          <p:cNvGrpSpPr/>
          <p:nvPr/>
        </p:nvGrpSpPr>
        <p:grpSpPr>
          <a:xfrm rot="0">
            <a:off x="-13605" y="9985086"/>
            <a:ext cx="18342351" cy="384878"/>
            <a:chOff x="0" y="0"/>
            <a:chExt cx="24456468" cy="513170"/>
          </a:xfrm>
        </p:grpSpPr>
        <p:sp>
          <p:nvSpPr>
            <p:cNvPr name="Freeform 18" id="18"/>
            <p:cNvSpPr/>
            <p:nvPr/>
          </p:nvSpPr>
          <p:spPr>
            <a:xfrm flipH="false" flipV="false" rot="0">
              <a:off x="12700" y="12700"/>
              <a:ext cx="24431117" cy="487807"/>
            </a:xfrm>
            <a:custGeom>
              <a:avLst/>
              <a:gdLst/>
              <a:ahLst/>
              <a:cxnLst/>
              <a:rect r="r" b="b" t="t" l="l"/>
              <a:pathLst>
                <a:path h="487807" w="24431117">
                  <a:moveTo>
                    <a:pt x="0" y="0"/>
                  </a:moveTo>
                  <a:lnTo>
                    <a:pt x="24431117" y="0"/>
                  </a:lnTo>
                  <a:lnTo>
                    <a:pt x="24431117" y="487807"/>
                  </a:lnTo>
                  <a:lnTo>
                    <a:pt x="0" y="487807"/>
                  </a:lnTo>
                  <a:close/>
                </a:path>
              </a:pathLst>
            </a:custGeom>
            <a:solidFill>
              <a:srgbClr val="4617DE"/>
            </a:solidFill>
          </p:spPr>
        </p:sp>
      </p:gr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176" y="2005492"/>
            <a:ext cx="18342351" cy="8316305"/>
            <a:chOff x="0" y="0"/>
            <a:chExt cx="24456468" cy="11088406"/>
          </a:xfrm>
        </p:grpSpPr>
        <p:sp>
          <p:nvSpPr>
            <p:cNvPr name="Freeform 3" id="3"/>
            <p:cNvSpPr/>
            <p:nvPr/>
          </p:nvSpPr>
          <p:spPr>
            <a:xfrm flipH="false" flipV="false" rot="0">
              <a:off x="12700" y="12700"/>
              <a:ext cx="24431117" cy="11062970"/>
            </a:xfrm>
            <a:custGeom>
              <a:avLst/>
              <a:gdLst/>
              <a:ahLst/>
              <a:cxnLst/>
              <a:rect r="r" b="b" t="t" l="l"/>
              <a:pathLst>
                <a:path h="11062970" w="24431117">
                  <a:moveTo>
                    <a:pt x="0" y="0"/>
                  </a:moveTo>
                  <a:lnTo>
                    <a:pt x="24431117" y="0"/>
                  </a:lnTo>
                  <a:lnTo>
                    <a:pt x="24431117" y="11062970"/>
                  </a:lnTo>
                  <a:lnTo>
                    <a:pt x="0" y="11062970"/>
                  </a:lnTo>
                  <a:close/>
                </a:path>
              </a:pathLst>
            </a:custGeom>
            <a:solidFill>
              <a:srgbClr val="FE2E45"/>
            </a:solidFill>
          </p:spPr>
        </p:sp>
      </p:grpSp>
      <p:grpSp>
        <p:nvGrpSpPr>
          <p:cNvPr name="Group 4" id="4"/>
          <p:cNvGrpSpPr>
            <a:grpSpLocks noChangeAspect="true"/>
          </p:cNvGrpSpPr>
          <p:nvPr/>
        </p:nvGrpSpPr>
        <p:grpSpPr>
          <a:xfrm rot="0">
            <a:off x="15127473" y="572394"/>
            <a:ext cx="1777568" cy="877906"/>
            <a:chOff x="0" y="0"/>
            <a:chExt cx="2370090" cy="1170542"/>
          </a:xfrm>
        </p:grpSpPr>
        <p:sp>
          <p:nvSpPr>
            <p:cNvPr name="Freeform 5" id="5" descr="Picture 7"/>
            <p:cNvSpPr/>
            <p:nvPr/>
          </p:nvSpPr>
          <p:spPr>
            <a:xfrm flipH="false" flipV="false" rot="0">
              <a:off x="0" y="0"/>
              <a:ext cx="2370074" cy="1170559"/>
            </a:xfrm>
            <a:custGeom>
              <a:avLst/>
              <a:gdLst/>
              <a:ahLst/>
              <a:cxnLst/>
              <a:rect r="r" b="b" t="t" l="l"/>
              <a:pathLst>
                <a:path h="1170559" w="2370074">
                  <a:moveTo>
                    <a:pt x="0" y="0"/>
                  </a:moveTo>
                  <a:lnTo>
                    <a:pt x="2370074" y="0"/>
                  </a:lnTo>
                  <a:lnTo>
                    <a:pt x="2370074" y="1170559"/>
                  </a:lnTo>
                  <a:lnTo>
                    <a:pt x="0" y="1170559"/>
                  </a:lnTo>
                  <a:lnTo>
                    <a:pt x="0" y="0"/>
                  </a:lnTo>
                  <a:close/>
                </a:path>
              </a:pathLst>
            </a:custGeom>
            <a:blipFill>
              <a:blip r:embed="rId2"/>
              <a:stretch>
                <a:fillRect l="-561" t="0" r="-562" b="1"/>
              </a:stretch>
            </a:blipFill>
          </p:spPr>
        </p:sp>
      </p:grpSp>
      <p:grpSp>
        <p:nvGrpSpPr>
          <p:cNvPr name="Group 6" id="6"/>
          <p:cNvGrpSpPr>
            <a:grpSpLocks noChangeAspect="true"/>
          </p:cNvGrpSpPr>
          <p:nvPr/>
        </p:nvGrpSpPr>
        <p:grpSpPr>
          <a:xfrm rot="0">
            <a:off x="13445664" y="434190"/>
            <a:ext cx="1458211" cy="1119732"/>
            <a:chOff x="0" y="0"/>
            <a:chExt cx="1944282" cy="1492976"/>
          </a:xfrm>
        </p:grpSpPr>
        <p:sp>
          <p:nvSpPr>
            <p:cNvPr name="Freeform 7" id="7" descr="Picture 9"/>
            <p:cNvSpPr/>
            <p:nvPr/>
          </p:nvSpPr>
          <p:spPr>
            <a:xfrm flipH="false" flipV="false" rot="0">
              <a:off x="0" y="0"/>
              <a:ext cx="1944243" cy="1493012"/>
            </a:xfrm>
            <a:custGeom>
              <a:avLst/>
              <a:gdLst/>
              <a:ahLst/>
              <a:cxnLst/>
              <a:rect r="r" b="b" t="t" l="l"/>
              <a:pathLst>
                <a:path h="1493012" w="1944243">
                  <a:moveTo>
                    <a:pt x="0" y="0"/>
                  </a:moveTo>
                  <a:lnTo>
                    <a:pt x="1944243" y="0"/>
                  </a:lnTo>
                  <a:lnTo>
                    <a:pt x="1944243" y="1493012"/>
                  </a:lnTo>
                  <a:lnTo>
                    <a:pt x="0" y="1493012"/>
                  </a:lnTo>
                  <a:lnTo>
                    <a:pt x="0" y="0"/>
                  </a:lnTo>
                  <a:close/>
                </a:path>
              </a:pathLst>
            </a:custGeom>
            <a:blipFill>
              <a:blip r:embed="rId3"/>
              <a:stretch>
                <a:fillRect l="-107" t="0" r="-109" b="2"/>
              </a:stretch>
            </a:blipFill>
          </p:spPr>
        </p:sp>
      </p:grpSp>
      <p:grpSp>
        <p:nvGrpSpPr>
          <p:cNvPr name="Group 8" id="8"/>
          <p:cNvGrpSpPr>
            <a:grpSpLocks noChangeAspect="true"/>
          </p:cNvGrpSpPr>
          <p:nvPr/>
        </p:nvGrpSpPr>
        <p:grpSpPr>
          <a:xfrm rot="0">
            <a:off x="17201592" y="146404"/>
            <a:ext cx="808054" cy="1617030"/>
            <a:chOff x="0" y="0"/>
            <a:chExt cx="1077406" cy="2156040"/>
          </a:xfrm>
        </p:grpSpPr>
        <p:sp>
          <p:nvSpPr>
            <p:cNvPr name="Freeform 9" id="9" descr="pasted-movie.png"/>
            <p:cNvSpPr/>
            <p:nvPr/>
          </p:nvSpPr>
          <p:spPr>
            <a:xfrm flipH="false" flipV="false" rot="0">
              <a:off x="0" y="0"/>
              <a:ext cx="1077468" cy="2156079"/>
            </a:xfrm>
            <a:custGeom>
              <a:avLst/>
              <a:gdLst/>
              <a:ahLst/>
              <a:cxnLst/>
              <a:rect r="r" b="b" t="t" l="l"/>
              <a:pathLst>
                <a:path h="2156079" w="1077468">
                  <a:moveTo>
                    <a:pt x="0" y="0"/>
                  </a:moveTo>
                  <a:lnTo>
                    <a:pt x="1077468" y="0"/>
                  </a:lnTo>
                  <a:lnTo>
                    <a:pt x="1077468" y="2156079"/>
                  </a:lnTo>
                  <a:lnTo>
                    <a:pt x="0" y="2156079"/>
                  </a:lnTo>
                  <a:lnTo>
                    <a:pt x="0" y="0"/>
                  </a:lnTo>
                  <a:close/>
                </a:path>
              </a:pathLst>
            </a:custGeom>
            <a:blipFill>
              <a:blip r:embed="rId4"/>
              <a:stretch>
                <a:fillRect l="0" t="-604" r="5" b="-602"/>
              </a:stretch>
            </a:blipFill>
          </p:spPr>
        </p:sp>
      </p:grpSp>
      <p:grpSp>
        <p:nvGrpSpPr>
          <p:cNvPr name="Group 10" id="10"/>
          <p:cNvGrpSpPr>
            <a:grpSpLocks noChangeAspect="true"/>
          </p:cNvGrpSpPr>
          <p:nvPr/>
        </p:nvGrpSpPr>
        <p:grpSpPr>
          <a:xfrm rot="0">
            <a:off x="11943321" y="366993"/>
            <a:ext cx="1380389" cy="1175602"/>
            <a:chOff x="0" y="0"/>
            <a:chExt cx="1840518" cy="1567470"/>
          </a:xfrm>
        </p:grpSpPr>
        <p:sp>
          <p:nvSpPr>
            <p:cNvPr name="Freeform 11" id="11" descr="pasted-movie.png"/>
            <p:cNvSpPr/>
            <p:nvPr/>
          </p:nvSpPr>
          <p:spPr>
            <a:xfrm flipH="false" flipV="false" rot="0">
              <a:off x="0" y="0"/>
              <a:ext cx="1840484" cy="1567434"/>
            </a:xfrm>
            <a:custGeom>
              <a:avLst/>
              <a:gdLst/>
              <a:ahLst/>
              <a:cxnLst/>
              <a:rect r="r" b="b" t="t" l="l"/>
              <a:pathLst>
                <a:path h="1567434" w="1840484">
                  <a:moveTo>
                    <a:pt x="0" y="0"/>
                  </a:moveTo>
                  <a:lnTo>
                    <a:pt x="1840484" y="0"/>
                  </a:lnTo>
                  <a:lnTo>
                    <a:pt x="1840484" y="1567434"/>
                  </a:lnTo>
                  <a:lnTo>
                    <a:pt x="0" y="1567434"/>
                  </a:lnTo>
                  <a:lnTo>
                    <a:pt x="0" y="0"/>
                  </a:lnTo>
                  <a:close/>
                </a:path>
              </a:pathLst>
            </a:custGeom>
            <a:blipFill>
              <a:blip r:embed="rId5"/>
              <a:stretch>
                <a:fillRect l="-19378" t="-31606" r="-19623" b="-31609"/>
              </a:stretch>
            </a:blipFill>
          </p:spPr>
        </p:sp>
      </p:grpSp>
      <p:grpSp>
        <p:nvGrpSpPr>
          <p:cNvPr name="Group 12" id="12"/>
          <p:cNvGrpSpPr>
            <a:grpSpLocks noChangeAspect="true"/>
          </p:cNvGrpSpPr>
          <p:nvPr/>
        </p:nvGrpSpPr>
        <p:grpSpPr>
          <a:xfrm rot="0">
            <a:off x="11762031" y="3523382"/>
            <a:ext cx="4397618" cy="4274686"/>
            <a:chOff x="0" y="0"/>
            <a:chExt cx="5863490" cy="5699582"/>
          </a:xfrm>
        </p:grpSpPr>
        <p:sp>
          <p:nvSpPr>
            <p:cNvPr name="Freeform 13" id="13" descr="Image"/>
            <p:cNvSpPr/>
            <p:nvPr/>
          </p:nvSpPr>
          <p:spPr>
            <a:xfrm flipH="false" flipV="false" rot="0">
              <a:off x="0" y="0"/>
              <a:ext cx="5863463" cy="5699633"/>
            </a:xfrm>
            <a:custGeom>
              <a:avLst/>
              <a:gdLst/>
              <a:ahLst/>
              <a:cxnLst/>
              <a:rect r="r" b="b" t="t" l="l"/>
              <a:pathLst>
                <a:path h="5699633" w="5863463">
                  <a:moveTo>
                    <a:pt x="0" y="0"/>
                  </a:moveTo>
                  <a:lnTo>
                    <a:pt x="5863463" y="0"/>
                  </a:lnTo>
                  <a:lnTo>
                    <a:pt x="5863463" y="5699633"/>
                  </a:lnTo>
                  <a:lnTo>
                    <a:pt x="0" y="5699633"/>
                  </a:lnTo>
                  <a:lnTo>
                    <a:pt x="0" y="0"/>
                  </a:lnTo>
                  <a:close/>
                </a:path>
              </a:pathLst>
            </a:custGeom>
            <a:blipFill>
              <a:blip r:embed="rId6"/>
              <a:stretch>
                <a:fillRect l="0" t="-41" r="0" b="-40"/>
              </a:stretch>
            </a:blipFill>
          </p:spPr>
        </p:sp>
      </p:grpSp>
      <p:sp>
        <p:nvSpPr>
          <p:cNvPr name="TextBox 14" id="14"/>
          <p:cNvSpPr txBox="true"/>
          <p:nvPr/>
        </p:nvSpPr>
        <p:spPr>
          <a:xfrm rot="0">
            <a:off x="5297187" y="4932487"/>
            <a:ext cx="7754892" cy="3521856"/>
          </a:xfrm>
          <a:prstGeom prst="rect">
            <a:avLst/>
          </a:prstGeom>
        </p:spPr>
        <p:txBody>
          <a:bodyPr anchor="t" rtlCol="false" tIns="0" lIns="0" bIns="0" rIns="0">
            <a:spAutoFit/>
          </a:bodyPr>
          <a:lstStyle/>
          <a:p>
            <a:pPr algn="l">
              <a:lnSpc>
                <a:spcPts val="12960"/>
              </a:lnSpc>
            </a:pPr>
            <a:r>
              <a:rPr lang="en-US" b="true" sz="10800" spc="43">
                <a:solidFill>
                  <a:srgbClr val="FFFFFF"/>
                </a:solidFill>
                <a:latin typeface="Merriweather Sans Bold"/>
                <a:ea typeface="Merriweather Sans Bold"/>
                <a:cs typeface="Merriweather Sans Bold"/>
                <a:sym typeface="Merriweather Sans Bold"/>
              </a:rPr>
              <a:t>Obrigado!</a:t>
            </a:r>
          </a:p>
        </p:txBody>
      </p:sp>
      <p:grpSp>
        <p:nvGrpSpPr>
          <p:cNvPr name="Group 15" id="15"/>
          <p:cNvGrpSpPr>
            <a:grpSpLocks noChangeAspect="true"/>
          </p:cNvGrpSpPr>
          <p:nvPr/>
        </p:nvGrpSpPr>
        <p:grpSpPr>
          <a:xfrm rot="0">
            <a:off x="-915027" y="962024"/>
            <a:ext cx="7541746" cy="10555052"/>
            <a:chOff x="0" y="0"/>
            <a:chExt cx="10055662" cy="14073402"/>
          </a:xfrm>
        </p:grpSpPr>
        <p:sp>
          <p:nvSpPr>
            <p:cNvPr name="Freeform 16" id="16" descr="Image"/>
            <p:cNvSpPr/>
            <p:nvPr/>
          </p:nvSpPr>
          <p:spPr>
            <a:xfrm flipH="false" flipV="false" rot="0">
              <a:off x="0" y="0"/>
              <a:ext cx="10055606" cy="14073378"/>
            </a:xfrm>
            <a:custGeom>
              <a:avLst/>
              <a:gdLst/>
              <a:ahLst/>
              <a:cxnLst/>
              <a:rect r="r" b="b" t="t" l="l"/>
              <a:pathLst>
                <a:path h="14073378" w="10055606">
                  <a:moveTo>
                    <a:pt x="0" y="0"/>
                  </a:moveTo>
                  <a:lnTo>
                    <a:pt x="10055606" y="0"/>
                  </a:lnTo>
                  <a:lnTo>
                    <a:pt x="10055606" y="14073378"/>
                  </a:lnTo>
                  <a:lnTo>
                    <a:pt x="0" y="14073378"/>
                  </a:lnTo>
                  <a:lnTo>
                    <a:pt x="0" y="0"/>
                  </a:lnTo>
                  <a:close/>
                </a:path>
              </a:pathLst>
            </a:custGeom>
            <a:blipFill>
              <a:blip r:embed="rId7"/>
              <a:stretch>
                <a:fillRect l="0" t="-16" r="0" b="-16"/>
              </a:stretch>
            </a:blipFill>
          </p:spPr>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DAG3hwRn_cI</dc:identifier>
  <dcterms:modified xsi:type="dcterms:W3CDTF">2011-08-01T06:04:30Z</dcterms:modified>
  <cp:revision>1</cp:revision>
  <dc:title>Frontier_Tech_Leaders_ Group 14.pptx</dc:title>
</cp:coreProperties>
</file>